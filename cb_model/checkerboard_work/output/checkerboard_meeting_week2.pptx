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minute talk. Aim: the pairing mechanism is now established at L=12, four meeting points closed, and the manuscript has a 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two questions this week answers.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scale and that six seeds everywhere is publication quality, not a scan.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point: nothing is imposed. Spin splitting needs U and delta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a minute here. This licenses the whole argument.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U=0 null test does double duty: validates the code and shows the physics is interaction driven.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Stress 'both weaken' - the selection is which survives.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Columns: on-site s, extended s, dx2-y2, dxy. Rows: U = 0 to 8. Top row is the null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between the two tables IS the symmetry argument, made quantitative. Only the channel carrying the order parameter symmetry reverses. Note also this explains the apparent conflict with the old equal-time figures, which were plotted in the doped region.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U, columns lattice size. Blue fills the doped region at every size and U. Red is confined to the half-filling column.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the open-shell caveat before anyone 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as a strength. The finite-size study caught a wrong claim before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independent L=6 failures found by the same audit.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9 has been open since the first meeting. Note also that m must be sqrt(S/N), not sqrt(S) - S(pi,pi) is extensive once there is long-range order.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negative result. Worth showing that we tested and discarded it for a reason.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L=12 magnetic cube, all five U. Within-U the pattern is unambiguous and consistent across four independent interaction strengths. The pooled collapse fails at n=0.778 because the magnitude is U-dependent -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found: at delta non-zero the model has two bands, so G(k,tau) is a sum of two exponentials. Documented for whoever does this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points closed this week: 4, 9, 11 and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IV is the paper: six subsections against three for the magnetism. Ask about the journal target 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journal question - that is the decision I want from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731520" y="1691640"/>
            <a:ext cx="10698480" cy="1737360"/>
          </a:xfrm>
          <a:prstGeom prst="rect">
            <a:avLst/>
          </a:prstGeom>
          <a:noFill/>
        </p:spPr>
        <p:txBody>
          <a:bodyPr wrap="square">
            <a:spAutoFit/>
          </a:bodyPr>
          <a:lstStyle/>
          <a:p>
            <a:pPr algn="l">
              <a:spcAft>
                <a:spcPts val="800"/>
              </a:spcAft>
            </a:pPr>
            <a:r>
              <a:rPr sz="3500" b="1">
                <a:solidFill>
                  <a:srgbClr val="FFFFFF"/>
                </a:solidFill>
                <a:latin typeface="Cambria"/>
              </a:rPr>
              <a:t>Emergent altermagnetism and pairing</a:t>
            </a:r>
          </a:p>
          <a:p>
            <a:pPr algn="l">
              <a:spcAft>
                <a:spcPts val="800"/>
              </a:spcAft>
            </a:pPr>
            <a:r>
              <a:rPr sz="3500" b="1">
                <a:solidFill>
                  <a:srgbClr val="FFFFFF"/>
                </a:solidFill>
                <a:latin typeface="Cambria"/>
              </a:rPr>
              <a:t>in the checkerboard Hubbard model</a:t>
            </a:r>
          </a:p>
        </p:txBody>
      </p:sp>
      <p:sp>
        <p:nvSpPr>
          <p:cNvPr id="3" name="TextBox 2"/>
          <p:cNvSpPr txBox="1"/>
          <p:nvPr/>
        </p:nvSpPr>
        <p:spPr>
          <a:xfrm>
            <a:off x="731520" y="3520440"/>
            <a:ext cx="10698480" cy="457200"/>
          </a:xfrm>
          <a:prstGeom prst="rect">
            <a:avLst/>
          </a:prstGeom>
          <a:noFill/>
        </p:spPr>
        <p:txBody>
          <a:bodyPr wrap="square">
            <a:spAutoFit/>
          </a:bodyPr>
          <a:lstStyle/>
          <a:p>
            <a:pPr algn="l"/>
            <a:r>
              <a:rPr sz="1800" b="0">
                <a:solidFill>
                  <a:srgbClr val="CADCFC"/>
                </a:solidFill>
                <a:latin typeface="Calibri"/>
              </a:rPr>
              <a:t>Weekly update  |  finite-size validation and the pairing mechanism</a:t>
            </a:r>
          </a:p>
        </p:txBody>
      </p:sp>
      <p:sp>
        <p:nvSpPr>
          <p:cNvPr id="4" name="TextBox 3"/>
          <p:cNvSpPr txBox="1"/>
          <p:nvPr/>
        </p:nvSpPr>
        <p:spPr>
          <a:xfrm>
            <a:off x="731520" y="5394960"/>
            <a:ext cx="10698480" cy="365760"/>
          </a:xfrm>
          <a:prstGeom prst="rect">
            <a:avLst/>
          </a:prstGeom>
          <a:noFill/>
        </p:spPr>
        <p:txBody>
          <a:bodyPr wrap="square">
            <a:spAutoFit/>
          </a:bodyPr>
          <a:lstStyle/>
          <a:p>
            <a:pPr algn="l"/>
            <a:r>
              <a:rPr sz="1300" b="0">
                <a:solidFill>
                  <a:srgbClr val="CADCFC"/>
                </a:solidFill>
                <a:latin typeface="Calibri"/>
              </a:rPr>
              <a:t>Rana Imran Mushtaq  and  Ho-Kin Tang            5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Where we were last week</a:t>
            </a:r>
          </a:p>
        </p:txBody>
      </p:sp>
      <p:sp>
        <p:nvSpPr>
          <p:cNvPr id="3" name="Rounded Rectangle 2"/>
          <p:cNvSpPr/>
          <p:nvPr/>
        </p:nvSpPr>
        <p:spPr>
          <a:xfrm>
            <a:off x="502920" y="1280160"/>
            <a:ext cx="5394960" cy="210312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63040"/>
            <a:ext cx="4846320" cy="1828800"/>
          </a:xfrm>
          <a:prstGeom prst="rect">
            <a:avLst/>
          </a:prstGeom>
          <a:noFill/>
        </p:spPr>
        <p:txBody>
          <a:bodyPr wrap="square">
            <a:spAutoFit/>
          </a:bodyPr>
          <a:lstStyle/>
          <a:p>
            <a:pPr algn="l">
              <a:spcAft>
                <a:spcPts val="700"/>
              </a:spcAft>
            </a:pPr>
            <a:r>
              <a:rPr sz="1600" b="1">
                <a:solidFill>
                  <a:srgbClr val="1E2761"/>
                </a:solidFill>
                <a:latin typeface="Cambria"/>
              </a:rPr>
              <a:t>Established</a:t>
            </a:r>
          </a:p>
          <a:p>
            <a:pPr algn="l">
              <a:spcAft>
                <a:spcPts val="700"/>
              </a:spcAft>
            </a:pPr>
            <a:r>
              <a:rPr sz="1350" b="0">
                <a:solidFill>
                  <a:srgbClr val="222222"/>
                </a:solidFill>
                <a:latin typeface="Calibri"/>
              </a:rPr>
              <a:t>Interactions drive Néel order near half filling. With δ ≠ 0 that order becomes an altermagnet with d(xy) symmetry.</a:t>
            </a:r>
          </a:p>
          <a:p>
            <a:pPr algn="l">
              <a:spcAft>
                <a:spcPts val="700"/>
              </a:spcAft>
            </a:pPr>
            <a:r>
              <a:rPr sz="1350" b="0">
                <a:solidFill>
                  <a:srgbClr val="222222"/>
                </a:solidFill>
                <a:latin typeface="Calibri"/>
              </a:rPr>
              <a:t>The equal-time vertex is CP-biased, so we moved to the integrated vertex.</a:t>
            </a:r>
          </a:p>
        </p:txBody>
      </p:sp>
      <p:sp>
        <p:nvSpPr>
          <p:cNvPr id="5" name="Rounded Rectangle 4"/>
          <p:cNvSpPr/>
          <p:nvPr/>
        </p:nvSpPr>
        <p:spPr>
          <a:xfrm>
            <a:off x="6263640" y="1280160"/>
            <a:ext cx="5394960" cy="2103120"/>
          </a:xfrm>
          <a:prstGeom prst="roundRect">
            <a:avLst/>
          </a:prstGeom>
          <a:solidFill>
            <a:srgbClr val="F7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37960" y="1463040"/>
            <a:ext cx="4846320" cy="1828800"/>
          </a:xfrm>
          <a:prstGeom prst="rect">
            <a:avLst/>
          </a:prstGeom>
          <a:noFill/>
        </p:spPr>
        <p:txBody>
          <a:bodyPr wrap="square">
            <a:spAutoFit/>
          </a:bodyPr>
          <a:lstStyle/>
          <a:p>
            <a:pPr algn="l">
              <a:spcAft>
                <a:spcPts val="700"/>
              </a:spcAft>
            </a:pPr>
            <a:r>
              <a:rPr sz="1600" b="1">
                <a:solidFill>
                  <a:srgbClr val="B85042"/>
                </a:solidFill>
                <a:latin typeface="Cambria"/>
              </a:rPr>
              <a:t>Open</a:t>
            </a:r>
          </a:p>
          <a:p>
            <a:pPr algn="l">
              <a:spcAft>
                <a:spcPts val="700"/>
              </a:spcAft>
            </a:pPr>
            <a:r>
              <a:rPr sz="1350" b="0">
                <a:solidFill>
                  <a:srgbClr val="222222"/>
                </a:solidFill>
                <a:latin typeface="Calibri"/>
              </a:rPr>
              <a:t>Everything rested on a 6 × 6 lattice. Was any of it a small-cluster artifact?</a:t>
            </a:r>
          </a:p>
          <a:p>
            <a:pPr algn="l">
              <a:spcAft>
                <a:spcPts val="700"/>
              </a:spcAft>
            </a:pPr>
            <a:r>
              <a:rPr sz="1350" b="0">
                <a:solidFill>
                  <a:srgbClr val="222222"/>
                </a:solidFill>
                <a:latin typeface="Calibri"/>
              </a:rPr>
              <a:t>Did the pairing follow the magnetic order, or just the anisotropy?</a:t>
            </a:r>
          </a:p>
        </p:txBody>
      </p:sp>
      <p:sp>
        <p:nvSpPr>
          <p:cNvPr id="7" name="TextBox 6"/>
          <p:cNvSpPr txBox="1"/>
          <p:nvPr/>
        </p:nvSpPr>
        <p:spPr>
          <a:xfrm>
            <a:off x="502920" y="3657600"/>
            <a:ext cx="11155680" cy="2194560"/>
          </a:xfrm>
          <a:prstGeom prst="rect">
            <a:avLst/>
          </a:prstGeom>
          <a:noFill/>
        </p:spPr>
        <p:txBody>
          <a:bodyPr wrap="square">
            <a:spAutoFit/>
          </a:bodyPr>
          <a:lstStyle/>
          <a:p>
            <a:pPr algn="l">
              <a:spcAft>
                <a:spcPts val="900"/>
              </a:spcAft>
            </a:pPr>
            <a:r>
              <a:rPr sz="1700" b="1">
                <a:solidFill>
                  <a:srgbClr val="1E2761"/>
                </a:solidFill>
                <a:latin typeface="Cambria"/>
              </a:rPr>
              <a:t>This week answers both.</a:t>
            </a:r>
          </a:p>
          <a:p>
            <a:pPr algn="l">
              <a:spcAft>
                <a:spcPts val="900"/>
              </a:spcAft>
            </a:pPr>
            <a:r>
              <a:rPr sz="1500" b="0">
                <a:solidFill>
                  <a:srgbClr val="222222"/>
                </a:solidFill>
                <a:latin typeface="Calibri"/>
              </a:rPr>
              <a:t>A complete finite-size study at L = 8, 10 and 12 tests the first question, and it changed one of our conclusions. A magnetic cube at L = 12 tests the second, and it confirmed the mechanism.</a:t>
            </a:r>
          </a:p>
          <a:p>
            <a:pPr algn="l">
              <a:spcAft>
                <a:spcPts val="900"/>
              </a:spcAft>
            </a:pPr>
            <a:r>
              <a:rPr sz="1500" b="1">
                <a:solidFill>
                  <a:srgbClr val="B85042"/>
                </a:solidFill>
                <a:latin typeface="Calibri"/>
              </a:rPr>
              <a:t>Four meeting points closed: 4, 9, 11 and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What was run this week</a:t>
            </a:r>
          </a:p>
        </p:txBody>
      </p:sp>
      <p:sp>
        <p:nvSpPr>
          <p:cNvPr id="3" name="Rounded Rectangle 2"/>
          <p:cNvSpPr/>
          <p:nvPr/>
        </p:nvSpPr>
        <p:spPr>
          <a:xfrm>
            <a:off x="502920" y="1280160"/>
            <a:ext cx="2606040" cy="164592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71600"/>
            <a:ext cx="2606040" cy="731520"/>
          </a:xfrm>
          <a:prstGeom prst="rect">
            <a:avLst/>
          </a:prstGeom>
          <a:noFill/>
        </p:spPr>
        <p:txBody>
          <a:bodyPr wrap="square">
            <a:spAutoFit/>
          </a:bodyPr>
          <a:lstStyle/>
          <a:p>
            <a:pPr algn="ctr"/>
            <a:r>
              <a:rPr sz="3800" b="1">
                <a:solidFill>
                  <a:srgbClr val="1E2761"/>
                </a:solidFill>
                <a:latin typeface="Cambria"/>
              </a:rPr>
              <a:t>3900</a:t>
            </a:r>
          </a:p>
        </p:txBody>
      </p:sp>
      <p:sp>
        <p:nvSpPr>
          <p:cNvPr id="5" name="TextBox 4"/>
          <p:cNvSpPr txBox="1"/>
          <p:nvPr/>
        </p:nvSpPr>
        <p:spPr>
          <a:xfrm>
            <a:off x="502920" y="2103120"/>
            <a:ext cx="2606040" cy="731520"/>
          </a:xfrm>
          <a:prstGeom prst="rect">
            <a:avLst/>
          </a:prstGeom>
          <a:noFill/>
        </p:spPr>
        <p:txBody>
          <a:bodyPr wrap="square">
            <a:spAutoFit/>
          </a:bodyPr>
          <a:lstStyle/>
          <a:p>
            <a:pPr algn="ctr"/>
            <a:r>
              <a:rPr sz="1100" b="0">
                <a:solidFill>
                  <a:srgbClr val="5A5A5A"/>
                </a:solidFill>
                <a:latin typeface="Calibri"/>
              </a:rPr>
              <a:t>measurements in the</a:t>
            </a:r>
          </a:p>
          <a:p>
            <a:pPr algn="ctr"/>
            <a:r>
              <a:rPr sz="1100" b="0">
                <a:solidFill>
                  <a:srgbClr val="5A5A5A"/>
                </a:solidFill>
                <a:latin typeface="Calibri"/>
              </a:rPr>
              <a:t>completed pairing cube</a:t>
            </a:r>
          </a:p>
        </p:txBody>
      </p:sp>
      <p:sp>
        <p:nvSpPr>
          <p:cNvPr id="6" name="Rounded Rectangle 5"/>
          <p:cNvSpPr/>
          <p:nvPr/>
        </p:nvSpPr>
        <p:spPr>
          <a:xfrm>
            <a:off x="3355848" y="1280160"/>
            <a:ext cx="2606040" cy="164592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55848" y="1371600"/>
            <a:ext cx="2606040" cy="731520"/>
          </a:xfrm>
          <a:prstGeom prst="rect">
            <a:avLst/>
          </a:prstGeom>
          <a:noFill/>
        </p:spPr>
        <p:txBody>
          <a:bodyPr wrap="square">
            <a:spAutoFit/>
          </a:bodyPr>
          <a:lstStyle/>
          <a:p>
            <a:pPr algn="ctr"/>
            <a:r>
              <a:rPr sz="3800" b="1">
                <a:solidFill>
                  <a:srgbClr val="1E2761"/>
                </a:solidFill>
                <a:latin typeface="Cambria"/>
              </a:rPr>
              <a:t>6</a:t>
            </a:r>
          </a:p>
        </p:txBody>
      </p:sp>
      <p:sp>
        <p:nvSpPr>
          <p:cNvPr id="8" name="TextBox 7"/>
          <p:cNvSpPr txBox="1"/>
          <p:nvPr/>
        </p:nvSpPr>
        <p:spPr>
          <a:xfrm>
            <a:off x="3355848" y="2103120"/>
            <a:ext cx="2606040" cy="731520"/>
          </a:xfrm>
          <a:prstGeom prst="rect">
            <a:avLst/>
          </a:prstGeom>
          <a:noFill/>
        </p:spPr>
        <p:txBody>
          <a:bodyPr wrap="square">
            <a:spAutoFit/>
          </a:bodyPr>
          <a:lstStyle/>
          <a:p>
            <a:pPr algn="ctr"/>
            <a:r>
              <a:rPr sz="1100" b="0">
                <a:solidFill>
                  <a:srgbClr val="5A5A5A"/>
                </a:solidFill>
                <a:latin typeface="Calibri"/>
              </a:rPr>
              <a:t>compute nodes</a:t>
            </a:r>
          </a:p>
          <a:p>
            <a:pPr algn="ctr"/>
            <a:r>
              <a:rPr sz="1100" b="0">
                <a:solidFill>
                  <a:srgbClr val="5A5A5A"/>
                </a:solidFill>
                <a:latin typeface="Calibri"/>
              </a:rPr>
              <a:t>running in parallel</a:t>
            </a:r>
          </a:p>
        </p:txBody>
      </p:sp>
      <p:sp>
        <p:nvSpPr>
          <p:cNvPr id="9" name="Rounded Rectangle 8"/>
          <p:cNvSpPr/>
          <p:nvPr/>
        </p:nvSpPr>
        <p:spPr>
          <a:xfrm>
            <a:off x="6208776" y="1280160"/>
            <a:ext cx="2606040" cy="164592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08776" y="1371600"/>
            <a:ext cx="2606040" cy="731520"/>
          </a:xfrm>
          <a:prstGeom prst="rect">
            <a:avLst/>
          </a:prstGeom>
          <a:noFill/>
        </p:spPr>
        <p:txBody>
          <a:bodyPr wrap="square">
            <a:spAutoFit/>
          </a:bodyPr>
          <a:lstStyle/>
          <a:p>
            <a:pPr algn="ctr"/>
            <a:r>
              <a:rPr sz="3800" b="1">
                <a:solidFill>
                  <a:srgbClr val="1E2761"/>
                </a:solidFill>
                <a:latin typeface="Cambria"/>
              </a:rPr>
              <a:t>6</a:t>
            </a:r>
          </a:p>
        </p:txBody>
      </p:sp>
      <p:sp>
        <p:nvSpPr>
          <p:cNvPr id="11" name="TextBox 10"/>
          <p:cNvSpPr txBox="1"/>
          <p:nvPr/>
        </p:nvSpPr>
        <p:spPr>
          <a:xfrm>
            <a:off x="6208776" y="2103120"/>
            <a:ext cx="2606040" cy="731520"/>
          </a:xfrm>
          <a:prstGeom prst="rect">
            <a:avLst/>
          </a:prstGeom>
          <a:noFill/>
        </p:spPr>
        <p:txBody>
          <a:bodyPr wrap="square">
            <a:spAutoFit/>
          </a:bodyPr>
          <a:lstStyle/>
          <a:p>
            <a:pPr algn="ctr"/>
            <a:r>
              <a:rPr sz="1100" b="0">
                <a:solidFill>
                  <a:srgbClr val="5A5A5A"/>
                </a:solidFill>
                <a:latin typeface="Calibri"/>
              </a:rPr>
              <a:t>independent seeds at</a:t>
            </a:r>
          </a:p>
          <a:p>
            <a:pPr algn="ctr"/>
            <a:r>
              <a:rPr sz="1100" b="0">
                <a:solidFill>
                  <a:srgbClr val="5A5A5A"/>
                </a:solidFill>
                <a:latin typeface="Calibri"/>
              </a:rPr>
              <a:t>every single point</a:t>
            </a:r>
          </a:p>
        </p:txBody>
      </p:sp>
      <p:sp>
        <p:nvSpPr>
          <p:cNvPr id="12" name="Rounded Rectangle 11"/>
          <p:cNvSpPr/>
          <p:nvPr/>
        </p:nvSpPr>
        <p:spPr>
          <a:xfrm>
            <a:off x="9061704" y="1280160"/>
            <a:ext cx="2606040" cy="164592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61704" y="1371600"/>
            <a:ext cx="2606040" cy="731520"/>
          </a:xfrm>
          <a:prstGeom prst="rect">
            <a:avLst/>
          </a:prstGeom>
          <a:noFill/>
        </p:spPr>
        <p:txBody>
          <a:bodyPr wrap="square">
            <a:spAutoFit/>
          </a:bodyPr>
          <a:lstStyle/>
          <a:p>
            <a:pPr algn="ctr"/>
            <a:r>
              <a:rPr sz="3800" b="1">
                <a:solidFill>
                  <a:srgbClr val="1E2761"/>
                </a:solidFill>
                <a:latin typeface="Cambria"/>
              </a:rPr>
              <a:t>~150</a:t>
            </a:r>
          </a:p>
        </p:txBody>
      </p:sp>
      <p:sp>
        <p:nvSpPr>
          <p:cNvPr id="14" name="TextBox 13"/>
          <p:cNvSpPr txBox="1"/>
          <p:nvPr/>
        </p:nvSpPr>
        <p:spPr>
          <a:xfrm>
            <a:off x="9061704" y="2103120"/>
            <a:ext cx="2606040" cy="731520"/>
          </a:xfrm>
          <a:prstGeom prst="rect">
            <a:avLst/>
          </a:prstGeom>
          <a:noFill/>
        </p:spPr>
        <p:txBody>
          <a:bodyPr wrap="square">
            <a:spAutoFit/>
          </a:bodyPr>
          <a:lstStyle/>
          <a:p>
            <a:pPr algn="ctr"/>
            <a:r>
              <a:rPr sz="1100" b="0">
                <a:solidFill>
                  <a:srgbClr val="5A5A5A"/>
                </a:solidFill>
                <a:latin typeface="Calibri"/>
              </a:rPr>
              <a:t>node-hours of</a:t>
            </a:r>
          </a:p>
          <a:p>
            <a:pPr algn="ctr"/>
            <a:r>
              <a:rPr sz="1100" b="0">
                <a:solidFill>
                  <a:srgbClr val="5A5A5A"/>
                </a:solidFill>
                <a:latin typeface="Calibri"/>
              </a:rPr>
              <a:t>CPQMC this week</a:t>
            </a:r>
          </a:p>
        </p:txBody>
      </p:sp>
      <p:graphicFrame>
        <p:nvGraphicFramePr>
          <p:cNvPr id="15" name="Table 14"/>
          <p:cNvGraphicFramePr>
            <a:graphicFrameLocks noGrp="1"/>
          </p:cNvGraphicFramePr>
          <p:nvPr/>
        </p:nvGraphicFramePr>
        <p:xfrm>
          <a:off x="502920" y="3200400"/>
          <a:ext cx="11155680" cy="1920240"/>
        </p:xfrm>
        <a:graphic>
          <a:graphicData uri="http://schemas.openxmlformats.org/drawingml/2006/table">
            <a:tbl>
              <a:tblPr firstRow="1" bandRow="1">
                <a:tableStyleId>{5C22544A-7EE6-4342-B048-85BDC9FD1C3A}</a:tableStyleId>
              </a:tblPr>
              <a:tblGrid>
                <a:gridCol w="2194560"/>
                <a:gridCol w="6035040"/>
                <a:gridCol w="2926080"/>
              </a:tblGrid>
              <a:tr h="384048">
                <a:tc>
                  <a:txBody>
                    <a:bodyPr/>
                    <a:lstStyle/>
                    <a:p>
                      <a:r>
                        <a:rPr sz="1300" b="1">
                          <a:solidFill>
                            <a:srgbClr val="1E2761"/>
                          </a:solidFill>
                          <a:latin typeface="Calibri"/>
                        </a:rPr>
                        <a:t>run</a:t>
                      </a:r>
                    </a:p>
                  </a:txBody>
                  <a:tcPr anchor="ctr" marL="54864" marR="54864" marT="0" marB="0">
                    <a:solidFill>
                      <a:srgbClr val="EEF2F7"/>
                    </a:solidFill>
                  </a:tcPr>
                </a:tc>
                <a:tc>
                  <a:txBody>
                    <a:bodyPr/>
                    <a:lstStyle/>
                    <a:p>
                      <a:r>
                        <a:rPr sz="1300" b="1">
                          <a:solidFill>
                            <a:srgbClr val="1E2761"/>
                          </a:solidFill>
                          <a:latin typeface="Calibri"/>
                        </a:rPr>
                        <a:t>grid</a:t>
                      </a:r>
                    </a:p>
                  </a:txBody>
                  <a:tcPr anchor="ctr" marL="54864" marR="54864" marT="0" marB="0">
                    <a:solidFill>
                      <a:srgbClr val="EEF2F7"/>
                    </a:solidFill>
                  </a:tcPr>
                </a:tc>
                <a:tc>
                  <a:txBody>
                    <a:bodyPr/>
                    <a:lstStyle/>
                    <a:p>
                      <a:r>
                        <a:rPr sz="1300" b="1">
                          <a:solidFill>
                            <a:srgbClr val="1E2761"/>
                          </a:solidFill>
                          <a:latin typeface="Calibri"/>
                        </a:rPr>
                        <a:t>status</a:t>
                      </a:r>
                    </a:p>
                  </a:txBody>
                  <a:tcPr anchor="ctr" marL="54864" marR="54864" marT="0" marB="0">
                    <a:solidFill>
                      <a:srgbClr val="EEF2F7"/>
                    </a:solidFill>
                  </a:tcPr>
                </a:tc>
              </a:tr>
              <a:tr h="384048">
                <a:tc>
                  <a:txBody>
                    <a:bodyPr/>
                    <a:lstStyle/>
                    <a:p>
                      <a:r>
                        <a:rPr sz="1300" b="0">
                          <a:solidFill>
                            <a:srgbClr val="222222"/>
                          </a:solidFill>
                          <a:latin typeface="Calibri"/>
                        </a:rPr>
                        <a:t>Pairing cube</a:t>
                      </a:r>
                    </a:p>
                  </a:txBody>
                  <a:tcPr anchor="ctr" marL="54864" marR="54864" marT="0" marB="0">
                    <a:solidFill>
                      <a:srgbClr val="FFFFFF"/>
                    </a:solidFill>
                  </a:tcPr>
                </a:tc>
                <a:tc>
                  <a:txBody>
                    <a:bodyPr/>
                    <a:lstStyle/>
                    <a:p>
                      <a:r>
                        <a:rPr sz="1300" b="0">
                          <a:solidFill>
                            <a:srgbClr val="222222"/>
                          </a:solidFill>
                          <a:latin typeface="Calibri"/>
                        </a:rPr>
                        <a:t>L = 8, 10, 12  ×  U = 0–8  ×  6 fillings  ×  5 δ  ×  6 seeds</a:t>
                      </a:r>
                    </a:p>
                  </a:txBody>
                  <a:tcPr anchor="ctr" marL="54864" marR="54864" marT="0" marB="0">
                    <a:solidFill>
                      <a:srgbClr val="FFFFFF"/>
                    </a:solidFill>
                  </a:tcPr>
                </a:tc>
                <a:tc>
                  <a:txBody>
                    <a:bodyPr/>
                    <a:lstStyle/>
                    <a:p>
                      <a:r>
                        <a:rPr sz="1300" b="0">
                          <a:solidFill>
                            <a:srgbClr val="222222"/>
                          </a:solidFill>
                          <a:latin typeface="Calibri"/>
                        </a:rPr>
                        <a:t>complete</a:t>
                      </a:r>
                    </a:p>
                  </a:txBody>
                  <a:tcPr anchor="ctr" marL="54864" marR="54864" marT="0" marB="0">
                    <a:solidFill>
                      <a:srgbClr val="FFFFFF"/>
                    </a:solidFill>
                  </a:tcPr>
                </a:tc>
              </a:tr>
              <a:tr h="384048">
                <a:tc>
                  <a:txBody>
                    <a:bodyPr/>
                    <a:lstStyle/>
                    <a:p>
                      <a:r>
                        <a:rPr sz="1300" b="0">
                          <a:solidFill>
                            <a:srgbClr val="222222"/>
                          </a:solidFill>
                          <a:latin typeface="Calibri"/>
                        </a:rPr>
                        <a:t>Magnetic cube</a:t>
                      </a:r>
                    </a:p>
                  </a:txBody>
                  <a:tcPr anchor="ctr" marL="54864" marR="54864" marT="0" marB="0">
                    <a:solidFill>
                      <a:srgbClr val="FFFFFF"/>
                    </a:solidFill>
                  </a:tcPr>
                </a:tc>
                <a:tc>
                  <a:txBody>
                    <a:bodyPr/>
                    <a:lstStyle/>
                    <a:p>
                      <a:r>
                        <a:rPr sz="1300" b="0">
                          <a:solidFill>
                            <a:srgbClr val="222222"/>
                          </a:solidFill>
                          <a:latin typeface="Calibri"/>
                        </a:rPr>
                        <a:t>L = 12, 10, 8  ×  U = 0–8  ×  6 fillings  ×  5 δ  ×  6 seeds</a:t>
                      </a:r>
                    </a:p>
                  </a:txBody>
                  <a:tcPr anchor="ctr" marL="54864" marR="54864" marT="0" marB="0">
                    <a:solidFill>
                      <a:srgbClr val="FFFFFF"/>
                    </a:solidFill>
                  </a:tcPr>
                </a:tc>
                <a:tc>
                  <a:txBody>
                    <a:bodyPr/>
                    <a:lstStyle/>
                    <a:p>
                      <a:r>
                        <a:rPr sz="1300" b="0">
                          <a:solidFill>
                            <a:srgbClr val="222222"/>
                          </a:solidFill>
                          <a:latin typeface="Calibri"/>
                        </a:rPr>
                        <a:t>U = 0 and U = 4 done</a:t>
                      </a:r>
                    </a:p>
                  </a:txBody>
                  <a:tcPr anchor="ctr" marL="54864" marR="54864" marT="0" marB="0">
                    <a:solidFill>
                      <a:srgbClr val="FFFFFF"/>
                    </a:solidFill>
                  </a:tcPr>
                </a:tc>
              </a:tr>
              <a:tr h="384048">
                <a:tc>
                  <a:txBody>
                    <a:bodyPr/>
                    <a:lstStyle/>
                    <a:p>
                      <a:r>
                        <a:rPr sz="1300" b="0">
                          <a:solidFill>
                            <a:srgbClr val="222222"/>
                          </a:solidFill>
                          <a:latin typeface="Calibri"/>
                        </a:rPr>
                        <a:t>Dense filling scan</a:t>
                      </a:r>
                    </a:p>
                  </a:txBody>
                  <a:tcPr anchor="ctr" marL="54864" marR="54864" marT="0" marB="0">
                    <a:solidFill>
                      <a:srgbClr val="FFFFFF"/>
                    </a:solidFill>
                  </a:tcPr>
                </a:tc>
                <a:tc>
                  <a:txBody>
                    <a:bodyPr/>
                    <a:lstStyle/>
                    <a:p>
                      <a:r>
                        <a:rPr sz="1300" b="0">
                          <a:solidFill>
                            <a:srgbClr val="222222"/>
                          </a:solidFill>
                          <a:latin typeface="Calibri"/>
                        </a:rPr>
                        <a:t>L = 12, U = 4, 19 fillings, Δn = 0.028</a:t>
                      </a:r>
                    </a:p>
                  </a:txBody>
                  <a:tcPr anchor="ctr" marL="54864" marR="54864" marT="0" marB="0">
                    <a:solidFill>
                      <a:srgbClr val="FFFFFF"/>
                    </a:solidFill>
                  </a:tcPr>
                </a:tc>
                <a:tc>
                  <a:txBody>
                    <a:bodyPr/>
                    <a:lstStyle/>
                    <a:p>
                      <a:r>
                        <a:rPr sz="1300" b="0">
                          <a:solidFill>
                            <a:srgbClr val="222222"/>
                          </a:solidFill>
                          <a:latin typeface="Calibri"/>
                        </a:rPr>
                        <a:t>7 of 19</a:t>
                      </a:r>
                    </a:p>
                  </a:txBody>
                  <a:tcPr anchor="ctr" marL="54864" marR="54864" marT="0" marB="0">
                    <a:solidFill>
                      <a:srgbClr val="FFFFFF"/>
                    </a:solidFill>
                  </a:tcPr>
                </a:tc>
              </a:tr>
              <a:tr h="384048">
                <a:tc>
                  <a:txBody>
                    <a:bodyPr/>
                    <a:lstStyle/>
                    <a:p>
                      <a:r>
                        <a:rPr sz="1300" b="0">
                          <a:solidFill>
                            <a:srgbClr val="222222"/>
                          </a:solidFill>
                          <a:latin typeface="Calibri"/>
                        </a:rPr>
                        <a:t>Spectral machinery</a:t>
                      </a:r>
                    </a:p>
                  </a:txBody>
                  <a:tcPr anchor="ctr" marL="54864" marR="54864" marT="0" marB="0">
                    <a:solidFill>
                      <a:srgbClr val="FFFFFF"/>
                    </a:solidFill>
                  </a:tcPr>
                </a:tc>
                <a:tc>
                  <a:txBody>
                    <a:bodyPr/>
                    <a:lstStyle/>
                    <a:p>
                      <a:r>
                        <a:rPr sz="1300" b="0">
                          <a:solidFill>
                            <a:srgbClr val="222222"/>
                          </a:solidFill>
                          <a:latin typeface="Calibri"/>
                        </a:rPr>
                        <a:t>G(k,τ), dispersion fit, ALF bridge</a:t>
                      </a:r>
                    </a:p>
                  </a:txBody>
                  <a:tcPr anchor="ctr" marL="54864" marR="54864" marT="0" marB="0">
                    <a:solidFill>
                      <a:srgbClr val="FFFFFF"/>
                    </a:solidFill>
                  </a:tcPr>
                </a:tc>
                <a:tc>
                  <a:txBody>
                    <a:bodyPr/>
                    <a:lstStyle/>
                    <a:p>
                      <a:r>
                        <a:rPr sz="1300" b="0">
                          <a:solidFill>
                            <a:srgbClr val="222222"/>
                          </a:solidFill>
                          <a:latin typeface="Calibri"/>
                        </a:rPr>
                        <a:t>built and validated</a:t>
                      </a:r>
                    </a:p>
                  </a:txBody>
                  <a:tcPr anchor="ctr" marL="54864" marR="54864" marT="0" marB="0">
                    <a:solidFill>
                      <a:srgbClr val="FFFFFF"/>
                    </a:solidFill>
                  </a:tcPr>
                </a:tc>
              </a:tr>
            </a:tbl>
          </a:graphicData>
        </a:graphic>
      </p:graphicFrame>
      <p:sp>
        <p:nvSpPr>
          <p:cNvPr id="16" name="TextBox 15"/>
          <p:cNvSpPr txBox="1"/>
          <p:nvPr/>
        </p:nvSpPr>
        <p:spPr>
          <a:xfrm>
            <a:off x="502920" y="5349240"/>
            <a:ext cx="11155680" cy="731520"/>
          </a:xfrm>
          <a:prstGeom prst="rect">
            <a:avLst/>
          </a:prstGeom>
          <a:noFill/>
        </p:spPr>
        <p:txBody>
          <a:bodyPr wrap="square">
            <a:spAutoFit/>
          </a:bodyPr>
          <a:lstStyle/>
          <a:p>
            <a:pPr algn="l"/>
            <a:r>
              <a:rPr sz="1400" b="0">
                <a:solidFill>
                  <a:srgbClr val="5A5A5A"/>
                </a:solidFill>
                <a:latin typeface="Calibri"/>
              </a:rPr>
              <a:t>Six seeds at every point throughout, so the error bars are real rather than indicative. The pairing cube merges with the earlier L = 6 grid into a single 3900-row dataset.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The model</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Single-band Hubbard on the checkerboard lattice. Hopping is strictly spin independent.</a:t>
            </a:r>
          </a:p>
        </p:txBody>
      </p:sp>
      <p:pic>
        <p:nvPicPr>
          <p:cNvPr id="4" name="Picture 3" descr="1_dnk.png"/>
          <p:cNvPicPr>
            <a:picLocks noChangeAspect="1"/>
          </p:cNvPicPr>
          <p:nvPr/>
        </p:nvPicPr>
        <p:blipFill>
          <a:blip r:embed="rId2"/>
          <a:stretch>
            <a:fillRect/>
          </a:stretch>
        </p:blipFill>
        <p:spPr>
          <a:xfrm>
            <a:off x="457200" y="1371600"/>
            <a:ext cx="7589520" cy="2263855"/>
          </a:xfrm>
          <a:prstGeom prst="rect">
            <a:avLst/>
          </a:prstGeom>
        </p:spPr>
      </p:pic>
      <p:sp>
        <p:nvSpPr>
          <p:cNvPr id="5" name="Rounded Rectangle 4"/>
          <p:cNvSpPr/>
          <p:nvPr/>
        </p:nvSpPr>
        <p:spPr>
          <a:xfrm>
            <a:off x="8321040" y="1463040"/>
            <a:ext cx="3383280" cy="3200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645920"/>
            <a:ext cx="2926080" cy="2926080"/>
          </a:xfrm>
          <a:prstGeom prst="rect">
            <a:avLst/>
          </a:prstGeom>
          <a:noFill/>
        </p:spPr>
        <p:txBody>
          <a:bodyPr wrap="square">
            <a:spAutoFit/>
          </a:bodyPr>
          <a:lstStyle/>
          <a:p>
            <a:pPr algn="l">
              <a:spcAft>
                <a:spcPts val="500"/>
              </a:spcAft>
            </a:pPr>
            <a:r>
              <a:rPr sz="1500" b="1">
                <a:solidFill>
                  <a:srgbClr val="1E2761"/>
                </a:solidFill>
                <a:latin typeface="Calibri"/>
              </a:rPr>
              <a:t>t = 1</a:t>
            </a:r>
          </a:p>
          <a:p>
            <a:pPr algn="l">
              <a:spcAft>
                <a:spcPts val="500"/>
              </a:spcAft>
            </a:pPr>
            <a:r>
              <a:rPr sz="1200" b="0">
                <a:solidFill>
                  <a:srgbClr val="5A5A5A"/>
                </a:solidFill>
                <a:latin typeface="Calibri"/>
              </a:rPr>
              <a:t>nearest neighbour, sets the energy unit</a:t>
            </a:r>
          </a:p>
          <a:p>
            <a:pPr algn="l">
              <a:spcAft>
                <a:spcPts val="500"/>
              </a:spcAft>
            </a:pPr>
            <a:r>
              <a:rPr sz="1500" b="1">
                <a:solidFill>
                  <a:srgbClr val="1E2761"/>
                </a:solidFill>
                <a:latin typeface="Calibri"/>
              </a:rPr>
              <a:t>t′ = −0.3</a:t>
            </a:r>
          </a:p>
          <a:p>
            <a:pPr algn="l">
              <a:spcAft>
                <a:spcPts val="500"/>
              </a:spcAft>
            </a:pPr>
            <a:r>
              <a:rPr sz="1200" b="0">
                <a:solidFill>
                  <a:srgbClr val="5A5A5A"/>
                </a:solidFill>
                <a:latin typeface="Calibri"/>
              </a:rPr>
              <a:t>diagonal bonds, on alternating plaquettes only</a:t>
            </a:r>
          </a:p>
          <a:p>
            <a:pPr algn="l">
              <a:spcAft>
                <a:spcPts val="500"/>
              </a:spcAft>
            </a:pPr>
            <a:r>
              <a:rPr sz="1500" b="1">
                <a:solidFill>
                  <a:srgbClr val="B85042"/>
                </a:solidFill>
                <a:latin typeface="Calibri"/>
              </a:rPr>
              <a:t>t± = t′ ± δ</a:t>
            </a:r>
          </a:p>
          <a:p>
            <a:pPr algn="l">
              <a:spcAft>
                <a:spcPts val="500"/>
              </a:spcAft>
            </a:pPr>
            <a:r>
              <a:rPr sz="1200" b="0">
                <a:solidFill>
                  <a:srgbClr val="5A5A5A"/>
                </a:solidFill>
                <a:latin typeface="Calibri"/>
              </a:rPr>
              <a:t>the two diagonals differ. δ is a one-body geometric parameter and produces no spin splitting by itself.</a:t>
            </a:r>
          </a:p>
        </p:txBody>
      </p:sp>
      <p:sp>
        <p:nvSpPr>
          <p:cNvPr id="7" name="TextBox 6"/>
          <p:cNvSpPr txBox="1"/>
          <p:nvPr/>
        </p:nvSpPr>
        <p:spPr>
          <a:xfrm>
            <a:off x="502920" y="5029200"/>
            <a:ext cx="11155680" cy="1097280"/>
          </a:xfrm>
          <a:prstGeom prst="rect">
            <a:avLst/>
          </a:prstGeom>
          <a:noFill/>
        </p:spPr>
        <p:txBody>
          <a:bodyPr wrap="square">
            <a:spAutoFit/>
          </a:bodyPr>
          <a:lstStyle/>
          <a:p>
            <a:pPr algn="l"/>
            <a:r>
              <a:rPr sz="1450" b="0">
                <a:solidFill>
                  <a:srgbClr val="222222"/>
                </a:solidFill>
                <a:latin typeface="Calibri"/>
              </a:rPr>
              <a:t>Δn(k) vanishes at δ = 0 and grows into a d(xy) pattern with δ. The state is compensated: zero net moment, but the bands are spin split at generic k. Crucially, this requires the interaction. The hopping matrix itself is spin independent, so at U = 0 there is no splitting for any 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Why the form factor is d(xy), and why that is not a choice</a:t>
            </a:r>
          </a:p>
        </p:txBody>
      </p:sp>
      <p:sp>
        <p:nvSpPr>
          <p:cNvPr id="3" name="TextBox 2"/>
          <p:cNvSpPr txBox="1"/>
          <p:nvPr/>
        </p:nvSpPr>
        <p:spPr>
          <a:xfrm>
            <a:off x="502920" y="1234440"/>
            <a:ext cx="6949440" cy="3108960"/>
          </a:xfrm>
          <a:prstGeom prst="rect">
            <a:avLst/>
          </a:prstGeom>
          <a:noFill/>
        </p:spPr>
        <p:txBody>
          <a:bodyPr wrap="square">
            <a:spAutoFit/>
          </a:bodyPr>
          <a:lstStyle/>
          <a:p>
            <a:pPr algn="l">
              <a:spcAft>
                <a:spcPts val="1300"/>
              </a:spcAft>
            </a:pPr>
            <a:r>
              <a:rPr sz="1500" b="0">
                <a:solidFill>
                  <a:srgbClr val="222222"/>
                </a:solidFill>
                <a:latin typeface="Calibri"/>
              </a:rPr>
              <a:t>The two sublattices are defined by the parity of x + y, and they differ only in which diagonal of a crossed plaquette carries the larger hopping.</a:t>
            </a:r>
          </a:p>
          <a:p>
            <a:pPr algn="l">
              <a:spcAft>
                <a:spcPts val="1300"/>
              </a:spcAft>
            </a:pPr>
            <a:r>
              <a:rPr sz="1500" b="0">
                <a:solidFill>
                  <a:srgbClr val="222222"/>
                </a:solidFill>
                <a:latin typeface="Calibri"/>
              </a:rPr>
              <a:t>They are exchanged by a 90° rotation, not by a translation or an inversion. That is the defining property of an altermagnet.</a:t>
            </a:r>
          </a:p>
          <a:p>
            <a:pPr algn="l">
              <a:spcAft>
                <a:spcPts val="1300"/>
              </a:spcAft>
            </a:pPr>
            <a:r>
              <a:rPr sz="1500" b="1">
                <a:solidFill>
                  <a:srgbClr val="1E2761"/>
                </a:solidFill>
                <a:latin typeface="Calibri"/>
              </a:rPr>
              <a:t>Under the same 90° rotation, sin(kx)·sin(ky) changes sign. So any sublattice-staggered spin polarisation must carry d(xy) symmetry.</a:t>
            </a:r>
          </a:p>
        </p:txBody>
      </p:sp>
      <p:sp>
        <p:nvSpPr>
          <p:cNvPr id="4" name="Rounded Rectangle 3"/>
          <p:cNvSpPr/>
          <p:nvPr/>
        </p:nvSpPr>
        <p:spPr>
          <a:xfrm>
            <a:off x="7680960" y="1234440"/>
            <a:ext cx="4023360" cy="31089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1417320"/>
            <a:ext cx="3520440" cy="2834640"/>
          </a:xfrm>
          <a:prstGeom prst="rect">
            <a:avLst/>
          </a:prstGeom>
          <a:noFill/>
        </p:spPr>
        <p:txBody>
          <a:bodyPr wrap="square">
            <a:spAutoFit/>
          </a:bodyPr>
          <a:lstStyle/>
          <a:p>
            <a:pPr algn="l">
              <a:spcAft>
                <a:spcPts val="600"/>
              </a:spcAft>
            </a:pPr>
            <a:r>
              <a:rPr sz="1500" b="1">
                <a:solidFill>
                  <a:srgbClr val="1E2761"/>
                </a:solidFill>
                <a:latin typeface="Cambria"/>
              </a:rPr>
              <a:t>Consequences</a:t>
            </a:r>
          </a:p>
          <a:p>
            <a:pPr algn="l">
              <a:spcAft>
                <a:spcPts val="600"/>
              </a:spcAft>
            </a:pPr>
            <a:r>
              <a:rPr sz="1300" b="0">
                <a:solidFill>
                  <a:srgbClr val="222222"/>
                </a:solidFill>
                <a:latin typeface="Calibri"/>
              </a:rPr>
              <a:t>The lattice geometry fixes the symmetry. It is not fitted or assumed.</a:t>
            </a:r>
          </a:p>
          <a:p>
            <a:pPr algn="l">
              <a:spcAft>
                <a:spcPts val="600"/>
              </a:spcAft>
            </a:pPr>
            <a:r>
              <a:rPr sz="1300" b="0">
                <a:solidFill>
                  <a:srgbClr val="222222"/>
                </a:solidFill>
                <a:latin typeface="Calibri"/>
              </a:rPr>
              <a:t>Square-lattice altermagnet models give d(x²−y²) instead, so the checkerboard picks a different pairing channel.</a:t>
            </a:r>
          </a:p>
          <a:p>
            <a:pPr algn="l">
              <a:spcAft>
                <a:spcPts val="600"/>
              </a:spcAft>
            </a:pPr>
            <a:r>
              <a:rPr sz="1300" b="0">
                <a:solidFill>
                  <a:srgbClr val="222222"/>
                </a:solidFill>
                <a:latin typeface="Calibri"/>
              </a:rPr>
              <a:t>At δ ≠ 0 the unit cell has two sites and the spectrum has two bands. Verified from the hopping matrix: only the (1,1) translation survives.</a:t>
            </a:r>
          </a:p>
        </p:txBody>
      </p:sp>
      <p:sp>
        <p:nvSpPr>
          <p:cNvPr id="6" name="TextBox 5"/>
          <p:cNvSpPr txBox="1"/>
          <p:nvPr/>
        </p:nvSpPr>
        <p:spPr>
          <a:xfrm>
            <a:off x="502920" y="4663440"/>
            <a:ext cx="11155680" cy="1188720"/>
          </a:xfrm>
          <a:prstGeom prst="rect">
            <a:avLst/>
          </a:prstGeom>
          <a:noFill/>
        </p:spPr>
        <p:txBody>
          <a:bodyPr wrap="square">
            <a:spAutoFit/>
          </a:bodyPr>
          <a:lstStyle/>
          <a:p>
            <a:pPr algn="l"/>
            <a:r>
              <a:rPr sz="1500" b="0">
                <a:solidFill>
                  <a:srgbClr val="1E2761"/>
                </a:solidFill>
                <a:latin typeface="Calibri"/>
              </a:rPr>
              <a:t>This is the load-bearing observation for the whole paper. Because the magnetic form factor is fixed to d(xy) by geometry, we can ask a question the imposed-splitting studies cannot: if the magnetic order has d(xy) symmetry, which pairing channel survives?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What we measure, and the null test that validates it</a:t>
            </a:r>
          </a:p>
        </p:txBody>
      </p:sp>
      <p:sp>
        <p:nvSpPr>
          <p:cNvPr id="3" name="TextBox 2"/>
          <p:cNvSpPr txBox="1"/>
          <p:nvPr/>
        </p:nvSpPr>
        <p:spPr>
          <a:xfrm>
            <a:off x="502920" y="1188720"/>
            <a:ext cx="6858000" cy="2377440"/>
          </a:xfrm>
          <a:prstGeom prst="rect">
            <a:avLst/>
          </a:prstGeom>
          <a:noFill/>
        </p:spPr>
        <p:txBody>
          <a:bodyPr wrap="square">
            <a:spAutoFit/>
          </a:bodyPr>
          <a:lstStyle/>
          <a:p>
            <a:pPr algn="l">
              <a:spcAft>
                <a:spcPts val="1000"/>
              </a:spcAft>
            </a:pPr>
            <a:r>
              <a:rPr sz="1400" b="0">
                <a:solidFill>
                  <a:srgbClr val="222222"/>
                </a:solidFill>
                <a:latin typeface="Calibri"/>
              </a:rPr>
              <a:t>Pair operator with zero centre-of-mass momentum (the Γ point). The internal symmetry is carried entirely by the form factor f(i,j).</a:t>
            </a:r>
          </a:p>
          <a:p>
            <a:pPr algn="l">
              <a:spcAft>
                <a:spcPts val="1000"/>
              </a:spcAft>
            </a:pPr>
            <a:r>
              <a:rPr sz="1400" b="0">
                <a:solidFill>
                  <a:srgbClr val="222222"/>
                </a:solidFill>
                <a:latin typeface="Calibri"/>
              </a:rPr>
              <a:t>Four channels: on-site s, extended s, d(x²−y²), d(xy).</a:t>
            </a:r>
          </a:p>
          <a:p>
            <a:pPr algn="l">
              <a:spcAft>
                <a:spcPts val="1000"/>
              </a:spcAft>
            </a:pPr>
            <a:r>
              <a:rPr sz="1400" b="0">
                <a:solidFill>
                  <a:srgbClr val="222222"/>
                </a:solidFill>
                <a:latin typeface="Calibri"/>
              </a:rPr>
              <a:t>We report the connected VERTEX, χ = full − bubble, integrated over imaginary time. The vertex isolates the interaction-induced part, and positive means attractive.</a:t>
            </a:r>
          </a:p>
          <a:p>
            <a:pPr algn="l">
              <a:spcAft>
                <a:spcPts val="1000"/>
              </a:spcAft>
            </a:pPr>
            <a:r>
              <a:rPr sz="1400" b="0">
                <a:solidFill>
                  <a:srgbClr val="B85042"/>
                </a:solidFill>
                <a:latin typeface="Calibri"/>
              </a:rPr>
              <a:t>The equal-time vertex is CP-biased, as the ED gate showed. The integrated form is the one that passed the benchmark.</a:t>
            </a:r>
          </a:p>
        </p:txBody>
      </p:sp>
      <p:sp>
        <p:nvSpPr>
          <p:cNvPr id="4" name="Rounded Rectangle 3"/>
          <p:cNvSpPr/>
          <p:nvPr/>
        </p:nvSpPr>
        <p:spPr>
          <a:xfrm>
            <a:off x="7589520" y="1188720"/>
            <a:ext cx="4114800" cy="2377440"/>
          </a:xfrm>
          <a:prstGeom prst="roundRect">
            <a:avLst/>
          </a:prstGeom>
          <a:solidFill>
            <a:srgbClr val="EA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0" y="1371600"/>
            <a:ext cx="3611880" cy="2103120"/>
          </a:xfrm>
          <a:prstGeom prst="rect">
            <a:avLst/>
          </a:prstGeom>
          <a:noFill/>
        </p:spPr>
        <p:txBody>
          <a:bodyPr wrap="square">
            <a:spAutoFit/>
          </a:bodyPr>
          <a:lstStyle/>
          <a:p>
            <a:pPr algn="l">
              <a:spcAft>
                <a:spcPts val="700"/>
              </a:spcAft>
            </a:pPr>
            <a:r>
              <a:rPr sz="1500" b="1">
                <a:solidFill>
                  <a:srgbClr val="2C5F2D"/>
                </a:solidFill>
                <a:latin typeface="Cambria"/>
              </a:rPr>
              <a:t>Null test</a:t>
            </a:r>
          </a:p>
          <a:p>
            <a:pPr algn="l">
              <a:spcAft>
                <a:spcPts val="700"/>
              </a:spcAft>
            </a:pPr>
            <a:r>
              <a:rPr sz="1300" b="0">
                <a:solidFill>
                  <a:srgbClr val="222222"/>
                </a:solidFill>
                <a:latin typeface="Calibri"/>
              </a:rPr>
              <a:t>At U = 0 the full correlator IS its own bubble, so the vertex must vanish identically.</a:t>
            </a:r>
          </a:p>
          <a:p>
            <a:pPr algn="l">
              <a:spcAft>
                <a:spcPts val="700"/>
              </a:spcAft>
            </a:pPr>
            <a:r>
              <a:rPr sz="1400" b="1">
                <a:solidFill>
                  <a:srgbClr val="2C5F2D"/>
                </a:solidFill>
                <a:latin typeface="Calibri"/>
              </a:rPr>
              <a:t>We recover 10⁻¹³ to 10⁻¹⁴ in all four channels, at every size, filling and δ.</a:t>
            </a:r>
          </a:p>
        </p:txBody>
      </p:sp>
      <p:sp>
        <p:nvSpPr>
          <p:cNvPr id="6" name="TextBox 5"/>
          <p:cNvSpPr txBox="1"/>
          <p:nvPr/>
        </p:nvSpPr>
        <p:spPr>
          <a:xfrm>
            <a:off x="502920" y="3794760"/>
            <a:ext cx="11155680" cy="457200"/>
          </a:xfrm>
          <a:prstGeom prst="rect">
            <a:avLst/>
          </a:prstGeom>
          <a:noFill/>
        </p:spPr>
        <p:txBody>
          <a:bodyPr wrap="square">
            <a:spAutoFit/>
          </a:bodyPr>
          <a:lstStyle/>
          <a:p>
            <a:pPr algn="l"/>
            <a:r>
              <a:rPr sz="1500" b="1">
                <a:solidFill>
                  <a:srgbClr val="1E2761"/>
                </a:solidFill>
                <a:latin typeface="Calibri"/>
              </a:rPr>
              <a:t>Meeting point 4, answered: we compute at q = 0, the Γ point.</a:t>
            </a:r>
          </a:p>
        </p:txBody>
      </p:sp>
      <p:pic>
        <p:nvPicPr>
          <p:cNvPr id="7" name="Picture 6" descr="fig_4ch_vsU_L12.png"/>
          <p:cNvPicPr>
            <a:picLocks noChangeAspect="1"/>
          </p:cNvPicPr>
          <p:nvPr/>
        </p:nvPicPr>
        <p:blipFill>
          <a:blip r:embed="rId2"/>
          <a:stretch>
            <a:fillRect/>
          </a:stretch>
        </p:blipFill>
        <p:spPr>
          <a:xfrm>
            <a:off x="3291840" y="4370832"/>
            <a:ext cx="5671353" cy="2240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Main result: the anisotropy selects the pairing channel</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L = 12, U = 4, doped filling n ≈ 0.78.</a:t>
            </a:r>
          </a:p>
        </p:txBody>
      </p:sp>
      <p:pic>
        <p:nvPicPr>
          <p:cNvPr id="4" name="Picture 3" descr="fig_fss_swap_U4.png"/>
          <p:cNvPicPr>
            <a:picLocks noChangeAspect="1"/>
          </p:cNvPicPr>
          <p:nvPr/>
        </p:nvPicPr>
        <p:blipFill>
          <a:blip r:embed="rId2"/>
          <a:stretch>
            <a:fillRect/>
          </a:stretch>
        </p:blipFill>
        <p:spPr>
          <a:xfrm>
            <a:off x="411480" y="1371600"/>
            <a:ext cx="7040880" cy="2888566"/>
          </a:xfrm>
          <a:prstGeom prst="rect">
            <a:avLst/>
          </a:prstGeom>
        </p:spPr>
      </p:pic>
      <p:sp>
        <p:nvSpPr>
          <p:cNvPr id="5" name="Rounded Rectangle 4"/>
          <p:cNvSpPr/>
          <p:nvPr/>
        </p:nvSpPr>
        <p:spPr>
          <a:xfrm>
            <a:off x="7680960" y="1371600"/>
            <a:ext cx="4023360" cy="27432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1508760"/>
            <a:ext cx="3566160" cy="2468880"/>
          </a:xfrm>
          <a:prstGeom prst="rect">
            <a:avLst/>
          </a:prstGeom>
          <a:noFill/>
        </p:spPr>
        <p:txBody>
          <a:bodyPr wrap="square">
            <a:spAutoFit/>
          </a:bodyPr>
          <a:lstStyle/>
          <a:p>
            <a:pPr algn="l">
              <a:spcAft>
                <a:spcPts val="800"/>
              </a:spcAft>
            </a:pPr>
            <a:r>
              <a:rPr sz="1200" b="0">
                <a:solidFill>
                  <a:srgbClr val="5A5A5A"/>
                </a:solidFill>
                <a:latin typeface="Calibri"/>
              </a:rPr>
              <a:t>δ = 0   →   δ = 0.4</a:t>
            </a:r>
          </a:p>
          <a:p>
            <a:pPr algn="l">
              <a:spcAft>
                <a:spcPts val="800"/>
              </a:spcAft>
            </a:pPr>
            <a:r>
              <a:rPr sz="1600" b="1">
                <a:solidFill>
                  <a:srgbClr val="B85042"/>
                </a:solidFill>
                <a:latin typeface="Calibri"/>
              </a:rPr>
              <a:t>d(xy):       −1.68  →  −5.99</a:t>
            </a:r>
          </a:p>
          <a:p>
            <a:pPr algn="l">
              <a:spcAft>
                <a:spcPts val="800"/>
              </a:spcAft>
            </a:pPr>
            <a:r>
              <a:rPr sz="1600" b="1">
                <a:solidFill>
                  <a:srgbClr val="1E2761"/>
                </a:solidFill>
                <a:latin typeface="Calibri"/>
              </a:rPr>
              <a:t>d(x²−y²):  +3.79  →  +0.87</a:t>
            </a:r>
          </a:p>
          <a:p>
            <a:pPr algn="l">
              <a:spcAft>
                <a:spcPts val="800"/>
              </a:spcAft>
            </a:pPr>
            <a:r>
              <a:rPr sz="1300" b="0">
                <a:solidFill>
                  <a:srgbClr val="222222"/>
                </a:solidFill>
                <a:latin typeface="Calibri"/>
              </a:rPr>
              <a:t>Both weaken. d(xy) is destroyed. d(x²−y²) survives and stays attractive.</a:t>
            </a:r>
          </a:p>
        </p:txBody>
      </p:sp>
      <p:sp>
        <p:nvSpPr>
          <p:cNvPr id="7" name="TextBox 6"/>
          <p:cNvSpPr txBox="1"/>
          <p:nvPr/>
        </p:nvSpPr>
        <p:spPr>
          <a:xfrm>
            <a:off x="502920" y="4297680"/>
            <a:ext cx="11155680" cy="1005840"/>
          </a:xfrm>
          <a:prstGeom prst="rect">
            <a:avLst/>
          </a:prstGeom>
          <a:noFill/>
        </p:spPr>
        <p:txBody>
          <a:bodyPr wrap="square">
            <a:spAutoFit/>
          </a:bodyPr>
          <a:lstStyle/>
          <a:p>
            <a:pPr algn="l"/>
            <a:r>
              <a:rPr sz="1500" b="0">
                <a:solidFill>
                  <a:srgbClr val="222222"/>
                </a:solidFill>
                <a:latin typeface="Calibri"/>
              </a:rPr>
              <a:t>This is not a competition in which one channel grows as the other shrinks. Both weaken. The order parameter has d(xy) symmetry, so it couples to the pairing channel of the same symmetry and leaves the orthogonal one comparatively untouched. d(x²−y²) wins by surviving.</a:t>
            </a:r>
          </a:p>
        </p:txBody>
      </p:sp>
      <p:sp>
        <p:nvSpPr>
          <p:cNvPr id="8" name="TextBox 7"/>
          <p:cNvSpPr txBox="1"/>
          <p:nvPr/>
        </p:nvSpPr>
        <p:spPr>
          <a:xfrm>
            <a:off x="502920" y="5349240"/>
            <a:ext cx="11155680" cy="640080"/>
          </a:xfrm>
          <a:prstGeom prst="rect">
            <a:avLst/>
          </a:prstGeom>
          <a:noFill/>
        </p:spPr>
        <p:txBody>
          <a:bodyPr wrap="square">
            <a:spAutoFit/>
          </a:bodyPr>
          <a:lstStyle/>
          <a:p>
            <a:pPr algn="l"/>
            <a:r>
              <a:rPr sz="1400" b="0">
                <a:solidFill>
                  <a:srgbClr val="1E2761"/>
                </a:solidFill>
                <a:latin typeface="Calibri"/>
              </a:rPr>
              <a:t>d(x²−y²) exceeds d(xy) at n ≈ 0.78 in all 16 combinations of four lattice sizes and four interaction strengths, and the margin grows with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All four channels, all interaction strengths, L = 12</a:t>
            </a:r>
          </a:p>
        </p:txBody>
      </p:sp>
      <p:pic>
        <p:nvPicPr>
          <p:cNvPr id="3" name="Picture 2" descr="maps_allU_4ch_montage_L12.png"/>
          <p:cNvPicPr>
            <a:picLocks noChangeAspect="1"/>
          </p:cNvPicPr>
          <p:nvPr/>
        </p:nvPicPr>
        <p:blipFill>
          <a:blip r:embed="rId2"/>
          <a:stretch>
            <a:fillRect/>
          </a:stretch>
        </p:blipFill>
        <p:spPr>
          <a:xfrm>
            <a:off x="1234440" y="1280160"/>
            <a:ext cx="5804432" cy="52120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Only d(xy) reverses sign with filling</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Change in χ between δ = 0 and δ = 0.4, at L = 12, U = 4. Both channels shown.</a:t>
            </a:r>
          </a:p>
        </p:txBody>
      </p:sp>
      <p:graphicFrame>
        <p:nvGraphicFramePr>
          <p:cNvPr id="4" name="Table 3"/>
          <p:cNvGraphicFramePr>
            <a:graphicFrameLocks noGrp="1"/>
          </p:cNvGraphicFramePr>
          <p:nvPr/>
        </p:nvGraphicFramePr>
        <p:xfrm>
          <a:off x="502920" y="1371600"/>
          <a:ext cx="11155680" cy="2816352"/>
        </p:xfrm>
        <a:graphic>
          <a:graphicData uri="http://schemas.openxmlformats.org/drawingml/2006/table">
            <a:tbl>
              <a:tblPr firstRow="1" bandRow="1">
                <a:tableStyleId>{5C22544A-7EE6-4342-B048-85BDC9FD1C3A}</a:tableStyleId>
              </a:tblPr>
              <a:tblGrid>
                <a:gridCol w="1371600"/>
                <a:gridCol w="1600200"/>
                <a:gridCol w="1627632"/>
                <a:gridCol w="1627632"/>
                <a:gridCol w="1627632"/>
                <a:gridCol w="1673352"/>
                <a:gridCol w="1627632"/>
              </a:tblGrid>
              <a:tr h="402336">
                <a:tc>
                  <a:txBody>
                    <a:bodyPr/>
                    <a:lstStyle/>
                    <a:p>
                      <a:r>
                        <a:rPr sz="1250" b="1">
                          <a:solidFill>
                            <a:srgbClr val="1E2761"/>
                          </a:solidFill>
                          <a:latin typeface="Calibri"/>
                        </a:rPr>
                        <a:t>filling n</a:t>
                      </a:r>
                    </a:p>
                  </a:txBody>
                  <a:tcPr anchor="ctr" marL="54864" marR="54864" marT="0" marB="0">
                    <a:solidFill>
                      <a:srgbClr val="EEF2F7"/>
                    </a:solidFill>
                  </a:tcPr>
                </a:tc>
                <a:tc>
                  <a:txBody>
                    <a:bodyPr/>
                    <a:lstStyle/>
                    <a:p>
                      <a:r>
                        <a:rPr sz="1250" b="1">
                          <a:solidFill>
                            <a:srgbClr val="1E2761"/>
                          </a:solidFill>
                          <a:latin typeface="Calibri"/>
                        </a:rPr>
                        <a:t>d(xy)
δ = 0</a:t>
                      </a:r>
                    </a:p>
                  </a:txBody>
                  <a:tcPr anchor="ctr" marL="54864" marR="54864" marT="0" marB="0">
                    <a:solidFill>
                      <a:srgbClr val="EEF2F7"/>
                    </a:solidFill>
                  </a:tcPr>
                </a:tc>
                <a:tc>
                  <a:txBody>
                    <a:bodyPr/>
                    <a:lstStyle/>
                    <a:p>
                      <a:r>
                        <a:rPr sz="1250" b="1">
                          <a:solidFill>
                            <a:srgbClr val="1E2761"/>
                          </a:solidFill>
                          <a:latin typeface="Calibri"/>
                        </a:rPr>
                        <a:t>d(xy)
δ = 0.4</a:t>
                      </a:r>
                    </a:p>
                  </a:txBody>
                  <a:tcPr anchor="ctr" marL="54864" marR="54864" marT="0" marB="0">
                    <a:solidFill>
                      <a:srgbClr val="EEF2F7"/>
                    </a:solidFill>
                  </a:tcPr>
                </a:tc>
                <a:tc>
                  <a:txBody>
                    <a:bodyPr/>
                    <a:lstStyle/>
                    <a:p>
                      <a:r>
                        <a:rPr sz="1250" b="1">
                          <a:solidFill>
                            <a:srgbClr val="1E2761"/>
                          </a:solidFill>
                          <a:latin typeface="Calibri"/>
                        </a:rPr>
                        <a:t>d(xy)
change</a:t>
                      </a:r>
                    </a:p>
                  </a:txBody>
                  <a:tcPr anchor="ctr" marL="54864" marR="54864" marT="0" marB="0">
                    <a:solidFill>
                      <a:srgbClr val="EEF2F7"/>
                    </a:solidFill>
                  </a:tcPr>
                </a:tc>
                <a:tc>
                  <a:txBody>
                    <a:bodyPr/>
                    <a:lstStyle/>
                    <a:p>
                      <a:r>
                        <a:rPr sz="1250" b="1">
                          <a:solidFill>
                            <a:srgbClr val="1E2761"/>
                          </a:solidFill>
                          <a:latin typeface="Calibri"/>
                        </a:rPr>
                        <a:t>d(x²−y²)
δ = 0</a:t>
                      </a:r>
                    </a:p>
                  </a:txBody>
                  <a:tcPr anchor="ctr" marL="54864" marR="54864" marT="0" marB="0">
                    <a:solidFill>
                      <a:srgbClr val="EEF2F7"/>
                    </a:solidFill>
                  </a:tcPr>
                </a:tc>
                <a:tc>
                  <a:txBody>
                    <a:bodyPr/>
                    <a:lstStyle/>
                    <a:p>
                      <a:r>
                        <a:rPr sz="1250" b="1">
                          <a:solidFill>
                            <a:srgbClr val="1E2761"/>
                          </a:solidFill>
                          <a:latin typeface="Calibri"/>
                        </a:rPr>
                        <a:t>d(x²−y²)
δ = 0.4</a:t>
                      </a:r>
                    </a:p>
                  </a:txBody>
                  <a:tcPr anchor="ctr" marL="54864" marR="54864" marT="0" marB="0">
                    <a:solidFill>
                      <a:srgbClr val="EEF2F7"/>
                    </a:solidFill>
                  </a:tcPr>
                </a:tc>
                <a:tc>
                  <a:txBody>
                    <a:bodyPr/>
                    <a:lstStyle/>
                    <a:p>
                      <a:r>
                        <a:rPr sz="1250" b="1">
                          <a:solidFill>
                            <a:srgbClr val="1E2761"/>
                          </a:solidFill>
                          <a:latin typeface="Calibri"/>
                        </a:rPr>
                        <a:t>d(x²−y²)
change</a:t>
                      </a:r>
                    </a:p>
                  </a:txBody>
                  <a:tcPr anchor="ctr" marL="54864" marR="54864" marT="0" marB="0">
                    <a:solidFill>
                      <a:srgbClr val="EEF2F7"/>
                    </a:solidFill>
                  </a:tcPr>
                </a:tc>
              </a:tr>
              <a:tr h="402336">
                <a:tc>
                  <a:txBody>
                    <a:bodyPr/>
                    <a:lstStyle/>
                    <a:p>
                      <a:r>
                        <a:rPr sz="1250" b="0">
                          <a:solidFill>
                            <a:srgbClr val="222222"/>
                          </a:solidFill>
                          <a:latin typeface="Calibri"/>
                        </a:rPr>
                        <a:t>0.500</a:t>
                      </a:r>
                    </a:p>
                  </a:txBody>
                  <a:tcPr anchor="ctr" marL="54864" marR="54864" marT="0" marB="0">
                    <a:solidFill>
                      <a:srgbClr val="FFFFFF"/>
                    </a:solidFill>
                  </a:tcPr>
                </a:tc>
                <a:tc>
                  <a:txBody>
                    <a:bodyPr/>
                    <a:lstStyle/>
                    <a:p>
                      <a:r>
                        <a:rPr sz="1250" b="0">
                          <a:solidFill>
                            <a:srgbClr val="222222"/>
                          </a:solidFill>
                          <a:latin typeface="Calibri"/>
                        </a:rPr>
                        <a:t>+3.41</a:t>
                      </a:r>
                    </a:p>
                  </a:txBody>
                  <a:tcPr anchor="ctr" marL="54864" marR="54864" marT="0" marB="0">
                    <a:solidFill>
                      <a:srgbClr val="FFFFFF"/>
                    </a:solidFill>
                  </a:tcPr>
                </a:tc>
                <a:tc>
                  <a:txBody>
                    <a:bodyPr/>
                    <a:lstStyle/>
                    <a:p>
                      <a:r>
                        <a:rPr sz="1250" b="0">
                          <a:solidFill>
                            <a:srgbClr val="222222"/>
                          </a:solidFill>
                          <a:latin typeface="Calibri"/>
                        </a:rPr>
                        <a:t>−21.39</a:t>
                      </a:r>
                    </a:p>
                  </a:txBody>
                  <a:tcPr anchor="ctr" marL="54864" marR="54864" marT="0" marB="0">
                    <a:solidFill>
                      <a:srgbClr val="FFFFFF"/>
                    </a:solidFill>
                  </a:tcPr>
                </a:tc>
                <a:tc>
                  <a:txBody>
                    <a:bodyPr/>
                    <a:lstStyle/>
                    <a:p>
                      <a:r>
                        <a:rPr sz="1250" b="1">
                          <a:solidFill>
                            <a:srgbClr val="B85042"/>
                          </a:solidFill>
                          <a:latin typeface="Calibri"/>
                        </a:rPr>
                        <a:t>−24.79</a:t>
                      </a:r>
                    </a:p>
                  </a:txBody>
                  <a:tcPr anchor="ctr" marL="54864" marR="54864" marT="0" marB="0">
                    <a:solidFill>
                      <a:srgbClr val="FFFFFF"/>
                    </a:solidFill>
                  </a:tcPr>
                </a:tc>
                <a:tc>
                  <a:txBody>
                    <a:bodyPr/>
                    <a:lstStyle/>
                    <a:p>
                      <a:r>
                        <a:rPr sz="1250" b="0">
                          <a:solidFill>
                            <a:srgbClr val="222222"/>
                          </a:solidFill>
                          <a:latin typeface="Calibri"/>
                        </a:rPr>
                        <a:t>−2.04</a:t>
                      </a:r>
                    </a:p>
                  </a:txBody>
                  <a:tcPr anchor="ctr" marL="54864" marR="54864" marT="0" marB="0">
                    <a:solidFill>
                      <a:srgbClr val="FFFFFF"/>
                    </a:solidFill>
                  </a:tcPr>
                </a:tc>
                <a:tc>
                  <a:txBody>
                    <a:bodyPr/>
                    <a:lstStyle/>
                    <a:p>
                      <a:r>
                        <a:rPr sz="1250" b="0">
                          <a:solidFill>
                            <a:srgbClr val="222222"/>
                          </a:solidFill>
                          <a:latin typeface="Calibri"/>
                        </a:rPr>
                        <a:t>−1.94</a:t>
                      </a:r>
                    </a:p>
                  </a:txBody>
                  <a:tcPr anchor="ctr" marL="54864" marR="54864" marT="0" marB="0">
                    <a:solidFill>
                      <a:srgbClr val="FFFFFF"/>
                    </a:solidFill>
                  </a:tcPr>
                </a:tc>
                <a:tc>
                  <a:txBody>
                    <a:bodyPr/>
                    <a:lstStyle/>
                    <a:p>
                      <a:r>
                        <a:rPr sz="1250" b="0">
                          <a:solidFill>
                            <a:srgbClr val="222222"/>
                          </a:solidFill>
                          <a:latin typeface="Calibri"/>
                        </a:rPr>
                        <a:t>+0.11</a:t>
                      </a:r>
                    </a:p>
                  </a:txBody>
                  <a:tcPr anchor="ctr" marL="54864" marR="54864" marT="0" marB="0">
                    <a:solidFill>
                      <a:srgbClr val="FFFFFF"/>
                    </a:solidFill>
                  </a:tcPr>
                </a:tc>
              </a:tr>
              <a:tr h="402336">
                <a:tc>
                  <a:txBody>
                    <a:bodyPr/>
                    <a:lstStyle/>
                    <a:p>
                      <a:r>
                        <a:rPr sz="1250" b="0">
                          <a:solidFill>
                            <a:srgbClr val="222222"/>
                          </a:solidFill>
                          <a:latin typeface="Calibri"/>
                        </a:rPr>
                        <a:t>0.556</a:t>
                      </a:r>
                    </a:p>
                  </a:txBody>
                  <a:tcPr anchor="ctr" marL="54864" marR="54864" marT="0" marB="0">
                    <a:solidFill>
                      <a:srgbClr val="FFFFFF"/>
                    </a:solidFill>
                  </a:tcPr>
                </a:tc>
                <a:tc>
                  <a:txBody>
                    <a:bodyPr/>
                    <a:lstStyle/>
                    <a:p>
                      <a:r>
                        <a:rPr sz="1250" b="0">
                          <a:solidFill>
                            <a:srgbClr val="222222"/>
                          </a:solidFill>
                          <a:latin typeface="Calibri"/>
                        </a:rPr>
                        <a:t>+2.57</a:t>
                      </a:r>
                    </a:p>
                  </a:txBody>
                  <a:tcPr anchor="ctr" marL="54864" marR="54864" marT="0" marB="0">
                    <a:solidFill>
                      <a:srgbClr val="FFFFFF"/>
                    </a:solidFill>
                  </a:tcPr>
                </a:tc>
                <a:tc>
                  <a:txBody>
                    <a:bodyPr/>
                    <a:lstStyle/>
                    <a:p>
                      <a:r>
                        <a:rPr sz="1250" b="0">
                          <a:solidFill>
                            <a:srgbClr val="222222"/>
                          </a:solidFill>
                          <a:latin typeface="Calibri"/>
                        </a:rPr>
                        <a:t>−13.62</a:t>
                      </a:r>
                    </a:p>
                  </a:txBody>
                  <a:tcPr anchor="ctr" marL="54864" marR="54864" marT="0" marB="0">
                    <a:solidFill>
                      <a:srgbClr val="FFFFFF"/>
                    </a:solidFill>
                  </a:tcPr>
                </a:tc>
                <a:tc>
                  <a:txBody>
                    <a:bodyPr/>
                    <a:lstStyle/>
                    <a:p>
                      <a:r>
                        <a:rPr sz="1250" b="1">
                          <a:solidFill>
                            <a:srgbClr val="B85042"/>
                          </a:solidFill>
                          <a:latin typeface="Calibri"/>
                        </a:rPr>
                        <a:t>−16.19</a:t>
                      </a:r>
                    </a:p>
                  </a:txBody>
                  <a:tcPr anchor="ctr" marL="54864" marR="54864" marT="0" marB="0">
                    <a:solidFill>
                      <a:srgbClr val="FFFFFF"/>
                    </a:solidFill>
                  </a:tcPr>
                </a:tc>
                <a:tc>
                  <a:txBody>
                    <a:bodyPr/>
                    <a:lstStyle/>
                    <a:p>
                      <a:r>
                        <a:rPr sz="1250" b="0">
                          <a:solidFill>
                            <a:srgbClr val="222222"/>
                          </a:solidFill>
                          <a:latin typeface="Calibri"/>
                        </a:rPr>
                        <a:t>+1.80</a:t>
                      </a:r>
                    </a:p>
                  </a:txBody>
                  <a:tcPr anchor="ctr" marL="54864" marR="54864" marT="0" marB="0">
                    <a:solidFill>
                      <a:srgbClr val="FFFFFF"/>
                    </a:solidFill>
                  </a:tcPr>
                </a:tc>
                <a:tc>
                  <a:txBody>
                    <a:bodyPr/>
                    <a:lstStyle/>
                    <a:p>
                      <a:r>
                        <a:rPr sz="1250" b="0">
                          <a:solidFill>
                            <a:srgbClr val="222222"/>
                          </a:solidFill>
                          <a:latin typeface="Calibri"/>
                        </a:rPr>
                        <a:t>−1.91</a:t>
                      </a:r>
                    </a:p>
                  </a:txBody>
                  <a:tcPr anchor="ctr" marL="54864" marR="54864" marT="0" marB="0">
                    <a:solidFill>
                      <a:srgbClr val="FFFFFF"/>
                    </a:solidFill>
                  </a:tcPr>
                </a:tc>
                <a:tc>
                  <a:txBody>
                    <a:bodyPr/>
                    <a:lstStyle/>
                    <a:p>
                      <a:r>
                        <a:rPr sz="1250" b="0">
                          <a:solidFill>
                            <a:srgbClr val="222222"/>
                          </a:solidFill>
                          <a:latin typeface="Calibri"/>
                        </a:rPr>
                        <a:t>−3.71</a:t>
                      </a:r>
                    </a:p>
                  </a:txBody>
                  <a:tcPr anchor="ctr" marL="54864" marR="54864" marT="0" marB="0">
                    <a:solidFill>
                      <a:srgbClr val="FFFFFF"/>
                    </a:solidFill>
                  </a:tcPr>
                </a:tc>
              </a:tr>
              <a:tr h="402336">
                <a:tc>
                  <a:txBody>
                    <a:bodyPr/>
                    <a:lstStyle/>
                    <a:p>
                      <a:r>
                        <a:rPr sz="1250" b="0">
                          <a:solidFill>
                            <a:srgbClr val="222222"/>
                          </a:solidFill>
                          <a:latin typeface="Calibri"/>
                        </a:rPr>
                        <a:t>0.667</a:t>
                      </a:r>
                    </a:p>
                  </a:txBody>
                  <a:tcPr anchor="ctr" marL="54864" marR="54864" marT="0" marB="0">
                    <a:solidFill>
                      <a:srgbClr val="FFFFFF"/>
                    </a:solidFill>
                  </a:tcPr>
                </a:tc>
                <a:tc>
                  <a:txBody>
                    <a:bodyPr/>
                    <a:lstStyle/>
                    <a:p>
                      <a:r>
                        <a:rPr sz="1250" b="0">
                          <a:solidFill>
                            <a:srgbClr val="222222"/>
                          </a:solidFill>
                          <a:latin typeface="Calibri"/>
                        </a:rPr>
                        <a:t>−1.36</a:t>
                      </a:r>
                    </a:p>
                  </a:txBody>
                  <a:tcPr anchor="ctr" marL="54864" marR="54864" marT="0" marB="0">
                    <a:solidFill>
                      <a:srgbClr val="FFFFFF"/>
                    </a:solidFill>
                  </a:tcPr>
                </a:tc>
                <a:tc>
                  <a:txBody>
                    <a:bodyPr/>
                    <a:lstStyle/>
                    <a:p>
                      <a:r>
                        <a:rPr sz="1250" b="0">
                          <a:solidFill>
                            <a:srgbClr val="222222"/>
                          </a:solidFill>
                          <a:latin typeface="Calibri"/>
                        </a:rPr>
                        <a:t>−10.79</a:t>
                      </a:r>
                    </a:p>
                  </a:txBody>
                  <a:tcPr anchor="ctr" marL="54864" marR="54864" marT="0" marB="0">
                    <a:solidFill>
                      <a:srgbClr val="FFFFFF"/>
                    </a:solidFill>
                  </a:tcPr>
                </a:tc>
                <a:tc>
                  <a:txBody>
                    <a:bodyPr/>
                    <a:lstStyle/>
                    <a:p>
                      <a:r>
                        <a:rPr sz="1250" b="1">
                          <a:solidFill>
                            <a:srgbClr val="B85042"/>
                          </a:solidFill>
                          <a:latin typeface="Calibri"/>
                        </a:rPr>
                        <a:t>−9.43</a:t>
                      </a:r>
                    </a:p>
                  </a:txBody>
                  <a:tcPr anchor="ctr" marL="54864" marR="54864" marT="0" marB="0">
                    <a:solidFill>
                      <a:srgbClr val="FFFFFF"/>
                    </a:solidFill>
                  </a:tcPr>
                </a:tc>
                <a:tc>
                  <a:txBody>
                    <a:bodyPr/>
                    <a:lstStyle/>
                    <a:p>
                      <a:r>
                        <a:rPr sz="1250" b="0">
                          <a:solidFill>
                            <a:srgbClr val="222222"/>
                          </a:solidFill>
                          <a:latin typeface="Calibri"/>
                        </a:rPr>
                        <a:t>+1.01</a:t>
                      </a:r>
                    </a:p>
                  </a:txBody>
                  <a:tcPr anchor="ctr" marL="54864" marR="54864" marT="0" marB="0">
                    <a:solidFill>
                      <a:srgbClr val="FFFFFF"/>
                    </a:solidFill>
                  </a:tcPr>
                </a:tc>
                <a:tc>
                  <a:txBody>
                    <a:bodyPr/>
                    <a:lstStyle/>
                    <a:p>
                      <a:r>
                        <a:rPr sz="1250" b="0">
                          <a:solidFill>
                            <a:srgbClr val="222222"/>
                          </a:solidFill>
                          <a:latin typeface="Calibri"/>
                        </a:rPr>
                        <a:t>−1.11</a:t>
                      </a:r>
                    </a:p>
                  </a:txBody>
                  <a:tcPr anchor="ctr" marL="54864" marR="54864" marT="0" marB="0">
                    <a:solidFill>
                      <a:srgbClr val="FFFFFF"/>
                    </a:solidFill>
                  </a:tcPr>
                </a:tc>
                <a:tc>
                  <a:txBody>
                    <a:bodyPr/>
                    <a:lstStyle/>
                    <a:p>
                      <a:r>
                        <a:rPr sz="1250" b="0">
                          <a:solidFill>
                            <a:srgbClr val="222222"/>
                          </a:solidFill>
                          <a:latin typeface="Calibri"/>
                        </a:rPr>
                        <a:t>−2.12</a:t>
                      </a:r>
                    </a:p>
                  </a:txBody>
                  <a:tcPr anchor="ctr" marL="54864" marR="54864" marT="0" marB="0">
                    <a:solidFill>
                      <a:srgbClr val="FFFFFF"/>
                    </a:solidFill>
                  </a:tcPr>
                </a:tc>
              </a:tr>
              <a:tr h="402336">
                <a:tc>
                  <a:txBody>
                    <a:bodyPr/>
                    <a:lstStyle/>
                    <a:p>
                      <a:r>
                        <a:rPr sz="1250" b="0">
                          <a:solidFill>
                            <a:srgbClr val="222222"/>
                          </a:solidFill>
                          <a:latin typeface="Calibri"/>
                        </a:rPr>
                        <a:t>0.778</a:t>
                      </a:r>
                    </a:p>
                  </a:txBody>
                  <a:tcPr anchor="ctr" marL="54864" marR="54864" marT="0" marB="0">
                    <a:solidFill>
                      <a:srgbClr val="FFFFFF"/>
                    </a:solidFill>
                  </a:tcPr>
                </a:tc>
                <a:tc>
                  <a:txBody>
                    <a:bodyPr/>
                    <a:lstStyle/>
                    <a:p>
                      <a:r>
                        <a:rPr sz="1250" b="0">
                          <a:solidFill>
                            <a:srgbClr val="222222"/>
                          </a:solidFill>
                          <a:latin typeface="Calibri"/>
                        </a:rPr>
                        <a:t>−1.68</a:t>
                      </a:r>
                    </a:p>
                  </a:txBody>
                  <a:tcPr anchor="ctr" marL="54864" marR="54864" marT="0" marB="0">
                    <a:solidFill>
                      <a:srgbClr val="FFFFFF"/>
                    </a:solidFill>
                  </a:tcPr>
                </a:tc>
                <a:tc>
                  <a:txBody>
                    <a:bodyPr/>
                    <a:lstStyle/>
                    <a:p>
                      <a:r>
                        <a:rPr sz="1250" b="0">
                          <a:solidFill>
                            <a:srgbClr val="222222"/>
                          </a:solidFill>
                          <a:latin typeface="Calibri"/>
                        </a:rPr>
                        <a:t>−5.99</a:t>
                      </a:r>
                    </a:p>
                  </a:txBody>
                  <a:tcPr anchor="ctr" marL="54864" marR="54864" marT="0" marB="0">
                    <a:solidFill>
                      <a:srgbClr val="FFFFFF"/>
                    </a:solidFill>
                  </a:tcPr>
                </a:tc>
                <a:tc>
                  <a:txBody>
                    <a:bodyPr/>
                    <a:lstStyle/>
                    <a:p>
                      <a:r>
                        <a:rPr sz="1250" b="1">
                          <a:solidFill>
                            <a:srgbClr val="B85042"/>
                          </a:solidFill>
                          <a:latin typeface="Calibri"/>
                        </a:rPr>
                        <a:t>−4.31</a:t>
                      </a:r>
                    </a:p>
                  </a:txBody>
                  <a:tcPr anchor="ctr" marL="54864" marR="54864" marT="0" marB="0">
                    <a:solidFill>
                      <a:srgbClr val="FFFFFF"/>
                    </a:solidFill>
                  </a:tcPr>
                </a:tc>
                <a:tc>
                  <a:txBody>
                    <a:bodyPr/>
                    <a:lstStyle/>
                    <a:p>
                      <a:r>
                        <a:rPr sz="1250" b="0">
                          <a:solidFill>
                            <a:srgbClr val="222222"/>
                          </a:solidFill>
                          <a:latin typeface="Calibri"/>
                        </a:rPr>
                        <a:t>+3.79</a:t>
                      </a:r>
                    </a:p>
                  </a:txBody>
                  <a:tcPr anchor="ctr" marL="54864" marR="54864" marT="0" marB="0">
                    <a:solidFill>
                      <a:srgbClr val="FFFFFF"/>
                    </a:solidFill>
                  </a:tcPr>
                </a:tc>
                <a:tc>
                  <a:txBody>
                    <a:bodyPr/>
                    <a:lstStyle/>
                    <a:p>
                      <a:r>
                        <a:rPr sz="1250" b="0">
                          <a:solidFill>
                            <a:srgbClr val="222222"/>
                          </a:solidFill>
                          <a:latin typeface="Calibri"/>
                        </a:rPr>
                        <a:t>+0.87</a:t>
                      </a:r>
                    </a:p>
                  </a:txBody>
                  <a:tcPr anchor="ctr" marL="54864" marR="54864" marT="0" marB="0">
                    <a:solidFill>
                      <a:srgbClr val="FFFFFF"/>
                    </a:solidFill>
                  </a:tcPr>
                </a:tc>
                <a:tc>
                  <a:txBody>
                    <a:bodyPr/>
                    <a:lstStyle/>
                    <a:p>
                      <a:r>
                        <a:rPr sz="1250" b="0">
                          <a:solidFill>
                            <a:srgbClr val="222222"/>
                          </a:solidFill>
                          <a:latin typeface="Calibri"/>
                        </a:rPr>
                        <a:t>−2.93</a:t>
                      </a:r>
                    </a:p>
                  </a:txBody>
                  <a:tcPr anchor="ctr" marL="54864" marR="54864" marT="0" marB="0">
                    <a:solidFill>
                      <a:srgbClr val="FFFFFF"/>
                    </a:solidFill>
                  </a:tcPr>
                </a:tc>
              </a:tr>
              <a:tr h="402336">
                <a:tc>
                  <a:txBody>
                    <a:bodyPr/>
                    <a:lstStyle/>
                    <a:p>
                      <a:r>
                        <a:rPr sz="1250" b="0">
                          <a:solidFill>
                            <a:srgbClr val="222222"/>
                          </a:solidFill>
                          <a:latin typeface="Calibri"/>
                        </a:rPr>
                        <a:t>0.889</a:t>
                      </a:r>
                    </a:p>
                  </a:txBody>
                  <a:tcPr anchor="ctr" marL="54864" marR="54864" marT="0" marB="0">
                    <a:solidFill>
                      <a:srgbClr val="FFFFFF"/>
                    </a:solidFill>
                  </a:tcPr>
                </a:tc>
                <a:tc>
                  <a:txBody>
                    <a:bodyPr/>
                    <a:lstStyle/>
                    <a:p>
                      <a:r>
                        <a:rPr sz="1250" b="0">
                          <a:solidFill>
                            <a:srgbClr val="222222"/>
                          </a:solidFill>
                          <a:latin typeface="Calibri"/>
                        </a:rPr>
                        <a:t>−1.87</a:t>
                      </a:r>
                    </a:p>
                  </a:txBody>
                  <a:tcPr anchor="ctr" marL="54864" marR="54864" marT="0" marB="0">
                    <a:solidFill>
                      <a:srgbClr val="FFFFFF"/>
                    </a:solidFill>
                  </a:tcPr>
                </a:tc>
                <a:tc>
                  <a:txBody>
                    <a:bodyPr/>
                    <a:lstStyle/>
                    <a:p>
                      <a:r>
                        <a:rPr sz="1250" b="0">
                          <a:solidFill>
                            <a:srgbClr val="222222"/>
                          </a:solidFill>
                          <a:latin typeface="Calibri"/>
                        </a:rPr>
                        <a:t>+2.99</a:t>
                      </a:r>
                    </a:p>
                  </a:txBody>
                  <a:tcPr anchor="ctr" marL="54864" marR="54864" marT="0" marB="0">
                    <a:solidFill>
                      <a:srgbClr val="FFFFFF"/>
                    </a:solidFill>
                  </a:tcPr>
                </a:tc>
                <a:tc>
                  <a:txBody>
                    <a:bodyPr/>
                    <a:lstStyle/>
                    <a:p>
                      <a:r>
                        <a:rPr sz="1250" b="1">
                          <a:solidFill>
                            <a:srgbClr val="2C5F2D"/>
                          </a:solidFill>
                          <a:latin typeface="Calibri"/>
                        </a:rPr>
                        <a:t>+4.86</a:t>
                      </a:r>
                    </a:p>
                  </a:txBody>
                  <a:tcPr anchor="ctr" marL="54864" marR="54864" marT="0" marB="0">
                    <a:solidFill>
                      <a:srgbClr val="FFFFFF"/>
                    </a:solidFill>
                  </a:tcPr>
                </a:tc>
                <a:tc>
                  <a:txBody>
                    <a:bodyPr/>
                    <a:lstStyle/>
                    <a:p>
                      <a:r>
                        <a:rPr sz="1250" b="0">
                          <a:solidFill>
                            <a:srgbClr val="222222"/>
                          </a:solidFill>
                          <a:latin typeface="Calibri"/>
                        </a:rPr>
                        <a:t>+6.17</a:t>
                      </a:r>
                    </a:p>
                  </a:txBody>
                  <a:tcPr anchor="ctr" marL="54864" marR="54864" marT="0" marB="0">
                    <a:solidFill>
                      <a:srgbClr val="FFFFFF"/>
                    </a:solidFill>
                  </a:tcPr>
                </a:tc>
                <a:tc>
                  <a:txBody>
                    <a:bodyPr/>
                    <a:lstStyle/>
                    <a:p>
                      <a:r>
                        <a:rPr sz="1250" b="0">
                          <a:solidFill>
                            <a:srgbClr val="222222"/>
                          </a:solidFill>
                          <a:latin typeface="Calibri"/>
                        </a:rPr>
                        <a:t>+2.14</a:t>
                      </a:r>
                    </a:p>
                  </a:txBody>
                  <a:tcPr anchor="ctr" marL="54864" marR="54864" marT="0" marB="0">
                    <a:solidFill>
                      <a:srgbClr val="FFFFFF"/>
                    </a:solidFill>
                  </a:tcPr>
                </a:tc>
                <a:tc>
                  <a:txBody>
                    <a:bodyPr/>
                    <a:lstStyle/>
                    <a:p>
                      <a:r>
                        <a:rPr sz="1250" b="0">
                          <a:solidFill>
                            <a:srgbClr val="222222"/>
                          </a:solidFill>
                          <a:latin typeface="Calibri"/>
                        </a:rPr>
                        <a:t>−4.03</a:t>
                      </a:r>
                    </a:p>
                  </a:txBody>
                  <a:tcPr anchor="ctr" marL="54864" marR="54864" marT="0" marB="0">
                    <a:solidFill>
                      <a:srgbClr val="FFFFFF"/>
                    </a:solidFill>
                  </a:tcPr>
                </a:tc>
              </a:tr>
              <a:tr h="402336">
                <a:tc>
                  <a:txBody>
                    <a:bodyPr/>
                    <a:lstStyle/>
                    <a:p>
                      <a:r>
                        <a:rPr sz="1250" b="0">
                          <a:solidFill>
                            <a:srgbClr val="222222"/>
                          </a:solidFill>
                          <a:latin typeface="Calibri"/>
                        </a:rPr>
                        <a:t>1.000</a:t>
                      </a:r>
                    </a:p>
                  </a:txBody>
                  <a:tcPr anchor="ctr" marL="54864" marR="54864" marT="0" marB="0">
                    <a:solidFill>
                      <a:srgbClr val="FFFFFF"/>
                    </a:solidFill>
                  </a:tcPr>
                </a:tc>
                <a:tc>
                  <a:txBody>
                    <a:bodyPr/>
                    <a:lstStyle/>
                    <a:p>
                      <a:r>
                        <a:rPr sz="1250" b="0">
                          <a:solidFill>
                            <a:srgbClr val="222222"/>
                          </a:solidFill>
                          <a:latin typeface="Calibri"/>
                        </a:rPr>
                        <a:t>−1.42</a:t>
                      </a:r>
                    </a:p>
                  </a:txBody>
                  <a:tcPr anchor="ctr" marL="54864" marR="54864" marT="0" marB="0">
                    <a:solidFill>
                      <a:srgbClr val="FFFFFF"/>
                    </a:solidFill>
                  </a:tcPr>
                </a:tc>
                <a:tc>
                  <a:txBody>
                    <a:bodyPr/>
                    <a:lstStyle/>
                    <a:p>
                      <a:r>
                        <a:rPr sz="1250" b="0">
                          <a:solidFill>
                            <a:srgbClr val="222222"/>
                          </a:solidFill>
                          <a:latin typeface="Calibri"/>
                        </a:rPr>
                        <a:t>+5.60</a:t>
                      </a:r>
                    </a:p>
                  </a:txBody>
                  <a:tcPr anchor="ctr" marL="54864" marR="54864" marT="0" marB="0">
                    <a:solidFill>
                      <a:srgbClr val="FFFFFF"/>
                    </a:solidFill>
                  </a:tcPr>
                </a:tc>
                <a:tc>
                  <a:txBody>
                    <a:bodyPr/>
                    <a:lstStyle/>
                    <a:p>
                      <a:r>
                        <a:rPr sz="1250" b="1">
                          <a:solidFill>
                            <a:srgbClr val="2C5F2D"/>
                          </a:solidFill>
                          <a:latin typeface="Calibri"/>
                        </a:rPr>
                        <a:t>+7.02</a:t>
                      </a:r>
                    </a:p>
                  </a:txBody>
                  <a:tcPr anchor="ctr" marL="54864" marR="54864" marT="0" marB="0">
                    <a:solidFill>
                      <a:srgbClr val="FFFFFF"/>
                    </a:solidFill>
                  </a:tcPr>
                </a:tc>
                <a:tc>
                  <a:txBody>
                    <a:bodyPr/>
                    <a:lstStyle/>
                    <a:p>
                      <a:r>
                        <a:rPr sz="1250" b="0">
                          <a:solidFill>
                            <a:srgbClr val="222222"/>
                          </a:solidFill>
                          <a:latin typeface="Calibri"/>
                        </a:rPr>
                        <a:t>+3.98</a:t>
                      </a:r>
                    </a:p>
                  </a:txBody>
                  <a:tcPr anchor="ctr" marL="54864" marR="54864" marT="0" marB="0">
                    <a:solidFill>
                      <a:srgbClr val="FFFFFF"/>
                    </a:solidFill>
                  </a:tcPr>
                </a:tc>
                <a:tc>
                  <a:txBody>
                    <a:bodyPr/>
                    <a:lstStyle/>
                    <a:p>
                      <a:r>
                        <a:rPr sz="1250" b="0">
                          <a:solidFill>
                            <a:srgbClr val="222222"/>
                          </a:solidFill>
                          <a:latin typeface="Calibri"/>
                        </a:rPr>
                        <a:t>+1.78</a:t>
                      </a:r>
                    </a:p>
                  </a:txBody>
                  <a:tcPr anchor="ctr" marL="54864" marR="54864" marT="0" marB="0">
                    <a:solidFill>
                      <a:srgbClr val="FFFFFF"/>
                    </a:solidFill>
                  </a:tcPr>
                </a:tc>
                <a:tc>
                  <a:txBody>
                    <a:bodyPr/>
                    <a:lstStyle/>
                    <a:p>
                      <a:r>
                        <a:rPr sz="1250" b="0">
                          <a:solidFill>
                            <a:srgbClr val="222222"/>
                          </a:solidFill>
                          <a:latin typeface="Calibri"/>
                        </a:rPr>
                        <a:t>−2.21</a:t>
                      </a:r>
                    </a:p>
                  </a:txBody>
                  <a:tcPr anchor="ctr" marL="54864" marR="54864" marT="0" marB="0">
                    <a:solidFill>
                      <a:srgbClr val="FFFFFF"/>
                    </a:solidFill>
                  </a:tcPr>
                </a:tc>
              </a:tr>
            </a:tbl>
          </a:graphicData>
        </a:graphic>
      </p:graphicFrame>
      <p:sp>
        <p:nvSpPr>
          <p:cNvPr id="5" name="TextBox 4"/>
          <p:cNvSpPr txBox="1"/>
          <p:nvPr/>
        </p:nvSpPr>
        <p:spPr>
          <a:xfrm>
            <a:off x="502920" y="4434840"/>
            <a:ext cx="5486400" cy="1371600"/>
          </a:xfrm>
          <a:prstGeom prst="rect">
            <a:avLst/>
          </a:prstGeom>
          <a:noFill/>
        </p:spPr>
        <p:txBody>
          <a:bodyPr wrap="square">
            <a:spAutoFit/>
          </a:bodyPr>
          <a:lstStyle/>
          <a:p>
            <a:pPr algn="l">
              <a:spcAft>
                <a:spcPts val="500"/>
              </a:spcAft>
            </a:pPr>
            <a:r>
              <a:rPr sz="1400" b="1">
                <a:solidFill>
                  <a:srgbClr val="1E2761"/>
                </a:solidFill>
                <a:latin typeface="Calibri"/>
              </a:rPr>
              <a:t>Sign of the change, filling by filling</a:t>
            </a:r>
          </a:p>
          <a:p>
            <a:pPr algn="l">
              <a:spcAft>
                <a:spcPts val="500"/>
              </a:spcAft>
            </a:pPr>
            <a:r>
              <a:rPr sz="1600" b="1">
                <a:solidFill>
                  <a:srgbClr val="B85042"/>
                </a:solidFill>
                <a:latin typeface="Courier New"/>
              </a:rPr>
              <a:t>d(xy):        −  −  −  −  +  +</a:t>
            </a:r>
          </a:p>
          <a:p>
            <a:pPr algn="l">
              <a:spcAft>
                <a:spcPts val="500"/>
              </a:spcAft>
            </a:pPr>
            <a:r>
              <a:rPr sz="1600" b="1">
                <a:solidFill>
                  <a:srgbClr val="1E2761"/>
                </a:solidFill>
                <a:latin typeface="Courier New"/>
              </a:rPr>
              <a:t>d(x²−y²):  +  −  −  −  −  −</a:t>
            </a:r>
          </a:p>
          <a:p>
            <a:pPr algn="l">
              <a:spcAft>
                <a:spcPts val="500"/>
              </a:spcAft>
            </a:pPr>
            <a:r>
              <a:rPr sz="1300" b="0">
                <a:solidFill>
                  <a:srgbClr val="222222"/>
                </a:solidFill>
                <a:latin typeface="Calibri"/>
              </a:rPr>
              <a:t>Only d(xy) reverses. d(x²−y²) weakens uniformly, with no structure.</a:t>
            </a:r>
          </a:p>
        </p:txBody>
      </p:sp>
      <p:sp>
        <p:nvSpPr>
          <p:cNvPr id="6" name="Rounded Rectangle 5"/>
          <p:cNvSpPr/>
          <p:nvPr/>
        </p:nvSpPr>
        <p:spPr>
          <a:xfrm>
            <a:off x="6309360" y="4434840"/>
            <a:ext cx="5394960" cy="13716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4572000"/>
            <a:ext cx="4937760" cy="1188720"/>
          </a:xfrm>
          <a:prstGeom prst="rect">
            <a:avLst/>
          </a:prstGeom>
          <a:noFill/>
        </p:spPr>
        <p:txBody>
          <a:bodyPr wrap="square">
            <a:spAutoFit/>
          </a:bodyPr>
          <a:lstStyle/>
          <a:p>
            <a:pPr algn="l">
              <a:spcAft>
                <a:spcPts val="500"/>
              </a:spcAft>
            </a:pPr>
            <a:r>
              <a:rPr sz="1400" b="1">
                <a:solidFill>
                  <a:srgbClr val="1E2761"/>
                </a:solidFill>
                <a:latin typeface="Calibri"/>
              </a:rPr>
              <a:t>d(xy) is about eight times more responsive to δ.</a:t>
            </a:r>
          </a:p>
          <a:p>
            <a:pPr algn="l">
              <a:spcAft>
                <a:spcPts val="500"/>
              </a:spcAft>
            </a:pPr>
            <a:r>
              <a:rPr sz="1250" b="0">
                <a:solidFill>
                  <a:srgbClr val="222222"/>
                </a:solidFill>
                <a:latin typeface="Calibri"/>
              </a:rPr>
              <a:t>Its change spans a range of 32 (−24.79 to +7.02). The d(x²−y²) change spans 4 (+0.11 to −4.03). The channel sharing the order parameter's symmetry responds strongly and with filling-dependent sign. The orthogonal one only drifts down, as a control should.</a:t>
            </a:r>
          </a:p>
        </p:txBody>
      </p:sp>
      <p:sp>
        <p:nvSpPr>
          <p:cNvPr id="8" name="TextBox 7"/>
          <p:cNvSpPr txBox="1"/>
          <p:nvPr/>
        </p:nvSpPr>
        <p:spPr>
          <a:xfrm>
            <a:off x="502920" y="5943600"/>
            <a:ext cx="11155680" cy="640080"/>
          </a:xfrm>
          <a:prstGeom prst="rect">
            <a:avLst/>
          </a:prstGeom>
          <a:noFill/>
        </p:spPr>
        <p:txBody>
          <a:bodyPr wrap="square">
            <a:spAutoFit/>
          </a:bodyPr>
          <a:lstStyle/>
          <a:p>
            <a:pPr algn="l"/>
            <a:r>
              <a:rPr sz="1350" b="0">
                <a:solidFill>
                  <a:srgbClr val="5A5A5A"/>
                </a:solidFill>
                <a:latin typeface="Calibri"/>
              </a:rPr>
              <a:t>The reversal sits between n = 0.778 and n = 0.889. The dense-filling scan now running resolves that region in steps of 0.028 and will locate it properly.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The selection across the whole phase diagram</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χ(d_xy) − χ(d_x²−y²).   Blue: d(x²−y²) dominates.   Red: d(xy) dominates.</a:t>
            </a:r>
          </a:p>
        </p:txBody>
      </p:sp>
      <p:pic>
        <p:nvPicPr>
          <p:cNvPr id="4" name="Picture 3" descr="diff_panel_allU_allL.png"/>
          <p:cNvPicPr>
            <a:picLocks noChangeAspect="1"/>
          </p:cNvPicPr>
          <p:nvPr/>
        </p:nvPicPr>
        <p:blipFill>
          <a:blip r:embed="rId2"/>
          <a:stretch>
            <a:fillRect/>
          </a:stretch>
        </p:blipFill>
        <p:spPr>
          <a:xfrm>
            <a:off x="3703320" y="1325880"/>
            <a:ext cx="5345477" cy="5120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Half filling: a sharp threshold near δ ≈ 0.2</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χ(d_xy) − χ(d_x²−y²) at n = 1.0, L = 12. Positive means d(xy) dominates.</a:t>
            </a:r>
          </a:p>
        </p:txBody>
      </p:sp>
      <p:graphicFrame>
        <p:nvGraphicFramePr>
          <p:cNvPr id="4" name="Table 3"/>
          <p:cNvGraphicFramePr>
            <a:graphicFrameLocks noGrp="1"/>
          </p:cNvGraphicFramePr>
          <p:nvPr/>
        </p:nvGraphicFramePr>
        <p:xfrm>
          <a:off x="502920" y="1508760"/>
          <a:ext cx="7589520" cy="1920240"/>
        </p:xfrm>
        <a:graphic>
          <a:graphicData uri="http://schemas.openxmlformats.org/drawingml/2006/table">
            <a:tbl>
              <a:tblPr firstRow="1" bandRow="1">
                <a:tableStyleId>{5C22544A-7EE6-4342-B048-85BDC9FD1C3A}</a:tableStyleId>
              </a:tblPr>
              <a:tblGrid>
                <a:gridCol w="1280160"/>
                <a:gridCol w="1261872"/>
                <a:gridCol w="1261872"/>
                <a:gridCol w="1261872"/>
                <a:gridCol w="1261872"/>
                <a:gridCol w="1261872"/>
              </a:tblGrid>
              <a:tr h="384048">
                <a:tc>
                  <a:txBody>
                    <a:bodyPr/>
                    <a:lstStyle/>
                    <a:p>
                      <a:r>
                        <a:rPr sz="1350" b="1">
                          <a:solidFill>
                            <a:srgbClr val="1E2761"/>
                          </a:solidFill>
                          <a:latin typeface="Calibri"/>
                        </a:rPr>
                        <a:t/>
                      </a:r>
                    </a:p>
                  </a:txBody>
                  <a:tcPr anchor="ctr" marL="54864" marR="54864" marT="0" marB="0">
                    <a:solidFill>
                      <a:srgbClr val="EEF2F7"/>
                    </a:solidFill>
                  </a:tcPr>
                </a:tc>
                <a:tc>
                  <a:txBody>
                    <a:bodyPr/>
                    <a:lstStyle/>
                    <a:p>
                      <a:r>
                        <a:rPr sz="1350" b="1">
                          <a:solidFill>
                            <a:srgbClr val="1E2761"/>
                          </a:solidFill>
                          <a:latin typeface="Calibri"/>
                        </a:rPr>
                        <a:t>δ = 0</a:t>
                      </a:r>
                    </a:p>
                  </a:txBody>
                  <a:tcPr anchor="ctr" marL="54864" marR="54864" marT="0" marB="0">
                    <a:solidFill>
                      <a:srgbClr val="EEF2F7"/>
                    </a:solidFill>
                  </a:tcPr>
                </a:tc>
                <a:tc>
                  <a:txBody>
                    <a:bodyPr/>
                    <a:lstStyle/>
                    <a:p>
                      <a:r>
                        <a:rPr sz="1350" b="1">
                          <a:solidFill>
                            <a:srgbClr val="1E2761"/>
                          </a:solidFill>
                          <a:latin typeface="Calibri"/>
                        </a:rPr>
                        <a:t>δ = 0.1</a:t>
                      </a:r>
                    </a:p>
                  </a:txBody>
                  <a:tcPr anchor="ctr" marL="54864" marR="54864" marT="0" marB="0">
                    <a:solidFill>
                      <a:srgbClr val="EEF2F7"/>
                    </a:solidFill>
                  </a:tcPr>
                </a:tc>
                <a:tc>
                  <a:txBody>
                    <a:bodyPr/>
                    <a:lstStyle/>
                    <a:p>
                      <a:r>
                        <a:rPr sz="1350" b="1">
                          <a:solidFill>
                            <a:srgbClr val="1E2761"/>
                          </a:solidFill>
                          <a:latin typeface="Calibri"/>
                        </a:rPr>
                        <a:t>δ = 0.2</a:t>
                      </a:r>
                    </a:p>
                  </a:txBody>
                  <a:tcPr anchor="ctr" marL="54864" marR="54864" marT="0" marB="0">
                    <a:solidFill>
                      <a:srgbClr val="EEF2F7"/>
                    </a:solidFill>
                  </a:tcPr>
                </a:tc>
                <a:tc>
                  <a:txBody>
                    <a:bodyPr/>
                    <a:lstStyle/>
                    <a:p>
                      <a:r>
                        <a:rPr sz="1350" b="1">
                          <a:solidFill>
                            <a:srgbClr val="1E2761"/>
                          </a:solidFill>
                          <a:latin typeface="Calibri"/>
                        </a:rPr>
                        <a:t>δ = 0.3</a:t>
                      </a:r>
                    </a:p>
                  </a:txBody>
                  <a:tcPr anchor="ctr" marL="54864" marR="54864" marT="0" marB="0">
                    <a:solidFill>
                      <a:srgbClr val="EEF2F7"/>
                    </a:solidFill>
                  </a:tcPr>
                </a:tc>
                <a:tc>
                  <a:txBody>
                    <a:bodyPr/>
                    <a:lstStyle/>
                    <a:p>
                      <a:r>
                        <a:rPr sz="1350" b="1">
                          <a:solidFill>
                            <a:srgbClr val="1E2761"/>
                          </a:solidFill>
                          <a:latin typeface="Calibri"/>
                        </a:rPr>
                        <a:t>δ = 0.4</a:t>
                      </a:r>
                    </a:p>
                  </a:txBody>
                  <a:tcPr anchor="ctr" marL="54864" marR="54864" marT="0" marB="0">
                    <a:solidFill>
                      <a:srgbClr val="EEF2F7"/>
                    </a:solidFill>
                  </a:tcPr>
                </a:tc>
              </a:tr>
              <a:tr h="384048">
                <a:tc>
                  <a:txBody>
                    <a:bodyPr/>
                    <a:lstStyle/>
                    <a:p>
                      <a:r>
                        <a:rPr sz="1350" b="0">
                          <a:solidFill>
                            <a:srgbClr val="222222"/>
                          </a:solidFill>
                          <a:latin typeface="Calibri"/>
                        </a:rPr>
                        <a:t>U = 2</a:t>
                      </a:r>
                    </a:p>
                  </a:txBody>
                  <a:tcPr anchor="ctr" marL="54864" marR="54864" marT="0" marB="0">
                    <a:solidFill>
                      <a:srgbClr val="FFFFFF"/>
                    </a:solidFill>
                  </a:tcPr>
                </a:tc>
                <a:tc>
                  <a:txBody>
                    <a:bodyPr/>
                    <a:lstStyle/>
                    <a:p>
                      <a:r>
                        <a:rPr sz="1350" b="0">
                          <a:solidFill>
                            <a:srgbClr val="222222"/>
                          </a:solidFill>
                          <a:latin typeface="Calibri"/>
                        </a:rPr>
                        <a:t>−4.19</a:t>
                      </a:r>
                    </a:p>
                  </a:txBody>
                  <a:tcPr anchor="ctr" marL="54864" marR="54864" marT="0" marB="0">
                    <a:solidFill>
                      <a:srgbClr val="FFFFFF"/>
                    </a:solidFill>
                  </a:tcPr>
                </a:tc>
                <a:tc>
                  <a:txBody>
                    <a:bodyPr/>
                    <a:lstStyle/>
                    <a:p>
                      <a:r>
                        <a:rPr sz="1350" b="0">
                          <a:solidFill>
                            <a:srgbClr val="222222"/>
                          </a:solidFill>
                          <a:latin typeface="Calibri"/>
                        </a:rPr>
                        <a:t>−4.31</a:t>
                      </a:r>
                    </a:p>
                  </a:txBody>
                  <a:tcPr anchor="ctr" marL="54864" marR="54864" marT="0" marB="0">
                    <a:solidFill>
                      <a:srgbClr val="FFFFFF"/>
                    </a:solidFill>
                  </a:tcPr>
                </a:tc>
                <a:tc>
                  <a:txBody>
                    <a:bodyPr/>
                    <a:lstStyle/>
                    <a:p>
                      <a:r>
                        <a:rPr sz="1350" b="0">
                          <a:solidFill>
                            <a:srgbClr val="2C5F2D"/>
                          </a:solidFill>
                          <a:latin typeface="Calibri"/>
                        </a:rPr>
                        <a:t>+0.82</a:t>
                      </a:r>
                    </a:p>
                  </a:txBody>
                  <a:tcPr anchor="ctr" marL="54864" marR="54864" marT="0" marB="0">
                    <a:solidFill>
                      <a:srgbClr val="FFFFFF"/>
                    </a:solidFill>
                  </a:tcPr>
                </a:tc>
                <a:tc>
                  <a:txBody>
                    <a:bodyPr/>
                    <a:lstStyle/>
                    <a:p>
                      <a:r>
                        <a:rPr sz="1350" b="0">
                          <a:solidFill>
                            <a:srgbClr val="2C5F2D"/>
                          </a:solidFill>
                          <a:latin typeface="Calibri"/>
                        </a:rPr>
                        <a:t>+1.77</a:t>
                      </a:r>
                    </a:p>
                  </a:txBody>
                  <a:tcPr anchor="ctr" marL="54864" marR="54864" marT="0" marB="0">
                    <a:solidFill>
                      <a:srgbClr val="FFFFFF"/>
                    </a:solidFill>
                  </a:tcPr>
                </a:tc>
                <a:tc>
                  <a:txBody>
                    <a:bodyPr/>
                    <a:lstStyle/>
                    <a:p>
                      <a:r>
                        <a:rPr sz="1350" b="0">
                          <a:solidFill>
                            <a:srgbClr val="2C5F2D"/>
                          </a:solidFill>
                          <a:latin typeface="Calibri"/>
                        </a:rPr>
                        <a:t>+2.64</a:t>
                      </a:r>
                    </a:p>
                  </a:txBody>
                  <a:tcPr anchor="ctr" marL="54864" marR="54864" marT="0" marB="0">
                    <a:solidFill>
                      <a:srgbClr val="FFFFFF"/>
                    </a:solidFill>
                  </a:tcPr>
                </a:tc>
              </a:tr>
              <a:tr h="384048">
                <a:tc>
                  <a:txBody>
                    <a:bodyPr/>
                    <a:lstStyle/>
                    <a:p>
                      <a:r>
                        <a:rPr sz="1350" b="0">
                          <a:solidFill>
                            <a:srgbClr val="222222"/>
                          </a:solidFill>
                          <a:latin typeface="Calibri"/>
                        </a:rPr>
                        <a:t>U = 4</a:t>
                      </a:r>
                    </a:p>
                  </a:txBody>
                  <a:tcPr anchor="ctr" marL="54864" marR="54864" marT="0" marB="0">
                    <a:solidFill>
                      <a:srgbClr val="FFFFFF"/>
                    </a:solidFill>
                  </a:tcPr>
                </a:tc>
                <a:tc>
                  <a:txBody>
                    <a:bodyPr/>
                    <a:lstStyle/>
                    <a:p>
                      <a:r>
                        <a:rPr sz="1350" b="0">
                          <a:solidFill>
                            <a:srgbClr val="222222"/>
                          </a:solidFill>
                          <a:latin typeface="Calibri"/>
                        </a:rPr>
                        <a:t>−5.40</a:t>
                      </a:r>
                    </a:p>
                  </a:txBody>
                  <a:tcPr anchor="ctr" marL="54864" marR="54864" marT="0" marB="0">
                    <a:solidFill>
                      <a:srgbClr val="FFFFFF"/>
                    </a:solidFill>
                  </a:tcPr>
                </a:tc>
                <a:tc>
                  <a:txBody>
                    <a:bodyPr/>
                    <a:lstStyle/>
                    <a:p>
                      <a:r>
                        <a:rPr sz="1350" b="0">
                          <a:solidFill>
                            <a:srgbClr val="222222"/>
                          </a:solidFill>
                          <a:latin typeface="Calibri"/>
                        </a:rPr>
                        <a:t>−5.54</a:t>
                      </a:r>
                    </a:p>
                  </a:txBody>
                  <a:tcPr anchor="ctr" marL="54864" marR="54864" marT="0" marB="0">
                    <a:solidFill>
                      <a:srgbClr val="FFFFFF"/>
                    </a:solidFill>
                  </a:tcPr>
                </a:tc>
                <a:tc>
                  <a:txBody>
                    <a:bodyPr/>
                    <a:lstStyle/>
                    <a:p>
                      <a:r>
                        <a:rPr sz="1350" b="0">
                          <a:solidFill>
                            <a:srgbClr val="2C5F2D"/>
                          </a:solidFill>
                          <a:latin typeface="Calibri"/>
                        </a:rPr>
                        <a:t>+1.05</a:t>
                      </a:r>
                    </a:p>
                  </a:txBody>
                  <a:tcPr anchor="ctr" marL="54864" marR="54864" marT="0" marB="0">
                    <a:solidFill>
                      <a:srgbClr val="FFFFFF"/>
                    </a:solidFill>
                  </a:tcPr>
                </a:tc>
                <a:tc>
                  <a:txBody>
                    <a:bodyPr/>
                    <a:lstStyle/>
                    <a:p>
                      <a:r>
                        <a:rPr sz="1350" b="0">
                          <a:solidFill>
                            <a:srgbClr val="2C5F2D"/>
                          </a:solidFill>
                          <a:latin typeface="Calibri"/>
                        </a:rPr>
                        <a:t>+2.64</a:t>
                      </a:r>
                    </a:p>
                  </a:txBody>
                  <a:tcPr anchor="ctr" marL="54864" marR="54864" marT="0" marB="0">
                    <a:solidFill>
                      <a:srgbClr val="FFFFFF"/>
                    </a:solidFill>
                  </a:tcPr>
                </a:tc>
                <a:tc>
                  <a:txBody>
                    <a:bodyPr/>
                    <a:lstStyle/>
                    <a:p>
                      <a:r>
                        <a:rPr sz="1350" b="0">
                          <a:solidFill>
                            <a:srgbClr val="2C5F2D"/>
                          </a:solidFill>
                          <a:latin typeface="Calibri"/>
                        </a:rPr>
                        <a:t>+3.82</a:t>
                      </a:r>
                    </a:p>
                  </a:txBody>
                  <a:tcPr anchor="ctr" marL="54864" marR="54864" marT="0" marB="0">
                    <a:solidFill>
                      <a:srgbClr val="FFFFFF"/>
                    </a:solidFill>
                  </a:tcPr>
                </a:tc>
              </a:tr>
              <a:tr h="384048">
                <a:tc>
                  <a:txBody>
                    <a:bodyPr/>
                    <a:lstStyle/>
                    <a:p>
                      <a:r>
                        <a:rPr sz="1350" b="0">
                          <a:solidFill>
                            <a:srgbClr val="222222"/>
                          </a:solidFill>
                          <a:latin typeface="Calibri"/>
                        </a:rPr>
                        <a:t>U = 6</a:t>
                      </a:r>
                    </a:p>
                  </a:txBody>
                  <a:tcPr anchor="ctr" marL="54864" marR="54864" marT="0" marB="0">
                    <a:solidFill>
                      <a:srgbClr val="FFFFFF"/>
                    </a:solidFill>
                  </a:tcPr>
                </a:tc>
                <a:tc>
                  <a:txBody>
                    <a:bodyPr/>
                    <a:lstStyle/>
                    <a:p>
                      <a:r>
                        <a:rPr sz="1350" b="0">
                          <a:solidFill>
                            <a:srgbClr val="222222"/>
                          </a:solidFill>
                          <a:latin typeface="Calibri"/>
                        </a:rPr>
                        <a:t>−5.03</a:t>
                      </a:r>
                    </a:p>
                  </a:txBody>
                  <a:tcPr anchor="ctr" marL="54864" marR="54864" marT="0" marB="0">
                    <a:solidFill>
                      <a:srgbClr val="FFFFFF"/>
                    </a:solidFill>
                  </a:tcPr>
                </a:tc>
                <a:tc>
                  <a:txBody>
                    <a:bodyPr/>
                    <a:lstStyle/>
                    <a:p>
                      <a:r>
                        <a:rPr sz="1350" b="0">
                          <a:solidFill>
                            <a:srgbClr val="222222"/>
                          </a:solidFill>
                          <a:latin typeface="Calibri"/>
                        </a:rPr>
                        <a:t>−4.81</a:t>
                      </a:r>
                    </a:p>
                  </a:txBody>
                  <a:tcPr anchor="ctr" marL="54864" marR="54864" marT="0" marB="0">
                    <a:solidFill>
                      <a:srgbClr val="FFFFFF"/>
                    </a:solidFill>
                  </a:tcPr>
                </a:tc>
                <a:tc>
                  <a:txBody>
                    <a:bodyPr/>
                    <a:lstStyle/>
                    <a:p>
                      <a:r>
                        <a:rPr sz="1350" b="0">
                          <a:solidFill>
                            <a:srgbClr val="222222"/>
                          </a:solidFill>
                          <a:latin typeface="Calibri"/>
                        </a:rPr>
                        <a:t>−0.88</a:t>
                      </a:r>
                    </a:p>
                  </a:txBody>
                  <a:tcPr anchor="ctr" marL="54864" marR="54864" marT="0" marB="0">
                    <a:solidFill>
                      <a:srgbClr val="FFFFFF"/>
                    </a:solidFill>
                  </a:tcPr>
                </a:tc>
                <a:tc>
                  <a:txBody>
                    <a:bodyPr/>
                    <a:lstStyle/>
                    <a:p>
                      <a:r>
                        <a:rPr sz="1350" b="0">
                          <a:solidFill>
                            <a:srgbClr val="2C5F2D"/>
                          </a:solidFill>
                          <a:latin typeface="Calibri"/>
                        </a:rPr>
                        <a:t>+1.05</a:t>
                      </a:r>
                    </a:p>
                  </a:txBody>
                  <a:tcPr anchor="ctr" marL="54864" marR="54864" marT="0" marB="0">
                    <a:solidFill>
                      <a:srgbClr val="FFFFFF"/>
                    </a:solidFill>
                  </a:tcPr>
                </a:tc>
                <a:tc>
                  <a:txBody>
                    <a:bodyPr/>
                    <a:lstStyle/>
                    <a:p>
                      <a:r>
                        <a:rPr sz="1350" b="0">
                          <a:solidFill>
                            <a:srgbClr val="2C5F2D"/>
                          </a:solidFill>
                          <a:latin typeface="Calibri"/>
                        </a:rPr>
                        <a:t>+3.08</a:t>
                      </a:r>
                    </a:p>
                  </a:txBody>
                  <a:tcPr anchor="ctr" marL="54864" marR="54864" marT="0" marB="0">
                    <a:solidFill>
                      <a:srgbClr val="FFFFFF"/>
                    </a:solidFill>
                  </a:tcPr>
                </a:tc>
              </a:tr>
              <a:tr h="384048">
                <a:tc>
                  <a:txBody>
                    <a:bodyPr/>
                    <a:lstStyle/>
                    <a:p>
                      <a:r>
                        <a:rPr sz="1350" b="0">
                          <a:solidFill>
                            <a:srgbClr val="222222"/>
                          </a:solidFill>
                          <a:latin typeface="Calibri"/>
                        </a:rPr>
                        <a:t>U = 8</a:t>
                      </a:r>
                    </a:p>
                  </a:txBody>
                  <a:tcPr anchor="ctr" marL="54864" marR="54864" marT="0" marB="0">
                    <a:solidFill>
                      <a:srgbClr val="FFFFFF"/>
                    </a:solidFill>
                  </a:tcPr>
                </a:tc>
                <a:tc>
                  <a:txBody>
                    <a:bodyPr/>
                    <a:lstStyle/>
                    <a:p>
                      <a:r>
                        <a:rPr sz="1350" b="0">
                          <a:solidFill>
                            <a:srgbClr val="222222"/>
                          </a:solidFill>
                          <a:latin typeface="Calibri"/>
                        </a:rPr>
                        <a:t>−4.79</a:t>
                      </a:r>
                    </a:p>
                  </a:txBody>
                  <a:tcPr anchor="ctr" marL="54864" marR="54864" marT="0" marB="0">
                    <a:solidFill>
                      <a:srgbClr val="FFFFFF"/>
                    </a:solidFill>
                  </a:tcPr>
                </a:tc>
                <a:tc>
                  <a:txBody>
                    <a:bodyPr/>
                    <a:lstStyle/>
                    <a:p>
                      <a:r>
                        <a:rPr sz="1350" b="0">
                          <a:solidFill>
                            <a:srgbClr val="222222"/>
                          </a:solidFill>
                          <a:latin typeface="Calibri"/>
                        </a:rPr>
                        <a:t>−4.06</a:t>
                      </a:r>
                    </a:p>
                  </a:txBody>
                  <a:tcPr anchor="ctr" marL="54864" marR="54864" marT="0" marB="0">
                    <a:solidFill>
                      <a:srgbClr val="FFFFFF"/>
                    </a:solidFill>
                  </a:tcPr>
                </a:tc>
                <a:tc>
                  <a:txBody>
                    <a:bodyPr/>
                    <a:lstStyle/>
                    <a:p>
                      <a:r>
                        <a:rPr sz="1350" b="0">
                          <a:solidFill>
                            <a:srgbClr val="222222"/>
                          </a:solidFill>
                          <a:latin typeface="Calibri"/>
                        </a:rPr>
                        <a:t>−2.08</a:t>
                      </a:r>
                    </a:p>
                  </a:txBody>
                  <a:tcPr anchor="ctr" marL="54864" marR="54864" marT="0" marB="0">
                    <a:solidFill>
                      <a:srgbClr val="FFFFFF"/>
                    </a:solidFill>
                  </a:tcPr>
                </a:tc>
                <a:tc>
                  <a:txBody>
                    <a:bodyPr/>
                    <a:lstStyle/>
                    <a:p>
                      <a:r>
                        <a:rPr sz="1350" b="0">
                          <a:solidFill>
                            <a:srgbClr val="222222"/>
                          </a:solidFill>
                          <a:latin typeface="Calibri"/>
                        </a:rPr>
                        <a:t>−0.41</a:t>
                      </a:r>
                    </a:p>
                  </a:txBody>
                  <a:tcPr anchor="ctr" marL="54864" marR="54864" marT="0" marB="0">
                    <a:solidFill>
                      <a:srgbClr val="FFFFFF"/>
                    </a:solidFill>
                  </a:tcPr>
                </a:tc>
                <a:tc>
                  <a:txBody>
                    <a:bodyPr/>
                    <a:lstStyle/>
                    <a:p>
                      <a:r>
                        <a:rPr sz="1350" b="0">
                          <a:solidFill>
                            <a:srgbClr val="2C5F2D"/>
                          </a:solidFill>
                          <a:latin typeface="Calibri"/>
                        </a:rPr>
                        <a:t>+0.95</a:t>
                      </a:r>
                    </a:p>
                  </a:txBody>
                  <a:tcPr anchor="ctr" marL="54864" marR="54864" marT="0" marB="0">
                    <a:solidFill>
                      <a:srgbClr val="FFFFFF"/>
                    </a:solidFill>
                  </a:tcPr>
                </a:tc>
              </a:tr>
            </a:tbl>
          </a:graphicData>
        </a:graphic>
      </p:graphicFrame>
      <p:sp>
        <p:nvSpPr>
          <p:cNvPr id="5" name="Rounded Rectangle 4"/>
          <p:cNvSpPr/>
          <p:nvPr/>
        </p:nvSpPr>
        <p:spPr>
          <a:xfrm>
            <a:off x="8412480" y="1508760"/>
            <a:ext cx="3291840" cy="2286000"/>
          </a:xfrm>
          <a:prstGeom prst="roundRect">
            <a:avLst/>
          </a:prstGeom>
          <a:solidFill>
            <a:srgbClr val="F7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1691640"/>
            <a:ext cx="2834640" cy="2011680"/>
          </a:xfrm>
          <a:prstGeom prst="rect">
            <a:avLst/>
          </a:prstGeom>
          <a:noFill/>
        </p:spPr>
        <p:txBody>
          <a:bodyPr wrap="square">
            <a:spAutoFit/>
          </a:bodyPr>
          <a:lstStyle/>
          <a:p>
            <a:pPr algn="l">
              <a:spcAft>
                <a:spcPts val="600"/>
              </a:spcAft>
            </a:pPr>
            <a:r>
              <a:rPr sz="1500" b="1">
                <a:solidFill>
                  <a:srgbClr val="B85042"/>
                </a:solidFill>
                <a:latin typeface="Cambria"/>
              </a:rPr>
              <a:t>Caveat</a:t>
            </a:r>
          </a:p>
          <a:p>
            <a:pPr algn="l">
              <a:spcAft>
                <a:spcPts val="600"/>
              </a:spcAft>
            </a:pPr>
            <a:r>
              <a:rPr sz="1250" b="0">
                <a:solidFill>
                  <a:srgbClr val="222222"/>
                </a:solidFill>
                <a:latin typeface="Calibri"/>
              </a:rPr>
              <a:t>n = 1 under periodic boundaries is open-shell: the bands touch at (0,π) and (π,0), so the trial state is degenerate.</a:t>
            </a:r>
          </a:p>
          <a:p>
            <a:pPr algn="l">
              <a:spcAft>
                <a:spcPts val="600"/>
              </a:spcAft>
            </a:pPr>
            <a:r>
              <a:rPr sz="1250" b="0">
                <a:solidFill>
                  <a:srgbClr val="222222"/>
                </a:solidFill>
                <a:latin typeface="Calibri"/>
              </a:rPr>
              <a:t>Too systematic across sizes and U to be noise, but it needs the twist-averaged run before we publish it.</a:t>
            </a:r>
          </a:p>
        </p:txBody>
      </p:sp>
      <p:sp>
        <p:nvSpPr>
          <p:cNvPr id="7" name="TextBox 6"/>
          <p:cNvSpPr txBox="1"/>
          <p:nvPr/>
        </p:nvSpPr>
        <p:spPr>
          <a:xfrm>
            <a:off x="502920" y="4023360"/>
            <a:ext cx="11155680" cy="914400"/>
          </a:xfrm>
          <a:prstGeom prst="rect">
            <a:avLst/>
          </a:prstGeom>
          <a:noFill/>
        </p:spPr>
        <p:txBody>
          <a:bodyPr wrap="square">
            <a:spAutoFit/>
          </a:bodyPr>
          <a:lstStyle/>
          <a:p>
            <a:pPr algn="l"/>
            <a:r>
              <a:rPr sz="1500" b="0">
                <a:solidFill>
                  <a:srgbClr val="222222"/>
                </a:solidFill>
                <a:latin typeface="Calibri"/>
              </a:rPr>
              <a:t>A clean sign change at the same δ for every interaction strength. Combined with the previous slide, δ acts with opposite sign either side of half filling.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A previous result did not survive</a:t>
            </a:r>
          </a:p>
        </p:txBody>
      </p:sp>
      <p:sp>
        <p:nvSpPr>
          <p:cNvPr id="3" name="Rounded Rectangle 2"/>
          <p:cNvSpPr/>
          <p:nvPr/>
        </p:nvSpPr>
        <p:spPr>
          <a:xfrm>
            <a:off x="502920" y="1051560"/>
            <a:ext cx="11155680" cy="731520"/>
          </a:xfrm>
          <a:prstGeom prst="roundRect">
            <a:avLst/>
          </a:prstGeom>
          <a:solidFill>
            <a:srgbClr val="F7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170432"/>
            <a:ext cx="10607040" cy="548640"/>
          </a:xfrm>
          <a:prstGeom prst="rect">
            <a:avLst/>
          </a:prstGeom>
          <a:noFill/>
        </p:spPr>
        <p:txBody>
          <a:bodyPr wrap="square">
            <a:spAutoFit/>
          </a:bodyPr>
          <a:lstStyle/>
          <a:p>
            <a:pPr algn="l"/>
            <a:r>
              <a:rPr sz="1550" b="1">
                <a:solidFill>
                  <a:srgbClr val="B85042"/>
                </a:solidFill>
                <a:latin typeface="Calibri"/>
              </a:rPr>
              <a:t>On 6 × 6, d(x²−y²) appears ENHANCED by δ at 5.3σ.   Every larger lattice reverses the sign, at 4 to 7σ.</a:t>
            </a:r>
          </a:p>
        </p:txBody>
      </p:sp>
      <p:pic>
        <p:nvPicPr>
          <p:cNvPr id="5" name="Picture 4" descr="fig_dx2y2_finitesize_contradiction.png"/>
          <p:cNvPicPr>
            <a:picLocks noChangeAspect="1"/>
          </p:cNvPicPr>
          <p:nvPr/>
        </p:nvPicPr>
        <p:blipFill>
          <a:blip r:embed="rId2"/>
          <a:stretch>
            <a:fillRect/>
          </a:stretch>
        </p:blipFill>
        <p:spPr>
          <a:xfrm>
            <a:off x="411480" y="1965960"/>
            <a:ext cx="7589520" cy="3301951"/>
          </a:xfrm>
          <a:prstGeom prst="rect">
            <a:avLst/>
          </a:prstGeom>
        </p:spPr>
      </p:pic>
      <p:sp>
        <p:nvSpPr>
          <p:cNvPr id="6" name="TextBox 5"/>
          <p:cNvSpPr txBox="1"/>
          <p:nvPr/>
        </p:nvSpPr>
        <p:spPr>
          <a:xfrm>
            <a:off x="8229600" y="2103120"/>
            <a:ext cx="3566160" cy="3017520"/>
          </a:xfrm>
          <a:prstGeom prst="rect">
            <a:avLst/>
          </a:prstGeom>
          <a:noFill/>
        </p:spPr>
        <p:txBody>
          <a:bodyPr wrap="square">
            <a:spAutoFit/>
          </a:bodyPr>
          <a:lstStyle/>
          <a:p>
            <a:pPr algn="l">
              <a:spcAft>
                <a:spcPts val="700"/>
              </a:spcAft>
            </a:pPr>
            <a:r>
              <a:rPr sz="1200" b="0">
                <a:solidFill>
                  <a:srgbClr val="5A5A5A"/>
                </a:solidFill>
                <a:latin typeface="Calibri"/>
              </a:rPr>
              <a:t>χ(0.4) − χ(0)</a:t>
            </a:r>
          </a:p>
          <a:p>
            <a:pPr algn="l">
              <a:spcAft>
                <a:spcPts val="700"/>
              </a:spcAft>
            </a:pPr>
            <a:r>
              <a:rPr sz="1400" b="1">
                <a:solidFill>
                  <a:srgbClr val="B85042"/>
                </a:solidFill>
                <a:latin typeface="Calibri"/>
              </a:rPr>
              <a:t>L = 6:    +0.48 ± 0.09</a:t>
            </a:r>
          </a:p>
          <a:p>
            <a:pPr algn="l">
              <a:spcAft>
                <a:spcPts val="700"/>
              </a:spcAft>
            </a:pPr>
            <a:r>
              <a:rPr sz="1400" b="0">
                <a:solidFill>
                  <a:srgbClr val="1E2761"/>
                </a:solidFill>
                <a:latin typeface="Calibri"/>
              </a:rPr>
              <a:t>L = 8:    −2.75 ± 0.37</a:t>
            </a:r>
          </a:p>
          <a:p>
            <a:pPr algn="l">
              <a:spcAft>
                <a:spcPts val="700"/>
              </a:spcAft>
            </a:pPr>
            <a:r>
              <a:rPr sz="1400" b="0">
                <a:solidFill>
                  <a:srgbClr val="1E2761"/>
                </a:solidFill>
                <a:latin typeface="Calibri"/>
              </a:rPr>
              <a:t>L = 10:  −1.85 ± 0.42</a:t>
            </a:r>
          </a:p>
          <a:p>
            <a:pPr algn="l">
              <a:spcAft>
                <a:spcPts val="700"/>
              </a:spcAft>
            </a:pPr>
            <a:r>
              <a:rPr sz="1400" b="0">
                <a:solidFill>
                  <a:srgbClr val="1E2761"/>
                </a:solidFill>
                <a:latin typeface="Calibri"/>
              </a:rPr>
              <a:t>L = 12:  −2.93 ± 0.66</a:t>
            </a:r>
          </a:p>
          <a:p>
            <a:pPr algn="l">
              <a:spcAft>
                <a:spcPts val="700"/>
              </a:spcAft>
            </a:pPr>
            <a:r>
              <a:rPr sz="1250" b="0">
                <a:solidFill>
                  <a:srgbClr val="222222"/>
                </a:solidFill>
                <a:latin typeface="Calibri"/>
              </a:rPr>
              <a:t>The L = 6 trend has a small error bar and a consistent sign across seeds. It is significant, and it is wrong.</a:t>
            </a:r>
          </a:p>
        </p:txBody>
      </p:sp>
      <p:sp>
        <p:nvSpPr>
          <p:cNvPr id="7" name="TextBox 6"/>
          <p:cNvSpPr txBox="1"/>
          <p:nvPr/>
        </p:nvSpPr>
        <p:spPr>
          <a:xfrm>
            <a:off x="502920" y="5440680"/>
            <a:ext cx="11155680" cy="822960"/>
          </a:xfrm>
          <a:prstGeom prst="rect">
            <a:avLst/>
          </a:prstGeom>
          <a:noFill/>
        </p:spPr>
        <p:txBody>
          <a:bodyPr wrap="square">
            <a:spAutoFit/>
          </a:bodyPr>
          <a:lstStyle/>
          <a:p>
            <a:pPr algn="l"/>
            <a:r>
              <a:rPr sz="1450" b="0">
                <a:solidFill>
                  <a:srgbClr val="222222"/>
                </a:solidFill>
                <a:latin typeface="Calibri"/>
              </a:rPr>
              <a:t>Only the comparison across sizes reveals it. Consequence: L = 6 is no longer used for any physics claim, and every number we report is L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The same audit found a second L = 6 error</a:t>
            </a:r>
          </a:p>
        </p:txBody>
      </p:sp>
      <p:sp>
        <p:nvSpPr>
          <p:cNvPr id="3" name="TextBox 2"/>
          <p:cNvSpPr txBox="1"/>
          <p:nvPr/>
        </p:nvSpPr>
        <p:spPr>
          <a:xfrm>
            <a:off x="502920" y="1234440"/>
            <a:ext cx="11155680" cy="457200"/>
          </a:xfrm>
          <a:prstGeom prst="rect">
            <a:avLst/>
          </a:prstGeom>
          <a:noFill/>
        </p:spPr>
        <p:txBody>
          <a:bodyPr wrap="square">
            <a:spAutoFit/>
          </a:bodyPr>
          <a:lstStyle/>
          <a:p>
            <a:pPr algn="l"/>
            <a:r>
              <a:rPr sz="1500" b="0">
                <a:solidFill>
                  <a:srgbClr val="222222"/>
                </a:solidFill>
                <a:latin typeface="Calibri"/>
              </a:rPr>
              <a:t>Ranking all four channels point by point over the (n, δ) plane at U = 4:</a:t>
            </a:r>
          </a:p>
        </p:txBody>
      </p:sp>
      <p:graphicFrame>
        <p:nvGraphicFramePr>
          <p:cNvPr id="4" name="Table 3"/>
          <p:cNvGraphicFramePr>
            <a:graphicFrameLocks noGrp="1"/>
          </p:cNvGraphicFramePr>
          <p:nvPr/>
        </p:nvGraphicFramePr>
        <p:xfrm>
          <a:off x="502920" y="1783080"/>
          <a:ext cx="6949440" cy="1828800"/>
        </p:xfrm>
        <a:graphic>
          <a:graphicData uri="http://schemas.openxmlformats.org/drawingml/2006/table">
            <a:tbl>
              <a:tblPr firstRow="1" bandRow="1">
                <a:tableStyleId>{5C22544A-7EE6-4342-B048-85BDC9FD1C3A}</a:tableStyleId>
              </a:tblPr>
              <a:tblGrid>
                <a:gridCol w="1463040"/>
                <a:gridCol w="2103120"/>
                <a:gridCol w="1828800"/>
                <a:gridCol w="1554480"/>
              </a:tblGrid>
              <a:tr h="365760">
                <a:tc>
                  <a:txBody>
                    <a:bodyPr/>
                    <a:lstStyle/>
                    <a:p>
                      <a:r>
                        <a:rPr sz="1350" b="1">
                          <a:solidFill>
                            <a:srgbClr val="1E2761"/>
                          </a:solidFill>
                          <a:latin typeface="Calibri"/>
                        </a:rPr>
                        <a:t>lattice</a:t>
                      </a:r>
                    </a:p>
                  </a:txBody>
                  <a:tcPr anchor="ctr" marL="54864" marR="54864" marT="0" marB="0">
                    <a:solidFill>
                      <a:srgbClr val="EEF2F7"/>
                    </a:solidFill>
                  </a:tcPr>
                </a:tc>
                <a:tc>
                  <a:txBody>
                    <a:bodyPr/>
                    <a:lstStyle/>
                    <a:p>
                      <a:r>
                        <a:rPr sz="1350" b="1">
                          <a:solidFill>
                            <a:srgbClr val="1E2761"/>
                          </a:solidFill>
                          <a:latin typeface="Calibri"/>
                        </a:rPr>
                        <a:t>extended s leads</a:t>
                      </a:r>
                    </a:p>
                  </a:txBody>
                  <a:tcPr anchor="ctr" marL="54864" marR="54864" marT="0" marB="0">
                    <a:solidFill>
                      <a:srgbClr val="EEF2F7"/>
                    </a:solidFill>
                  </a:tcPr>
                </a:tc>
                <a:tc>
                  <a:txBody>
                    <a:bodyPr/>
                    <a:lstStyle/>
                    <a:p>
                      <a:r>
                        <a:rPr sz="1350" b="1">
                          <a:solidFill>
                            <a:srgbClr val="1E2761"/>
                          </a:solidFill>
                          <a:latin typeface="Calibri"/>
                        </a:rPr>
                        <a:t>d(x²−y²) leads</a:t>
                      </a:r>
                    </a:p>
                  </a:txBody>
                  <a:tcPr anchor="ctr" marL="54864" marR="54864" marT="0" marB="0">
                    <a:solidFill>
                      <a:srgbClr val="EEF2F7"/>
                    </a:solidFill>
                  </a:tcPr>
                </a:tc>
                <a:tc>
                  <a:txBody>
                    <a:bodyPr/>
                    <a:lstStyle/>
                    <a:p>
                      <a:r>
                        <a:rPr sz="1350" b="1">
                          <a:solidFill>
                            <a:srgbClr val="1E2761"/>
                          </a:solidFill>
                          <a:latin typeface="Calibri"/>
                        </a:rPr>
                        <a:t>d(xy) leads</a:t>
                      </a:r>
                    </a:p>
                  </a:txBody>
                  <a:tcPr anchor="ctr" marL="54864" marR="54864" marT="0" marB="0">
                    <a:solidFill>
                      <a:srgbClr val="EEF2F7"/>
                    </a:solidFill>
                  </a:tcPr>
                </a:tc>
              </a:tr>
              <a:tr h="365760">
                <a:tc>
                  <a:txBody>
                    <a:bodyPr/>
                    <a:lstStyle/>
                    <a:p>
                      <a:r>
                        <a:rPr sz="1350" b="0">
                          <a:solidFill>
                            <a:srgbClr val="222222"/>
                          </a:solidFill>
                          <a:latin typeface="Calibri"/>
                        </a:rPr>
                        <a:t>L = 6</a:t>
                      </a:r>
                    </a:p>
                  </a:txBody>
                  <a:tcPr anchor="ctr" marL="54864" marR="54864" marT="0" marB="0">
                    <a:solidFill>
                      <a:srgbClr val="FFFFFF"/>
                    </a:solidFill>
                  </a:tcPr>
                </a:tc>
                <a:tc>
                  <a:txBody>
                    <a:bodyPr/>
                    <a:lstStyle/>
                    <a:p>
                      <a:r>
                        <a:rPr sz="1350" b="1">
                          <a:solidFill>
                            <a:srgbClr val="B85042"/>
                          </a:solidFill>
                          <a:latin typeface="Calibri"/>
                        </a:rPr>
                        <a:t>13 of 25</a:t>
                      </a:r>
                    </a:p>
                  </a:txBody>
                  <a:tcPr anchor="ctr" marL="54864" marR="54864" marT="0" marB="0">
                    <a:solidFill>
                      <a:srgbClr val="FFFFFF"/>
                    </a:solidFill>
                  </a:tcPr>
                </a:tc>
                <a:tc>
                  <a:txBody>
                    <a:bodyPr/>
                    <a:lstStyle/>
                    <a:p>
                      <a:r>
                        <a:rPr sz="1350" b="0">
                          <a:solidFill>
                            <a:srgbClr val="222222"/>
                          </a:solidFill>
                          <a:latin typeface="Calibri"/>
                        </a:rPr>
                        <a:t>8</a:t>
                      </a:r>
                    </a:p>
                  </a:txBody>
                  <a:tcPr anchor="ctr" marL="54864" marR="54864" marT="0" marB="0">
                    <a:solidFill>
                      <a:srgbClr val="FFFFFF"/>
                    </a:solidFill>
                  </a:tcPr>
                </a:tc>
                <a:tc>
                  <a:txBody>
                    <a:bodyPr/>
                    <a:lstStyle/>
                    <a:p>
                      <a:r>
                        <a:rPr sz="1350" b="0">
                          <a:solidFill>
                            <a:srgbClr val="222222"/>
                          </a:solidFill>
                          <a:latin typeface="Calibri"/>
                        </a:rPr>
                        <a:t>4</a:t>
                      </a:r>
                    </a:p>
                  </a:txBody>
                  <a:tcPr anchor="ctr" marL="54864" marR="54864" marT="0" marB="0">
                    <a:solidFill>
                      <a:srgbClr val="FFFFFF"/>
                    </a:solidFill>
                  </a:tcPr>
                </a:tc>
              </a:tr>
              <a:tr h="365760">
                <a:tc>
                  <a:txBody>
                    <a:bodyPr/>
                    <a:lstStyle/>
                    <a:p>
                      <a:r>
                        <a:rPr sz="1350" b="0">
                          <a:solidFill>
                            <a:srgbClr val="222222"/>
                          </a:solidFill>
                          <a:latin typeface="Calibri"/>
                        </a:rPr>
                        <a:t>L = 8</a:t>
                      </a:r>
                    </a:p>
                  </a:txBody>
                  <a:tcPr anchor="ctr" marL="54864" marR="54864" marT="0" marB="0">
                    <a:solidFill>
                      <a:srgbClr val="FFFFFF"/>
                    </a:solidFill>
                  </a:tcPr>
                </a:tc>
                <a:tc>
                  <a:txBody>
                    <a:bodyPr/>
                    <a:lstStyle/>
                    <a:p>
                      <a:r>
                        <a:rPr sz="1350" b="0">
                          <a:solidFill>
                            <a:srgbClr val="222222"/>
                          </a:solidFill>
                          <a:latin typeface="Calibri"/>
                        </a:rPr>
                        <a:t>8</a:t>
                      </a:r>
                    </a:p>
                  </a:txBody>
                  <a:tcPr anchor="ctr" marL="54864" marR="54864" marT="0" marB="0">
                    <a:solidFill>
                      <a:srgbClr val="FFFFFF"/>
                    </a:solidFill>
                  </a:tcPr>
                </a:tc>
                <a:tc>
                  <a:txBody>
                    <a:bodyPr/>
                    <a:lstStyle/>
                    <a:p>
                      <a:r>
                        <a:rPr sz="1350" b="1">
                          <a:solidFill>
                            <a:srgbClr val="1E2761"/>
                          </a:solidFill>
                          <a:latin typeface="Calibri"/>
                        </a:rPr>
                        <a:t>13</a:t>
                      </a:r>
                    </a:p>
                  </a:txBody>
                  <a:tcPr anchor="ctr" marL="54864" marR="54864" marT="0" marB="0">
                    <a:solidFill>
                      <a:srgbClr val="FFFFFF"/>
                    </a:solidFill>
                  </a:tcPr>
                </a:tc>
                <a:tc>
                  <a:txBody>
                    <a:bodyPr/>
                    <a:lstStyle/>
                    <a:p>
                      <a:r>
                        <a:rPr sz="1350" b="0">
                          <a:solidFill>
                            <a:srgbClr val="222222"/>
                          </a:solidFill>
                          <a:latin typeface="Calibri"/>
                        </a:rPr>
                        <a:t>4</a:t>
                      </a:r>
                    </a:p>
                  </a:txBody>
                  <a:tcPr anchor="ctr" marL="54864" marR="54864" marT="0" marB="0">
                    <a:solidFill>
                      <a:srgbClr val="FFFFFF"/>
                    </a:solidFill>
                  </a:tcPr>
                </a:tc>
              </a:tr>
              <a:tr h="365760">
                <a:tc>
                  <a:txBody>
                    <a:bodyPr/>
                    <a:lstStyle/>
                    <a:p>
                      <a:r>
                        <a:rPr sz="1350" b="0">
                          <a:solidFill>
                            <a:srgbClr val="222222"/>
                          </a:solidFill>
                          <a:latin typeface="Calibri"/>
                        </a:rPr>
                        <a:t>L = 10</a:t>
                      </a:r>
                    </a:p>
                  </a:txBody>
                  <a:tcPr anchor="ctr" marL="54864" marR="54864" marT="0" marB="0">
                    <a:solidFill>
                      <a:srgbClr val="FFFFFF"/>
                    </a:solidFill>
                  </a:tcPr>
                </a:tc>
                <a:tc>
                  <a:txBody>
                    <a:bodyPr/>
                    <a:lstStyle/>
                    <a:p>
                      <a:r>
                        <a:rPr sz="1350" b="0">
                          <a:solidFill>
                            <a:srgbClr val="222222"/>
                          </a:solidFill>
                          <a:latin typeface="Calibri"/>
                        </a:rPr>
                        <a:t>7</a:t>
                      </a:r>
                    </a:p>
                  </a:txBody>
                  <a:tcPr anchor="ctr" marL="54864" marR="54864" marT="0" marB="0">
                    <a:solidFill>
                      <a:srgbClr val="FFFFFF"/>
                    </a:solidFill>
                  </a:tcPr>
                </a:tc>
                <a:tc>
                  <a:txBody>
                    <a:bodyPr/>
                    <a:lstStyle/>
                    <a:p>
                      <a:r>
                        <a:rPr sz="1350" b="1">
                          <a:solidFill>
                            <a:srgbClr val="1E2761"/>
                          </a:solidFill>
                          <a:latin typeface="Calibri"/>
                        </a:rPr>
                        <a:t>15</a:t>
                      </a:r>
                    </a:p>
                  </a:txBody>
                  <a:tcPr anchor="ctr" marL="54864" marR="54864" marT="0" marB="0">
                    <a:solidFill>
                      <a:srgbClr val="FFFFFF"/>
                    </a:solidFill>
                  </a:tcPr>
                </a:tc>
                <a:tc>
                  <a:txBody>
                    <a:bodyPr/>
                    <a:lstStyle/>
                    <a:p>
                      <a:r>
                        <a:rPr sz="1350" b="0">
                          <a:solidFill>
                            <a:srgbClr val="222222"/>
                          </a:solidFill>
                          <a:latin typeface="Calibri"/>
                        </a:rPr>
                        <a:t>3</a:t>
                      </a:r>
                    </a:p>
                  </a:txBody>
                  <a:tcPr anchor="ctr" marL="54864" marR="54864" marT="0" marB="0">
                    <a:solidFill>
                      <a:srgbClr val="FFFFFF"/>
                    </a:solidFill>
                  </a:tcPr>
                </a:tc>
              </a:tr>
              <a:tr h="365760">
                <a:tc>
                  <a:txBody>
                    <a:bodyPr/>
                    <a:lstStyle/>
                    <a:p>
                      <a:r>
                        <a:rPr sz="1350" b="0">
                          <a:solidFill>
                            <a:srgbClr val="222222"/>
                          </a:solidFill>
                          <a:latin typeface="Calibri"/>
                        </a:rPr>
                        <a:t>L = 12</a:t>
                      </a:r>
                    </a:p>
                  </a:txBody>
                  <a:tcPr anchor="ctr" marL="54864" marR="54864" marT="0" marB="0">
                    <a:solidFill>
                      <a:srgbClr val="FFFFFF"/>
                    </a:solidFill>
                  </a:tcPr>
                </a:tc>
                <a:tc>
                  <a:txBody>
                    <a:bodyPr/>
                    <a:lstStyle/>
                    <a:p>
                      <a:r>
                        <a:rPr sz="1350" b="0">
                          <a:solidFill>
                            <a:srgbClr val="222222"/>
                          </a:solidFill>
                          <a:latin typeface="Calibri"/>
                        </a:rPr>
                        <a:t>7</a:t>
                      </a:r>
                    </a:p>
                  </a:txBody>
                  <a:tcPr anchor="ctr" marL="54864" marR="54864" marT="0" marB="0">
                    <a:solidFill>
                      <a:srgbClr val="FFFFFF"/>
                    </a:solidFill>
                  </a:tcPr>
                </a:tc>
                <a:tc>
                  <a:txBody>
                    <a:bodyPr/>
                    <a:lstStyle/>
                    <a:p>
                      <a:r>
                        <a:rPr sz="1350" b="1">
                          <a:solidFill>
                            <a:srgbClr val="1E2761"/>
                          </a:solidFill>
                          <a:latin typeface="Calibri"/>
                        </a:rPr>
                        <a:t>15</a:t>
                      </a:r>
                    </a:p>
                  </a:txBody>
                  <a:tcPr anchor="ctr" marL="54864" marR="54864" marT="0" marB="0">
                    <a:solidFill>
                      <a:srgbClr val="FFFFFF"/>
                    </a:solidFill>
                  </a:tcPr>
                </a:tc>
                <a:tc>
                  <a:txBody>
                    <a:bodyPr/>
                    <a:lstStyle/>
                    <a:p>
                      <a:r>
                        <a:rPr sz="1350" b="0">
                          <a:solidFill>
                            <a:srgbClr val="222222"/>
                          </a:solidFill>
                          <a:latin typeface="Calibri"/>
                        </a:rPr>
                        <a:t>3</a:t>
                      </a:r>
                    </a:p>
                  </a:txBody>
                  <a:tcPr anchor="ctr" marL="54864" marR="54864" marT="0" marB="0">
                    <a:solidFill>
                      <a:srgbClr val="FFFFFF"/>
                    </a:solidFill>
                  </a:tcPr>
                </a:tc>
              </a:tr>
            </a:tbl>
          </a:graphicData>
        </a:graphic>
      </p:graphicFrame>
      <p:sp>
        <p:nvSpPr>
          <p:cNvPr id="5" name="Rounded Rectangle 4"/>
          <p:cNvSpPr/>
          <p:nvPr/>
        </p:nvSpPr>
        <p:spPr>
          <a:xfrm>
            <a:off x="7772400" y="1783080"/>
            <a:ext cx="3931920" cy="1828800"/>
          </a:xfrm>
          <a:prstGeom prst="roundRect">
            <a:avLst/>
          </a:prstGeom>
          <a:solidFill>
            <a:srgbClr val="F7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965960"/>
            <a:ext cx="3429000" cy="1554480"/>
          </a:xfrm>
          <a:prstGeom prst="rect">
            <a:avLst/>
          </a:prstGeom>
          <a:noFill/>
        </p:spPr>
        <p:txBody>
          <a:bodyPr wrap="square">
            <a:spAutoFit/>
          </a:bodyPr>
          <a:lstStyle/>
          <a:p>
            <a:pPr algn="l">
              <a:spcAft>
                <a:spcPts val="600"/>
              </a:spcAft>
            </a:pPr>
            <a:r>
              <a:rPr sz="1350" b="1">
                <a:solidFill>
                  <a:srgbClr val="B85042"/>
                </a:solidFill>
                <a:latin typeface="Calibri"/>
              </a:rPr>
              <a:t>L = 6 puts extended s first. All three larger lattices put d(x²−y²) first.</a:t>
            </a:r>
          </a:p>
          <a:p>
            <a:pPr algn="l">
              <a:spcAft>
                <a:spcPts val="600"/>
              </a:spcAft>
            </a:pPr>
            <a:r>
              <a:rPr sz="1250" b="0">
                <a:solidFill>
                  <a:srgbClr val="222222"/>
                </a:solidFill>
                <a:latin typeface="Calibri"/>
              </a:rPr>
              <a:t>Our committed figure uses U = 8, where the sizes happen to agree, so it is safe.</a:t>
            </a:r>
          </a:p>
        </p:txBody>
      </p:sp>
      <p:sp>
        <p:nvSpPr>
          <p:cNvPr id="7" name="TextBox 6"/>
          <p:cNvSpPr txBox="1"/>
          <p:nvPr/>
        </p:nvSpPr>
        <p:spPr>
          <a:xfrm>
            <a:off x="502920" y="3886200"/>
            <a:ext cx="11155680" cy="914400"/>
          </a:xfrm>
          <a:prstGeom prst="rect">
            <a:avLst/>
          </a:prstGeom>
          <a:noFill/>
        </p:spPr>
        <p:txBody>
          <a:bodyPr wrap="square">
            <a:spAutoFit/>
          </a:bodyPr>
          <a:lstStyle/>
          <a:p>
            <a:pPr algn="l">
              <a:spcAft>
                <a:spcPts val="500"/>
              </a:spcAft>
            </a:pPr>
            <a:r>
              <a:rPr sz="1500" b="1">
                <a:solidFill>
                  <a:srgbClr val="1E2761"/>
                </a:solidFill>
                <a:latin typeface="Calibri"/>
              </a:rPr>
              <a:t>Magnitudes are wrong too, even where signs agree.</a:t>
            </a:r>
          </a:p>
          <a:p>
            <a:pPr algn="l">
              <a:spcAft>
                <a:spcPts val="500"/>
              </a:spcAft>
            </a:pPr>
            <a:r>
              <a:rPr sz="1450" b="0">
                <a:solidFill>
                  <a:srgbClr val="222222"/>
                </a:solidFill>
                <a:latin typeface="Calibri"/>
              </a:rPr>
              <a:t>At δ = 0, U = 4, n ≈ 0.78: χ(d(x²−y²)) is +0.43 at L = 6 and between +2.61 and +3.79 on the larger lattices. Quoting L = 6 would understate the attraction sixfold.</a:t>
            </a:r>
          </a:p>
        </p:txBody>
      </p:sp>
      <p:sp>
        <p:nvSpPr>
          <p:cNvPr id="8" name="TextBox 7"/>
          <p:cNvSpPr txBox="1"/>
          <p:nvPr/>
        </p:nvSpPr>
        <p:spPr>
          <a:xfrm>
            <a:off x="502920" y="5029200"/>
            <a:ext cx="11155680" cy="914400"/>
          </a:xfrm>
          <a:prstGeom prst="rect">
            <a:avLst/>
          </a:prstGeom>
          <a:noFill/>
        </p:spPr>
        <p:txBody>
          <a:bodyPr wrap="square">
            <a:spAutoFit/>
          </a:bodyPr>
          <a:lstStyle/>
          <a:p>
            <a:pPr algn="l"/>
            <a:r>
              <a:rPr sz="1450" b="0">
                <a:solidFill>
                  <a:srgbClr val="1E2761"/>
                </a:solidFill>
                <a:latin typeface="Calibri"/>
              </a:rPr>
              <a:t>This belongs in the paper. 6 × 6 clusters remain common in this literature, and the failure is invisible from within a single lattice size.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New: the anisotropy destroys the magnetism that creates it</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Interaction-induced moment Δm = m − m(U=0), at L = 12, U = 4.</a:t>
            </a:r>
          </a:p>
        </p:txBody>
      </p:sp>
      <p:pic>
        <p:nvPicPr>
          <p:cNvPr id="4" name="Picture 3" descr="fig_mAM_L12.png"/>
          <p:cNvPicPr>
            <a:picLocks noChangeAspect="1"/>
          </p:cNvPicPr>
          <p:nvPr/>
        </p:nvPicPr>
        <p:blipFill>
          <a:blip r:embed="rId2"/>
          <a:stretch>
            <a:fillRect/>
          </a:stretch>
        </p:blipFill>
        <p:spPr>
          <a:xfrm>
            <a:off x="365760" y="1371600"/>
            <a:ext cx="11430000" cy="3389156"/>
          </a:xfrm>
          <a:prstGeom prst="rect">
            <a:avLst/>
          </a:prstGeom>
        </p:spPr>
      </p:pic>
      <p:graphicFrame>
        <p:nvGraphicFramePr>
          <p:cNvPr id="5" name="Table 4"/>
          <p:cNvGraphicFramePr>
            <a:graphicFrameLocks noGrp="1"/>
          </p:cNvGraphicFramePr>
          <p:nvPr/>
        </p:nvGraphicFramePr>
        <p:xfrm>
          <a:off x="502920" y="4846320"/>
          <a:ext cx="5760720" cy="1280160"/>
        </p:xfrm>
        <a:graphic>
          <a:graphicData uri="http://schemas.openxmlformats.org/drawingml/2006/table">
            <a:tbl>
              <a:tblPr firstRow="1" bandRow="1">
                <a:tableStyleId>{5C22544A-7EE6-4342-B048-85BDC9FD1C3A}</a:tableStyleId>
              </a:tblPr>
              <a:tblGrid>
                <a:gridCol w="1371600"/>
                <a:gridCol w="1463040"/>
                <a:gridCol w="1554480"/>
                <a:gridCol w="1371600"/>
              </a:tblGrid>
              <a:tr h="256032">
                <a:tc>
                  <a:txBody>
                    <a:bodyPr/>
                    <a:lstStyle/>
                    <a:p>
                      <a:r>
                        <a:rPr sz="1200" b="1">
                          <a:solidFill>
                            <a:srgbClr val="1E2761"/>
                          </a:solidFill>
                          <a:latin typeface="Calibri"/>
                        </a:rPr>
                        <a:t>filling n</a:t>
                      </a:r>
                    </a:p>
                  </a:txBody>
                  <a:tcPr anchor="ctr" marL="54864" marR="54864" marT="0" marB="0">
                    <a:solidFill>
                      <a:srgbClr val="EEF2F7"/>
                    </a:solidFill>
                  </a:tcPr>
                </a:tc>
                <a:tc>
                  <a:txBody>
                    <a:bodyPr/>
                    <a:lstStyle/>
                    <a:p>
                      <a:r>
                        <a:rPr sz="1200" b="1">
                          <a:solidFill>
                            <a:srgbClr val="1E2761"/>
                          </a:solidFill>
                          <a:latin typeface="Calibri"/>
                        </a:rPr>
                        <a:t>Δm at δ = 0</a:t>
                      </a:r>
                    </a:p>
                  </a:txBody>
                  <a:tcPr anchor="ctr" marL="54864" marR="54864" marT="0" marB="0">
                    <a:solidFill>
                      <a:srgbClr val="EEF2F7"/>
                    </a:solidFill>
                  </a:tcPr>
                </a:tc>
                <a:tc>
                  <a:txBody>
                    <a:bodyPr/>
                    <a:lstStyle/>
                    <a:p>
                      <a:r>
                        <a:rPr sz="1200" b="1">
                          <a:solidFill>
                            <a:srgbClr val="1E2761"/>
                          </a:solidFill>
                          <a:latin typeface="Calibri"/>
                        </a:rPr>
                        <a:t>Δm at δ = 0.4</a:t>
                      </a:r>
                    </a:p>
                  </a:txBody>
                  <a:tcPr anchor="ctr" marL="54864" marR="54864" marT="0" marB="0">
                    <a:solidFill>
                      <a:srgbClr val="EEF2F7"/>
                    </a:solidFill>
                  </a:tcPr>
                </a:tc>
                <a:tc>
                  <a:txBody>
                    <a:bodyPr/>
                    <a:lstStyle/>
                    <a:p>
                      <a:r>
                        <a:rPr sz="1200" b="1">
                          <a:solidFill>
                            <a:srgbClr val="1E2761"/>
                          </a:solidFill>
                          <a:latin typeface="Calibri"/>
                        </a:rPr>
                        <a:t>change</a:t>
                      </a:r>
                    </a:p>
                  </a:txBody>
                  <a:tcPr anchor="ctr" marL="54864" marR="54864" marT="0" marB="0">
                    <a:solidFill>
                      <a:srgbClr val="EEF2F7"/>
                    </a:solidFill>
                  </a:tcPr>
                </a:tc>
              </a:tr>
              <a:tr h="256032">
                <a:tc>
                  <a:txBody>
                    <a:bodyPr/>
                    <a:lstStyle/>
                    <a:p>
                      <a:r>
                        <a:rPr sz="1200" b="0">
                          <a:solidFill>
                            <a:srgbClr val="222222"/>
                          </a:solidFill>
                          <a:latin typeface="Calibri"/>
                        </a:rPr>
                        <a:t>0.667</a:t>
                      </a:r>
                    </a:p>
                  </a:txBody>
                  <a:tcPr anchor="ctr" marL="54864" marR="54864" marT="0" marB="0">
                    <a:solidFill>
                      <a:srgbClr val="FFFFFF"/>
                    </a:solidFill>
                  </a:tcPr>
                </a:tc>
                <a:tc>
                  <a:txBody>
                    <a:bodyPr/>
                    <a:lstStyle/>
                    <a:p>
                      <a:r>
                        <a:rPr sz="1200" b="0">
                          <a:solidFill>
                            <a:srgbClr val="222222"/>
                          </a:solidFill>
                          <a:latin typeface="Calibri"/>
                        </a:rPr>
                        <a:t>0.0036</a:t>
                      </a:r>
                    </a:p>
                  </a:txBody>
                  <a:tcPr anchor="ctr" marL="54864" marR="54864" marT="0" marB="0">
                    <a:solidFill>
                      <a:srgbClr val="FFFFFF"/>
                    </a:solidFill>
                  </a:tcPr>
                </a:tc>
                <a:tc>
                  <a:txBody>
                    <a:bodyPr/>
                    <a:lstStyle/>
                    <a:p>
                      <a:r>
                        <a:rPr sz="1200" b="0">
                          <a:solidFill>
                            <a:srgbClr val="222222"/>
                          </a:solidFill>
                          <a:latin typeface="Calibri"/>
                        </a:rPr>
                        <a:t>0.0021</a:t>
                      </a:r>
                    </a:p>
                  </a:txBody>
                  <a:tcPr anchor="ctr" marL="54864" marR="54864" marT="0" marB="0">
                    <a:solidFill>
                      <a:srgbClr val="FFFFFF"/>
                    </a:solidFill>
                  </a:tcPr>
                </a:tc>
                <a:tc>
                  <a:txBody>
                    <a:bodyPr/>
                    <a:lstStyle/>
                    <a:p>
                      <a:r>
                        <a:rPr sz="1200" b="0">
                          <a:solidFill>
                            <a:srgbClr val="222222"/>
                          </a:solidFill>
                          <a:latin typeface="Calibri"/>
                        </a:rPr>
                        <a:t>−42%</a:t>
                      </a:r>
                    </a:p>
                  </a:txBody>
                  <a:tcPr anchor="ctr" marL="54864" marR="54864" marT="0" marB="0">
                    <a:solidFill>
                      <a:srgbClr val="FFFFFF"/>
                    </a:solidFill>
                  </a:tcPr>
                </a:tc>
              </a:tr>
              <a:tr h="256032">
                <a:tc>
                  <a:txBody>
                    <a:bodyPr/>
                    <a:lstStyle/>
                    <a:p>
                      <a:r>
                        <a:rPr sz="1200" b="0">
                          <a:solidFill>
                            <a:srgbClr val="222222"/>
                          </a:solidFill>
                          <a:latin typeface="Calibri"/>
                        </a:rPr>
                        <a:t>0.778</a:t>
                      </a:r>
                    </a:p>
                  </a:txBody>
                  <a:tcPr anchor="ctr" marL="54864" marR="54864" marT="0" marB="0">
                    <a:solidFill>
                      <a:srgbClr val="FFFFFF"/>
                    </a:solidFill>
                  </a:tcPr>
                </a:tc>
                <a:tc>
                  <a:txBody>
                    <a:bodyPr/>
                    <a:lstStyle/>
                    <a:p>
                      <a:r>
                        <a:rPr sz="1200" b="0">
                          <a:solidFill>
                            <a:srgbClr val="222222"/>
                          </a:solidFill>
                          <a:latin typeface="Calibri"/>
                        </a:rPr>
                        <a:t>0.0073</a:t>
                      </a:r>
                    </a:p>
                  </a:txBody>
                  <a:tcPr anchor="ctr" marL="54864" marR="54864" marT="0" marB="0">
                    <a:solidFill>
                      <a:srgbClr val="FFFFFF"/>
                    </a:solidFill>
                  </a:tcPr>
                </a:tc>
                <a:tc>
                  <a:txBody>
                    <a:bodyPr/>
                    <a:lstStyle/>
                    <a:p>
                      <a:r>
                        <a:rPr sz="1200" b="0">
                          <a:solidFill>
                            <a:srgbClr val="222222"/>
                          </a:solidFill>
                          <a:latin typeface="Calibri"/>
                        </a:rPr>
                        <a:t>0.0037</a:t>
                      </a:r>
                    </a:p>
                  </a:txBody>
                  <a:tcPr anchor="ctr" marL="54864" marR="54864" marT="0" marB="0">
                    <a:solidFill>
                      <a:srgbClr val="FFFFFF"/>
                    </a:solidFill>
                  </a:tcPr>
                </a:tc>
                <a:tc>
                  <a:txBody>
                    <a:bodyPr/>
                    <a:lstStyle/>
                    <a:p>
                      <a:r>
                        <a:rPr sz="1200" b="0">
                          <a:solidFill>
                            <a:srgbClr val="222222"/>
                          </a:solidFill>
                          <a:latin typeface="Calibri"/>
                        </a:rPr>
                        <a:t>−49%</a:t>
                      </a:r>
                    </a:p>
                  </a:txBody>
                  <a:tcPr anchor="ctr" marL="54864" marR="54864" marT="0" marB="0">
                    <a:solidFill>
                      <a:srgbClr val="FFFFFF"/>
                    </a:solidFill>
                  </a:tcPr>
                </a:tc>
              </a:tr>
              <a:tr h="256032">
                <a:tc>
                  <a:txBody>
                    <a:bodyPr/>
                    <a:lstStyle/>
                    <a:p>
                      <a:r>
                        <a:rPr sz="1200" b="0">
                          <a:solidFill>
                            <a:srgbClr val="222222"/>
                          </a:solidFill>
                          <a:latin typeface="Calibri"/>
                        </a:rPr>
                        <a:t>0.889</a:t>
                      </a:r>
                    </a:p>
                  </a:txBody>
                  <a:tcPr anchor="ctr" marL="54864" marR="54864" marT="0" marB="0">
                    <a:solidFill>
                      <a:srgbClr val="FFFFFF"/>
                    </a:solidFill>
                  </a:tcPr>
                </a:tc>
                <a:tc>
                  <a:txBody>
                    <a:bodyPr/>
                    <a:lstStyle/>
                    <a:p>
                      <a:r>
                        <a:rPr sz="1200" b="0">
                          <a:solidFill>
                            <a:srgbClr val="222222"/>
                          </a:solidFill>
                          <a:latin typeface="Calibri"/>
                        </a:rPr>
                        <a:t>0.0134</a:t>
                      </a:r>
                    </a:p>
                  </a:txBody>
                  <a:tcPr anchor="ctr" marL="54864" marR="54864" marT="0" marB="0">
                    <a:solidFill>
                      <a:srgbClr val="FFFFFF"/>
                    </a:solidFill>
                  </a:tcPr>
                </a:tc>
                <a:tc>
                  <a:txBody>
                    <a:bodyPr/>
                    <a:lstStyle/>
                    <a:p>
                      <a:r>
                        <a:rPr sz="1200" b="0">
                          <a:solidFill>
                            <a:srgbClr val="222222"/>
                          </a:solidFill>
                          <a:latin typeface="Calibri"/>
                        </a:rPr>
                        <a:t>0.0052</a:t>
                      </a:r>
                    </a:p>
                  </a:txBody>
                  <a:tcPr anchor="ctr" marL="54864" marR="54864" marT="0" marB="0">
                    <a:solidFill>
                      <a:srgbClr val="FFFFFF"/>
                    </a:solidFill>
                  </a:tcPr>
                </a:tc>
                <a:tc>
                  <a:txBody>
                    <a:bodyPr/>
                    <a:lstStyle/>
                    <a:p>
                      <a:r>
                        <a:rPr sz="1200" b="1">
                          <a:solidFill>
                            <a:srgbClr val="B85042"/>
                          </a:solidFill>
                          <a:latin typeface="Calibri"/>
                        </a:rPr>
                        <a:t>−61%</a:t>
                      </a:r>
                    </a:p>
                  </a:txBody>
                  <a:tcPr anchor="ctr" marL="54864" marR="54864" marT="0" marB="0">
                    <a:solidFill>
                      <a:srgbClr val="FFFFFF"/>
                    </a:solidFill>
                  </a:tcPr>
                </a:tc>
              </a:tr>
              <a:tr h="256032">
                <a:tc>
                  <a:txBody>
                    <a:bodyPr/>
                    <a:lstStyle/>
                    <a:p>
                      <a:r>
                        <a:rPr sz="1200" b="0">
                          <a:solidFill>
                            <a:srgbClr val="222222"/>
                          </a:solidFill>
                          <a:latin typeface="Calibri"/>
                        </a:rPr>
                        <a:t>1.000</a:t>
                      </a:r>
                    </a:p>
                  </a:txBody>
                  <a:tcPr anchor="ctr" marL="54864" marR="54864" marT="0" marB="0">
                    <a:solidFill>
                      <a:srgbClr val="FFFFFF"/>
                    </a:solidFill>
                  </a:tcPr>
                </a:tc>
                <a:tc>
                  <a:txBody>
                    <a:bodyPr/>
                    <a:lstStyle/>
                    <a:p>
                      <a:r>
                        <a:rPr sz="1200" b="0">
                          <a:solidFill>
                            <a:srgbClr val="222222"/>
                          </a:solidFill>
                          <a:latin typeface="Calibri"/>
                        </a:rPr>
                        <a:t>0.0119</a:t>
                      </a:r>
                    </a:p>
                  </a:txBody>
                  <a:tcPr anchor="ctr" marL="54864" marR="54864" marT="0" marB="0">
                    <a:solidFill>
                      <a:srgbClr val="FFFFFF"/>
                    </a:solidFill>
                  </a:tcPr>
                </a:tc>
                <a:tc>
                  <a:txBody>
                    <a:bodyPr/>
                    <a:lstStyle/>
                    <a:p>
                      <a:r>
                        <a:rPr sz="1200" b="0">
                          <a:solidFill>
                            <a:srgbClr val="222222"/>
                          </a:solidFill>
                          <a:latin typeface="Calibri"/>
                        </a:rPr>
                        <a:t>0.0067</a:t>
                      </a:r>
                    </a:p>
                  </a:txBody>
                  <a:tcPr anchor="ctr" marL="54864" marR="54864" marT="0" marB="0">
                    <a:solidFill>
                      <a:srgbClr val="FFFFFF"/>
                    </a:solidFill>
                  </a:tcPr>
                </a:tc>
                <a:tc>
                  <a:txBody>
                    <a:bodyPr/>
                    <a:lstStyle/>
                    <a:p>
                      <a:r>
                        <a:rPr sz="1200" b="0">
                          <a:solidFill>
                            <a:srgbClr val="222222"/>
                          </a:solidFill>
                          <a:latin typeface="Calibri"/>
                        </a:rPr>
                        <a:t>−44%</a:t>
                      </a:r>
                    </a:p>
                  </a:txBody>
                  <a:tcPr anchor="ctr" marL="54864" marR="54864" marT="0" marB="0">
                    <a:solidFill>
                      <a:srgbClr val="FFFFFF"/>
                    </a:solidFill>
                  </a:tcPr>
                </a:tc>
              </a:tr>
            </a:tbl>
          </a:graphicData>
        </a:graphic>
      </p:graphicFrame>
      <p:sp>
        <p:nvSpPr>
          <p:cNvPr id="6" name="TextBox 5"/>
          <p:cNvSpPr txBox="1"/>
          <p:nvPr/>
        </p:nvSpPr>
        <p:spPr>
          <a:xfrm>
            <a:off x="6583680" y="4892040"/>
            <a:ext cx="5120640" cy="1463040"/>
          </a:xfrm>
          <a:prstGeom prst="rect">
            <a:avLst/>
          </a:prstGeom>
          <a:noFill/>
        </p:spPr>
        <p:txBody>
          <a:bodyPr wrap="square">
            <a:spAutoFit/>
          </a:bodyPr>
          <a:lstStyle/>
          <a:p>
            <a:pPr algn="l">
              <a:spcAft>
                <a:spcPts val="700"/>
              </a:spcAft>
            </a:pPr>
            <a:r>
              <a:rPr sz="1500" b="1">
                <a:solidFill>
                  <a:srgbClr val="1E2761"/>
                </a:solidFill>
                <a:latin typeface="Calibri"/>
              </a:rPr>
              <a:t>Meeting point 9, answered.</a:t>
            </a:r>
          </a:p>
          <a:p>
            <a:pPr algn="l">
              <a:spcAft>
                <a:spcPts val="700"/>
              </a:spcAft>
            </a:pPr>
            <a:r>
              <a:rPr sz="1400" b="0">
                <a:solidFill>
                  <a:srgbClr val="222222"/>
                </a:solidFill>
                <a:latin typeface="Calibri"/>
              </a:rPr>
              <a:t>The altermagnetic anisotropy weakens the Néel order that it converts into an altermagnet. The mechanism is self-limiting.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The order parameter needed fixing first</a:t>
            </a:r>
          </a:p>
        </p:txBody>
      </p:sp>
      <p:sp>
        <p:nvSpPr>
          <p:cNvPr id="3" name="TextBox 2"/>
          <p:cNvSpPr txBox="1"/>
          <p:nvPr/>
        </p:nvSpPr>
        <p:spPr>
          <a:xfrm>
            <a:off x="502920" y="1234440"/>
            <a:ext cx="6858000" cy="2103120"/>
          </a:xfrm>
          <a:prstGeom prst="rect">
            <a:avLst/>
          </a:prstGeom>
          <a:noFill/>
        </p:spPr>
        <p:txBody>
          <a:bodyPr wrap="square">
            <a:spAutoFit/>
          </a:bodyPr>
          <a:lstStyle/>
          <a:p>
            <a:pPr algn="l">
              <a:spcAft>
                <a:spcPts val="1100"/>
              </a:spcAft>
            </a:pPr>
            <a:r>
              <a:rPr sz="1500" b="0">
                <a:solidFill>
                  <a:srgbClr val="222222"/>
                </a:solidFill>
                <a:latin typeface="Calibri"/>
              </a:rPr>
              <a:t>M = √S(π,π) is not an order parameter. At U = 0 we measure M between 0.24 and 0.43 across fillings, where by construction there is no order at all.</a:t>
            </a:r>
          </a:p>
          <a:p>
            <a:pPr algn="l">
              <a:spcAft>
                <a:spcPts val="1100"/>
              </a:spcAft>
            </a:pPr>
            <a:r>
              <a:rPr sz="1500" b="0">
                <a:solidFill>
                  <a:srgbClr val="222222"/>
                </a:solidFill>
                <a:latin typeface="Calibri"/>
              </a:rPr>
              <a:t>It is the structure-factor amplitude. Also, S(π,π) is extensive once long-range order develops, so the size-comparable moment is m = √(S(π,π)/N).</a:t>
            </a:r>
          </a:p>
        </p:txBody>
      </p:sp>
      <p:sp>
        <p:nvSpPr>
          <p:cNvPr id="4" name="Rounded Rectangle 3"/>
          <p:cNvSpPr/>
          <p:nvPr/>
        </p:nvSpPr>
        <p:spPr>
          <a:xfrm>
            <a:off x="7589520" y="1234440"/>
            <a:ext cx="4114800" cy="2103120"/>
          </a:xfrm>
          <a:prstGeom prst="roundRect">
            <a:avLst/>
          </a:prstGeom>
          <a:solidFill>
            <a:srgbClr val="EA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0" y="1463040"/>
            <a:ext cx="3611880" cy="1828800"/>
          </a:xfrm>
          <a:prstGeom prst="rect">
            <a:avLst/>
          </a:prstGeom>
          <a:noFill/>
        </p:spPr>
        <p:txBody>
          <a:bodyPr wrap="square">
            <a:spAutoFit/>
          </a:bodyPr>
          <a:lstStyle/>
          <a:p>
            <a:pPr algn="l">
              <a:spcAft>
                <a:spcPts val="700"/>
              </a:spcAft>
            </a:pPr>
            <a:r>
              <a:rPr sz="1400" b="1">
                <a:solidFill>
                  <a:srgbClr val="2C5F2D"/>
                </a:solidFill>
                <a:latin typeface="Cambria"/>
              </a:rPr>
              <a:t>The replacement</a:t>
            </a:r>
          </a:p>
          <a:p>
            <a:pPr algn="l">
              <a:spcAft>
                <a:spcPts val="700"/>
              </a:spcAft>
            </a:pPr>
            <a:r>
              <a:rPr sz="1500" b="1">
                <a:solidFill>
                  <a:srgbClr val="1E2761"/>
                </a:solidFill>
                <a:latin typeface="Calibri"/>
              </a:rPr>
              <a:t>m_AM = Δm · δ,    Δm = m − m(U=0)</a:t>
            </a:r>
          </a:p>
          <a:p>
            <a:pPr algn="l">
              <a:spcAft>
                <a:spcPts val="700"/>
              </a:spcAft>
            </a:pPr>
            <a:r>
              <a:rPr sz="1300" b="0">
                <a:solidFill>
                  <a:srgbClr val="222222"/>
                </a:solidFill>
                <a:latin typeface="Calibri"/>
              </a:rPr>
              <a:t>Vanishes if either the interaction or the anisotropy is absent, as an altermagnetic order parameter must.</a:t>
            </a:r>
          </a:p>
        </p:txBody>
      </p:sp>
      <p:sp>
        <p:nvSpPr>
          <p:cNvPr id="6" name="TextBox 5"/>
          <p:cNvSpPr txBox="1"/>
          <p:nvPr/>
        </p:nvSpPr>
        <p:spPr>
          <a:xfrm>
            <a:off x="502920" y="3611880"/>
            <a:ext cx="11155680" cy="914400"/>
          </a:xfrm>
          <a:prstGeom prst="rect">
            <a:avLst/>
          </a:prstGeom>
          <a:noFill/>
        </p:spPr>
        <p:txBody>
          <a:bodyPr wrap="square">
            <a:spAutoFit/>
          </a:bodyPr>
          <a:lstStyle/>
          <a:p>
            <a:pPr algn="l"/>
            <a:r>
              <a:rPr sz="1500" b="0">
                <a:solidFill>
                  <a:srgbClr val="B85042"/>
                </a:solidFill>
                <a:latin typeface="Calibri"/>
              </a:rPr>
              <a:t>This matters for the manuscript: the current abstract states that the splitting scales as the product Mδ. That claim does not survive the U = 0 measurement and needs rewriting.</a:t>
            </a:r>
          </a:p>
        </p:txBody>
      </p:sp>
      <p:sp>
        <p:nvSpPr>
          <p:cNvPr id="7" name="TextBox 6"/>
          <p:cNvSpPr txBox="1"/>
          <p:nvPr/>
        </p:nvSpPr>
        <p:spPr>
          <a:xfrm>
            <a:off x="502920" y="4709160"/>
            <a:ext cx="11155680" cy="1280160"/>
          </a:xfrm>
          <a:prstGeom prst="rect">
            <a:avLst/>
          </a:prstGeom>
          <a:noFill/>
        </p:spPr>
        <p:txBody>
          <a:bodyPr wrap="square">
            <a:spAutoFit/>
          </a:bodyPr>
          <a:lstStyle/>
          <a:p>
            <a:pPr algn="l">
              <a:spcAft>
                <a:spcPts val="500"/>
              </a:spcAft>
            </a:pPr>
            <a:r>
              <a:rPr sz="1500" b="1">
                <a:solidFill>
                  <a:srgbClr val="1E2761"/>
                </a:solidFill>
                <a:latin typeface="Calibri"/>
              </a:rPr>
              <a:t>A candidate we tested and rejected.</a:t>
            </a:r>
          </a:p>
          <a:p>
            <a:pPr algn="l">
              <a:spcAft>
                <a:spcPts val="500"/>
              </a:spcAft>
            </a:pPr>
            <a:r>
              <a:rPr sz="1400" b="0">
                <a:solidFill>
                  <a:srgbClr val="222222"/>
                </a:solidFill>
                <a:latin typeface="Calibri"/>
              </a:rPr>
              <a:t>Ψ = (1/N) Σq sin(qx) sin(qy) S(q) looked like a general definition, but it failed its null test on the L = 14 archive: the δ = 0 value is the same size as the δ ≠ 0 values, with no monotonic trend. The reason is structural, since (π,π) is invariant under the 90° rotation, so any rotation-odd weight vanishes exactly where the magnetic weight sits.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Pairing tracks the order parameter at every U</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Rank correlation of χ(d_xy) with m_AM = Δm · δ, at fixed filling and fixed U. L = 12, complete magnetic cube.</a:t>
            </a:r>
          </a:p>
        </p:txBody>
      </p:sp>
      <p:graphicFrame>
        <p:nvGraphicFramePr>
          <p:cNvPr id="4" name="Table 3"/>
          <p:cNvGraphicFramePr>
            <a:graphicFrameLocks noGrp="1"/>
          </p:cNvGraphicFramePr>
          <p:nvPr/>
        </p:nvGraphicFramePr>
        <p:xfrm>
          <a:off x="502920" y="1463040"/>
          <a:ext cx="8503920" cy="2688336"/>
        </p:xfrm>
        <a:graphic>
          <a:graphicData uri="http://schemas.openxmlformats.org/drawingml/2006/table">
            <a:tbl>
              <a:tblPr firstRow="1" bandRow="1">
                <a:tableStyleId>{5C22544A-7EE6-4342-B048-85BDC9FD1C3A}</a:tableStyleId>
              </a:tblPr>
              <a:tblGrid>
                <a:gridCol w="1371600"/>
                <a:gridCol w="1417320"/>
                <a:gridCol w="1417320"/>
                <a:gridCol w="1417320"/>
                <a:gridCol w="1417320"/>
                <a:gridCol w="1463040"/>
              </a:tblGrid>
              <a:tr h="384048">
                <a:tc>
                  <a:txBody>
                    <a:bodyPr/>
                    <a:lstStyle/>
                    <a:p>
                      <a:r>
                        <a:rPr sz="1350" b="1">
                          <a:solidFill>
                            <a:srgbClr val="1E2761"/>
                          </a:solidFill>
                          <a:latin typeface="Calibri"/>
                        </a:rPr>
                        <a:t>filling n</a:t>
                      </a:r>
                    </a:p>
                  </a:txBody>
                  <a:tcPr anchor="ctr" marL="54864" marR="54864" marT="0" marB="0">
                    <a:solidFill>
                      <a:srgbClr val="EEF2F7"/>
                    </a:solidFill>
                  </a:tcPr>
                </a:tc>
                <a:tc>
                  <a:txBody>
                    <a:bodyPr/>
                    <a:lstStyle/>
                    <a:p>
                      <a:r>
                        <a:rPr sz="1350" b="1">
                          <a:solidFill>
                            <a:srgbClr val="1E2761"/>
                          </a:solidFill>
                          <a:latin typeface="Calibri"/>
                        </a:rPr>
                        <a:t>U = 2</a:t>
                      </a:r>
                    </a:p>
                  </a:txBody>
                  <a:tcPr anchor="ctr" marL="54864" marR="54864" marT="0" marB="0">
                    <a:solidFill>
                      <a:srgbClr val="EEF2F7"/>
                    </a:solidFill>
                  </a:tcPr>
                </a:tc>
                <a:tc>
                  <a:txBody>
                    <a:bodyPr/>
                    <a:lstStyle/>
                    <a:p>
                      <a:r>
                        <a:rPr sz="1350" b="1">
                          <a:solidFill>
                            <a:srgbClr val="1E2761"/>
                          </a:solidFill>
                          <a:latin typeface="Calibri"/>
                        </a:rPr>
                        <a:t>U = 4</a:t>
                      </a:r>
                    </a:p>
                  </a:txBody>
                  <a:tcPr anchor="ctr" marL="54864" marR="54864" marT="0" marB="0">
                    <a:solidFill>
                      <a:srgbClr val="EEF2F7"/>
                    </a:solidFill>
                  </a:tcPr>
                </a:tc>
                <a:tc>
                  <a:txBody>
                    <a:bodyPr/>
                    <a:lstStyle/>
                    <a:p>
                      <a:r>
                        <a:rPr sz="1350" b="1">
                          <a:solidFill>
                            <a:srgbClr val="1E2761"/>
                          </a:solidFill>
                          <a:latin typeface="Calibri"/>
                        </a:rPr>
                        <a:t>U = 6</a:t>
                      </a:r>
                    </a:p>
                  </a:txBody>
                  <a:tcPr anchor="ctr" marL="54864" marR="54864" marT="0" marB="0">
                    <a:solidFill>
                      <a:srgbClr val="EEF2F7"/>
                    </a:solidFill>
                  </a:tcPr>
                </a:tc>
                <a:tc>
                  <a:txBody>
                    <a:bodyPr/>
                    <a:lstStyle/>
                    <a:p>
                      <a:r>
                        <a:rPr sz="1350" b="1">
                          <a:solidFill>
                            <a:srgbClr val="1E2761"/>
                          </a:solidFill>
                          <a:latin typeface="Calibri"/>
                        </a:rPr>
                        <a:t>U = 8</a:t>
                      </a:r>
                    </a:p>
                  </a:txBody>
                  <a:tcPr anchor="ctr" marL="54864" marR="54864" marT="0" marB="0">
                    <a:solidFill>
                      <a:srgbClr val="EEF2F7"/>
                    </a:solidFill>
                  </a:tcPr>
                </a:tc>
                <a:tc>
                  <a:txBody>
                    <a:bodyPr/>
                    <a:lstStyle/>
                    <a:p>
                      <a:r>
                        <a:rPr sz="1350" b="1">
                          <a:solidFill>
                            <a:srgbClr val="1E2761"/>
                          </a:solidFill>
                          <a:latin typeface="Calibri"/>
                        </a:rPr>
                        <a:t/>
                      </a:r>
                    </a:p>
                  </a:txBody>
                  <a:tcPr anchor="ctr" marL="54864" marR="54864" marT="0" marB="0">
                    <a:solidFill>
                      <a:srgbClr val="EEF2F7"/>
                    </a:solidFill>
                  </a:tcPr>
                </a:tc>
              </a:tr>
              <a:tr h="384048">
                <a:tc>
                  <a:txBody>
                    <a:bodyPr/>
                    <a:lstStyle/>
                    <a:p>
                      <a:r>
                        <a:rPr sz="1350" b="0">
                          <a:solidFill>
                            <a:srgbClr val="222222"/>
                          </a:solidFill>
                          <a:latin typeface="Calibri"/>
                        </a:rPr>
                        <a:t>0.500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222222"/>
                          </a:solidFill>
                          <a:latin typeface="Calibri"/>
                        </a:rPr>
                        <a:t>doped</a:t>
                      </a:r>
                    </a:p>
                  </a:txBody>
                  <a:tcPr anchor="ctr" marL="54864" marR="54864" marT="0" marB="0">
                    <a:solidFill>
                      <a:srgbClr val="FFFFFF"/>
                    </a:solidFill>
                  </a:tcPr>
                </a:tc>
              </a:tr>
              <a:tr h="384048">
                <a:tc>
                  <a:txBody>
                    <a:bodyPr/>
                    <a:lstStyle/>
                    <a:p>
                      <a:r>
                        <a:rPr sz="1350" b="0">
                          <a:solidFill>
                            <a:srgbClr val="222222"/>
                          </a:solidFill>
                          <a:latin typeface="Calibri"/>
                        </a:rPr>
                        <a:t>0.556</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222222"/>
                          </a:solidFill>
                          <a:latin typeface="Calibri"/>
                        </a:rPr>
                        <a:t>−0.60</a:t>
                      </a:r>
                    </a:p>
                  </a:txBody>
                  <a:tcPr anchor="ctr" marL="54864" marR="54864" marT="0" marB="0">
                    <a:solidFill>
                      <a:srgbClr val="FFFFFF"/>
                    </a:solidFill>
                  </a:tcPr>
                </a:tc>
                <a:tc>
                  <a:txBody>
                    <a:bodyPr/>
                    <a:lstStyle/>
                    <a:p>
                      <a:r>
                        <a:rPr sz="1350" b="0">
                          <a:solidFill>
                            <a:srgbClr val="222222"/>
                          </a:solidFill>
                          <a:latin typeface="Calibri"/>
                        </a:rPr>
                        <a:t>doped</a:t>
                      </a:r>
                    </a:p>
                  </a:txBody>
                  <a:tcPr anchor="ctr" marL="54864" marR="54864" marT="0" marB="0">
                    <a:solidFill>
                      <a:srgbClr val="FFFFFF"/>
                    </a:solidFill>
                  </a:tcPr>
                </a:tc>
              </a:tr>
              <a:tr h="384048">
                <a:tc>
                  <a:txBody>
                    <a:bodyPr/>
                    <a:lstStyle/>
                    <a:p>
                      <a:r>
                        <a:rPr sz="1350" b="0">
                          <a:solidFill>
                            <a:srgbClr val="222222"/>
                          </a:solidFill>
                          <a:latin typeface="Calibri"/>
                        </a:rPr>
                        <a:t>0.667</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222222"/>
                          </a:solidFill>
                          <a:latin typeface="Calibri"/>
                        </a:rPr>
                        <a:t>−0.60</a:t>
                      </a:r>
                    </a:p>
                  </a:txBody>
                  <a:tcPr anchor="ctr" marL="54864" marR="54864" marT="0" marB="0">
                    <a:solidFill>
                      <a:srgbClr val="FFFFFF"/>
                    </a:solidFill>
                  </a:tcPr>
                </a:tc>
                <a:tc>
                  <a:txBody>
                    <a:bodyPr/>
                    <a:lstStyle/>
                    <a:p>
                      <a:r>
                        <a:rPr sz="1350" b="0">
                          <a:solidFill>
                            <a:srgbClr val="222222"/>
                          </a:solidFill>
                          <a:latin typeface="Calibri"/>
                        </a:rPr>
                        <a:t>−0.60</a:t>
                      </a:r>
                    </a:p>
                  </a:txBody>
                  <a:tcPr anchor="ctr" marL="54864" marR="54864" marT="0" marB="0">
                    <a:solidFill>
                      <a:srgbClr val="FFFFFF"/>
                    </a:solidFill>
                  </a:tcPr>
                </a:tc>
                <a:tc>
                  <a:txBody>
                    <a:bodyPr/>
                    <a:lstStyle/>
                    <a:p>
                      <a:r>
                        <a:rPr sz="1350" b="0">
                          <a:solidFill>
                            <a:srgbClr val="222222"/>
                          </a:solidFill>
                          <a:latin typeface="Calibri"/>
                        </a:rPr>
                        <a:t>doped</a:t>
                      </a:r>
                    </a:p>
                  </a:txBody>
                  <a:tcPr anchor="ctr" marL="54864" marR="54864" marT="0" marB="0">
                    <a:solidFill>
                      <a:srgbClr val="FFFFFF"/>
                    </a:solidFill>
                  </a:tcPr>
                </a:tc>
              </a:tr>
              <a:tr h="384048">
                <a:tc>
                  <a:txBody>
                    <a:bodyPr/>
                    <a:lstStyle/>
                    <a:p>
                      <a:r>
                        <a:rPr sz="1350" b="0">
                          <a:solidFill>
                            <a:srgbClr val="222222"/>
                          </a:solidFill>
                          <a:latin typeface="Calibri"/>
                        </a:rPr>
                        <a:t>0.778</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B85042"/>
                          </a:solidFill>
                          <a:latin typeface="Calibri"/>
                        </a:rPr>
                        <a:t>−1.00</a:t>
                      </a:r>
                    </a:p>
                  </a:txBody>
                  <a:tcPr anchor="ctr" marL="54864" marR="54864" marT="0" marB="0">
                    <a:solidFill>
                      <a:srgbClr val="FFFFFF"/>
                    </a:solidFill>
                  </a:tcPr>
                </a:tc>
                <a:tc>
                  <a:txBody>
                    <a:bodyPr/>
                    <a:lstStyle/>
                    <a:p>
                      <a:r>
                        <a:rPr sz="1350" b="0">
                          <a:solidFill>
                            <a:srgbClr val="222222"/>
                          </a:solidFill>
                          <a:latin typeface="Calibri"/>
                        </a:rPr>
                        <a:t>−0.50</a:t>
                      </a:r>
                    </a:p>
                  </a:txBody>
                  <a:tcPr anchor="ctr" marL="54864" marR="54864" marT="0" marB="0">
                    <a:solidFill>
                      <a:srgbClr val="FFFFFF"/>
                    </a:solidFill>
                  </a:tcPr>
                </a:tc>
                <a:tc>
                  <a:txBody>
                    <a:bodyPr/>
                    <a:lstStyle/>
                    <a:p>
                      <a:r>
                        <a:rPr sz="1350" b="0">
                          <a:solidFill>
                            <a:srgbClr val="222222"/>
                          </a:solidFill>
                          <a:latin typeface="Calibri"/>
                        </a:rPr>
                        <a:t>−0.60</a:t>
                      </a:r>
                    </a:p>
                  </a:txBody>
                  <a:tcPr anchor="ctr" marL="54864" marR="54864" marT="0" marB="0">
                    <a:solidFill>
                      <a:srgbClr val="FFFFFF"/>
                    </a:solidFill>
                  </a:tcPr>
                </a:tc>
                <a:tc>
                  <a:txBody>
                    <a:bodyPr/>
                    <a:lstStyle/>
                    <a:p>
                      <a:r>
                        <a:rPr sz="1350" b="0">
                          <a:solidFill>
                            <a:srgbClr val="222222"/>
                          </a:solidFill>
                          <a:latin typeface="Calibri"/>
                        </a:rPr>
                        <a:t>doped</a:t>
                      </a:r>
                    </a:p>
                  </a:txBody>
                  <a:tcPr anchor="ctr" marL="54864" marR="54864" marT="0" marB="0">
                    <a:solidFill>
                      <a:srgbClr val="FFFFFF"/>
                    </a:solidFill>
                  </a:tcPr>
                </a:tc>
              </a:tr>
              <a:tr h="384048">
                <a:tc>
                  <a:txBody>
                    <a:bodyPr/>
                    <a:lstStyle/>
                    <a:p>
                      <a:r>
                        <a:rPr sz="1350" b="0">
                          <a:solidFill>
                            <a:srgbClr val="222222"/>
                          </a:solidFill>
                          <a:latin typeface="Calibri"/>
                        </a:rPr>
                        <a:t>0.889</a:t>
                      </a:r>
                    </a:p>
                  </a:txBody>
                  <a:tcPr anchor="ctr" marL="54864" marR="54864" marT="0" marB="0">
                    <a:solidFill>
                      <a:srgbClr val="FFFFFF"/>
                    </a:solidFill>
                  </a:tcPr>
                </a:tc>
                <a:tc>
                  <a:txBody>
                    <a:bodyPr/>
                    <a:lstStyle/>
                    <a:p>
                      <a:r>
                        <a:rPr sz="1350" b="0">
                          <a:solidFill>
                            <a:srgbClr val="222222"/>
                          </a:solidFill>
                          <a:latin typeface="Calibri"/>
                        </a:rPr>
                        <a:t>−0.70</a:t>
                      </a:r>
                    </a:p>
                  </a:txBody>
                  <a:tcPr anchor="ctr" marL="54864" marR="54864" marT="0" marB="0">
                    <a:solidFill>
                      <a:srgbClr val="FFFFFF"/>
                    </a:solidFill>
                  </a:tcPr>
                </a:tc>
                <a:tc>
                  <a:txBody>
                    <a:bodyPr/>
                    <a:lstStyle/>
                    <a:p>
                      <a:r>
                        <a:rPr sz="1350" b="0">
                          <a:solidFill>
                            <a:srgbClr val="222222"/>
                          </a:solidFill>
                          <a:latin typeface="Calibri"/>
                        </a:rPr>
                        <a:t>−0.70</a:t>
                      </a:r>
                    </a:p>
                  </a:txBody>
                  <a:tcPr anchor="ctr" marL="54864" marR="54864" marT="0" marB="0">
                    <a:solidFill>
                      <a:srgbClr val="FFFFFF"/>
                    </a:solidFill>
                  </a:tcPr>
                </a:tc>
                <a:tc>
                  <a:txBody>
                    <a:bodyPr/>
                    <a:lstStyle/>
                    <a:p>
                      <a:r>
                        <a:rPr sz="1350" b="0">
                          <a:solidFill>
                            <a:srgbClr val="2C5F2D"/>
                          </a:solidFill>
                          <a:latin typeface="Calibri"/>
                        </a:rPr>
                        <a:t>+0.50</a:t>
                      </a:r>
                    </a:p>
                  </a:txBody>
                  <a:tcPr anchor="ctr" marL="54864" marR="54864" marT="0" marB="0">
                    <a:solidFill>
                      <a:srgbClr val="FFFFFF"/>
                    </a:solidFill>
                  </a:tcPr>
                </a:tc>
                <a:tc>
                  <a:txBody>
                    <a:bodyPr/>
                    <a:lstStyle/>
                    <a:p>
                      <a:r>
                        <a:rPr sz="1350" b="0">
                          <a:solidFill>
                            <a:srgbClr val="2C5F2D"/>
                          </a:solidFill>
                          <a:latin typeface="Calibri"/>
                        </a:rPr>
                        <a:t>+0.80</a:t>
                      </a:r>
                    </a:p>
                  </a:txBody>
                  <a:tcPr anchor="ctr" marL="54864" marR="54864" marT="0" marB="0">
                    <a:solidFill>
                      <a:srgbClr val="FFFFFF"/>
                    </a:solidFill>
                  </a:tcPr>
                </a:tc>
                <a:tc>
                  <a:txBody>
                    <a:bodyPr/>
                    <a:lstStyle/>
                    <a:p>
                      <a:r>
                        <a:rPr sz="1350" b="0">
                          <a:solidFill>
                            <a:srgbClr val="222222"/>
                          </a:solidFill>
                          <a:latin typeface="Calibri"/>
                        </a:rPr>
                        <a:t>crossover</a:t>
                      </a:r>
                    </a:p>
                  </a:txBody>
                  <a:tcPr anchor="ctr" marL="54864" marR="54864" marT="0" marB="0">
                    <a:solidFill>
                      <a:srgbClr val="FFFFFF"/>
                    </a:solidFill>
                  </a:tcPr>
                </a:tc>
              </a:tr>
              <a:tr h="384048">
                <a:tc>
                  <a:txBody>
                    <a:bodyPr/>
                    <a:lstStyle/>
                    <a:p>
                      <a:r>
                        <a:rPr sz="1350" b="0">
                          <a:solidFill>
                            <a:srgbClr val="222222"/>
                          </a:solidFill>
                          <a:latin typeface="Calibri"/>
                        </a:rPr>
                        <a:t>1.000</a:t>
                      </a:r>
                    </a:p>
                  </a:txBody>
                  <a:tcPr anchor="ctr" marL="54864" marR="54864" marT="0" marB="0">
                    <a:solidFill>
                      <a:srgbClr val="FFFFFF"/>
                    </a:solidFill>
                  </a:tcPr>
                </a:tc>
                <a:tc>
                  <a:txBody>
                    <a:bodyPr/>
                    <a:lstStyle/>
                    <a:p>
                      <a:r>
                        <a:rPr sz="1350" b="0">
                          <a:solidFill>
                            <a:srgbClr val="2C5F2D"/>
                          </a:solidFill>
                          <a:latin typeface="Calibri"/>
                        </a:rPr>
                        <a:t>+0.80</a:t>
                      </a:r>
                    </a:p>
                  </a:txBody>
                  <a:tcPr anchor="ctr" marL="54864" marR="54864" marT="0" marB="0">
                    <a:solidFill>
                      <a:srgbClr val="FFFFFF"/>
                    </a:solidFill>
                  </a:tcPr>
                </a:tc>
                <a:tc>
                  <a:txBody>
                    <a:bodyPr/>
                    <a:lstStyle/>
                    <a:p>
                      <a:r>
                        <a:rPr sz="1350" b="0">
                          <a:solidFill>
                            <a:srgbClr val="2C5F2D"/>
                          </a:solidFill>
                          <a:latin typeface="Calibri"/>
                        </a:rPr>
                        <a:t>+0.80</a:t>
                      </a:r>
                    </a:p>
                  </a:txBody>
                  <a:tcPr anchor="ctr" marL="54864" marR="54864" marT="0" marB="0">
                    <a:solidFill>
                      <a:srgbClr val="FFFFFF"/>
                    </a:solidFill>
                  </a:tcPr>
                </a:tc>
                <a:tc>
                  <a:txBody>
                    <a:bodyPr/>
                    <a:lstStyle/>
                    <a:p>
                      <a:r>
                        <a:rPr sz="1350" b="0">
                          <a:solidFill>
                            <a:srgbClr val="2C5F2D"/>
                          </a:solidFill>
                          <a:latin typeface="Calibri"/>
                        </a:rPr>
                        <a:t>+1.00</a:t>
                      </a:r>
                    </a:p>
                  </a:txBody>
                  <a:tcPr anchor="ctr" marL="54864" marR="54864" marT="0" marB="0">
                    <a:solidFill>
                      <a:srgbClr val="FFFFFF"/>
                    </a:solidFill>
                  </a:tcPr>
                </a:tc>
                <a:tc>
                  <a:txBody>
                    <a:bodyPr/>
                    <a:lstStyle/>
                    <a:p>
                      <a:r>
                        <a:rPr sz="1350" b="0">
                          <a:solidFill>
                            <a:srgbClr val="2C5F2D"/>
                          </a:solidFill>
                          <a:latin typeface="Calibri"/>
                        </a:rPr>
                        <a:t>+0.90</a:t>
                      </a:r>
                    </a:p>
                  </a:txBody>
                  <a:tcPr anchor="ctr" marL="54864" marR="54864" marT="0" marB="0">
                    <a:solidFill>
                      <a:srgbClr val="FFFFFF"/>
                    </a:solidFill>
                  </a:tcPr>
                </a:tc>
                <a:tc>
                  <a:txBody>
                    <a:bodyPr/>
                    <a:lstStyle/>
                    <a:p>
                      <a:r>
                        <a:rPr sz="1350" b="0">
                          <a:solidFill>
                            <a:srgbClr val="222222"/>
                          </a:solidFill>
                          <a:latin typeface="Calibri"/>
                        </a:rPr>
                        <a:t>half filling</a:t>
                      </a:r>
                    </a:p>
                  </a:txBody>
                  <a:tcPr anchor="ctr" marL="54864" marR="54864" marT="0" marB="0">
                    <a:solidFill>
                      <a:srgbClr val="FFFFFF"/>
                    </a:solidFill>
                  </a:tcPr>
                </a:tc>
              </a:tr>
            </a:tbl>
          </a:graphicData>
        </a:graphic>
      </p:graphicFrame>
      <p:sp>
        <p:nvSpPr>
          <p:cNvPr id="5" name="Rounded Rectangle 4"/>
          <p:cNvSpPr/>
          <p:nvPr/>
        </p:nvSpPr>
        <p:spPr>
          <a:xfrm>
            <a:off x="9235440" y="1463040"/>
            <a:ext cx="2468880" cy="30632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0" y="1645920"/>
            <a:ext cx="2103120" cy="2788920"/>
          </a:xfrm>
          <a:prstGeom prst="rect">
            <a:avLst/>
          </a:prstGeom>
          <a:noFill/>
        </p:spPr>
        <p:txBody>
          <a:bodyPr wrap="square">
            <a:spAutoFit/>
          </a:bodyPr>
          <a:lstStyle/>
          <a:p>
            <a:pPr algn="l">
              <a:spcAft>
                <a:spcPts val="800"/>
              </a:spcAft>
            </a:pPr>
            <a:r>
              <a:rPr sz="1400" b="1">
                <a:solidFill>
                  <a:srgbClr val="1E2761"/>
                </a:solidFill>
                <a:latin typeface="Calibri"/>
              </a:rPr>
              <a:t>Same sign structure at every U.</a:t>
            </a:r>
          </a:p>
          <a:p>
            <a:pPr algn="l">
              <a:spcAft>
                <a:spcPts val="800"/>
              </a:spcAft>
            </a:pPr>
            <a:r>
              <a:rPr sz="1250" b="0">
                <a:solidFill>
                  <a:srgbClr val="B85042"/>
                </a:solidFill>
                <a:latin typeface="Calibri"/>
              </a:rPr>
              <a:t>Negative wherever the system is doped.</a:t>
            </a:r>
          </a:p>
          <a:p>
            <a:pPr algn="l">
              <a:spcAft>
                <a:spcPts val="800"/>
              </a:spcAft>
            </a:pPr>
            <a:r>
              <a:rPr sz="1250" b="0">
                <a:solidFill>
                  <a:srgbClr val="2C5F2D"/>
                </a:solidFill>
                <a:latin typeface="Calibri"/>
              </a:rPr>
              <a:t>Positive at half filling.</a:t>
            </a:r>
          </a:p>
          <a:p>
            <a:pPr algn="l">
              <a:spcAft>
                <a:spcPts val="800"/>
              </a:spcAft>
            </a:pPr>
            <a:r>
              <a:rPr sz="1250" b="0">
                <a:solidFill>
                  <a:srgbClr val="222222"/>
                </a:solidFill>
                <a:latin typeface="Calibri"/>
              </a:rPr>
              <a:t>Four independent interaction strengths agree.</a:t>
            </a:r>
          </a:p>
        </p:txBody>
      </p:sp>
      <p:sp>
        <p:nvSpPr>
          <p:cNvPr id="7" name="TextBox 6"/>
          <p:cNvSpPr txBox="1"/>
          <p:nvPr/>
        </p:nvSpPr>
        <p:spPr>
          <a:xfrm>
            <a:off x="502920" y="4709160"/>
            <a:ext cx="11155680" cy="914400"/>
          </a:xfrm>
          <a:prstGeom prst="rect">
            <a:avLst/>
          </a:prstGeom>
          <a:noFill/>
        </p:spPr>
        <p:txBody>
          <a:bodyPr wrap="square">
            <a:spAutoFit/>
          </a:bodyPr>
          <a:lstStyle/>
          <a:p>
            <a:pPr algn="l">
              <a:spcAft>
                <a:spcPts val="400"/>
              </a:spcAft>
            </a:pPr>
            <a:r>
              <a:rPr sz="1500" b="1">
                <a:solidFill>
                  <a:srgbClr val="1E2761"/>
                </a:solidFill>
                <a:latin typeface="Calibri"/>
              </a:rPr>
              <a:t>This is the mechanism.</a:t>
            </a:r>
          </a:p>
          <a:p>
            <a:pPr algn="l">
              <a:spcAft>
                <a:spcPts val="400"/>
              </a:spcAft>
            </a:pPr>
            <a:r>
              <a:rPr sz="1450" b="0">
                <a:solidFill>
                  <a:srgbClr val="222222"/>
                </a:solidFill>
                <a:latin typeface="Calibri"/>
              </a:rPr>
              <a:t>The order parameter carries d(xy) symmetry, so it suppresses the d(xy) pairing channel. That the correlation reverses sign at half filling, at every U independently, is what makes this a property of the magnetic order rather than of δ alone.</a:t>
            </a:r>
          </a:p>
        </p:txBody>
      </p:sp>
      <p:sp>
        <p:nvSpPr>
          <p:cNvPr id="8" name="TextBox 7"/>
          <p:cNvSpPr txBox="1"/>
          <p:nvPr/>
        </p:nvSpPr>
        <p:spPr>
          <a:xfrm>
            <a:off x="502920" y="5760720"/>
            <a:ext cx="11155680" cy="777240"/>
          </a:xfrm>
          <a:prstGeom prst="rect">
            <a:avLst/>
          </a:prstGeom>
          <a:noFill/>
        </p:spPr>
        <p:txBody>
          <a:bodyPr wrap="square">
            <a:spAutoFit/>
          </a:bodyPr>
          <a:lstStyle/>
          <a:p>
            <a:pPr algn="l"/>
            <a:r>
              <a:rPr sz="1350" b="0">
                <a:solidFill>
                  <a:srgbClr val="5A5A5A"/>
                </a:solidFill>
                <a:latin typeface="Calibri"/>
              </a:rPr>
              <a:t>One limit worth stating: pooling all four U values together, the correlation survives at n ≤ 0.667 (ρ = −0.92, −0.80, −0.62) but not at n = 0.778. So m_AM is not yet a single universal variable, since the magnitude still depends on 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Point 7: the spectral function needs ALF</a:t>
            </a:r>
          </a:p>
        </p:txBody>
      </p:sp>
      <p:sp>
        <p:nvSpPr>
          <p:cNvPr id="3" name="TextBox 2"/>
          <p:cNvSpPr txBox="1"/>
          <p:nvPr/>
        </p:nvSpPr>
        <p:spPr>
          <a:xfrm>
            <a:off x="502920" y="960120"/>
            <a:ext cx="11155680" cy="365760"/>
          </a:xfrm>
          <a:prstGeom prst="rect">
            <a:avLst/>
          </a:prstGeom>
          <a:noFill/>
        </p:spPr>
        <p:txBody>
          <a:bodyPr wrap="square">
            <a:spAutoFit/>
          </a:bodyPr>
          <a:lstStyle/>
          <a:p>
            <a:pPr algn="l"/>
            <a:r>
              <a:rPr sz="1300" b="0">
                <a:solidFill>
                  <a:srgbClr val="5A5A5A"/>
                </a:solidFill>
                <a:latin typeface="Calibri"/>
              </a:rPr>
              <a:t>Investigated, machinery built and validated, and the limit measured rather than guessed.</a:t>
            </a:r>
          </a:p>
        </p:txBody>
      </p:sp>
      <p:sp>
        <p:nvSpPr>
          <p:cNvPr id="4" name="TextBox 3"/>
          <p:cNvSpPr txBox="1"/>
          <p:nvPr/>
        </p:nvSpPr>
        <p:spPr>
          <a:xfrm>
            <a:off x="502920" y="1371600"/>
            <a:ext cx="5029200" cy="274320"/>
          </a:xfrm>
          <a:prstGeom prst="rect">
            <a:avLst/>
          </a:prstGeom>
          <a:noFill/>
        </p:spPr>
        <p:txBody>
          <a:bodyPr wrap="square">
            <a:spAutoFit/>
          </a:bodyPr>
          <a:lstStyle/>
          <a:p>
            <a:pPr algn="l"/>
            <a:r>
              <a:rPr sz="1300" b="1">
                <a:solidFill>
                  <a:srgbClr val="1E2761"/>
                </a:solidFill>
                <a:latin typeface="Calibri"/>
              </a:rPr>
              <a:t>Signal-to-noise of G(k, τ)</a:t>
            </a:r>
          </a:p>
        </p:txBody>
      </p:sp>
      <p:graphicFrame>
        <p:nvGraphicFramePr>
          <p:cNvPr id="5" name="Table 4"/>
          <p:cNvGraphicFramePr>
            <a:graphicFrameLocks noGrp="1"/>
          </p:cNvGraphicFramePr>
          <p:nvPr/>
        </p:nvGraphicFramePr>
        <p:xfrm>
          <a:off x="502920" y="1737360"/>
          <a:ext cx="5029199" cy="1645920"/>
        </p:xfrm>
        <a:graphic>
          <a:graphicData uri="http://schemas.openxmlformats.org/drawingml/2006/table">
            <a:tbl>
              <a:tblPr firstRow="1" bandRow="1">
                <a:tableStyleId>{5C22544A-7EE6-4342-B048-85BDC9FD1C3A}</a:tableStyleId>
              </a:tblPr>
              <a:tblGrid>
                <a:gridCol w="914400"/>
                <a:gridCol w="1024128"/>
                <a:gridCol w="1024128"/>
                <a:gridCol w="1024128"/>
                <a:gridCol w="1042415"/>
              </a:tblGrid>
              <a:tr h="274320">
                <a:tc>
                  <a:txBody>
                    <a:bodyPr/>
                    <a:lstStyle/>
                    <a:p>
                      <a:r>
                        <a:rPr sz="1250" b="1">
                          <a:solidFill>
                            <a:srgbClr val="1E2761"/>
                          </a:solidFill>
                          <a:latin typeface="Calibri"/>
                        </a:rPr>
                        <a:t>τ</a:t>
                      </a:r>
                    </a:p>
                  </a:txBody>
                  <a:tcPr anchor="ctr" marL="54864" marR="54864" marT="0" marB="0">
                    <a:solidFill>
                      <a:srgbClr val="EEF2F7"/>
                    </a:solidFill>
                  </a:tcPr>
                </a:tc>
                <a:tc>
                  <a:txBody>
                    <a:bodyPr/>
                    <a:lstStyle/>
                    <a:p>
                      <a:r>
                        <a:rPr sz="1250" b="1">
                          <a:solidFill>
                            <a:srgbClr val="1E2761"/>
                          </a:solidFill>
                          <a:latin typeface="Calibri"/>
                        </a:rPr>
                        <a:t>k(0,0)</a:t>
                      </a:r>
                    </a:p>
                  </a:txBody>
                  <a:tcPr anchor="ctr" marL="54864" marR="54864" marT="0" marB="0">
                    <a:solidFill>
                      <a:srgbClr val="EEF2F7"/>
                    </a:solidFill>
                  </a:tcPr>
                </a:tc>
                <a:tc>
                  <a:txBody>
                    <a:bodyPr/>
                    <a:lstStyle/>
                    <a:p>
                      <a:r>
                        <a:rPr sz="1250" b="1">
                          <a:solidFill>
                            <a:srgbClr val="1E2761"/>
                          </a:solidFill>
                          <a:latin typeface="Calibri"/>
                        </a:rPr>
                        <a:t>k(1,1)</a:t>
                      </a:r>
                    </a:p>
                  </a:txBody>
                  <a:tcPr anchor="ctr" marL="54864" marR="54864" marT="0" marB="0">
                    <a:solidFill>
                      <a:srgbClr val="EEF2F7"/>
                    </a:solidFill>
                  </a:tcPr>
                </a:tc>
                <a:tc>
                  <a:txBody>
                    <a:bodyPr/>
                    <a:lstStyle/>
                    <a:p>
                      <a:r>
                        <a:rPr sz="1250" b="1">
                          <a:solidFill>
                            <a:srgbClr val="1E2761"/>
                          </a:solidFill>
                          <a:latin typeface="Calibri"/>
                        </a:rPr>
                        <a:t>k(3,3)</a:t>
                      </a:r>
                    </a:p>
                  </a:txBody>
                  <a:tcPr anchor="ctr" marL="54864" marR="54864" marT="0" marB="0">
                    <a:solidFill>
                      <a:srgbClr val="EEF2F7"/>
                    </a:solidFill>
                  </a:tcPr>
                </a:tc>
                <a:tc>
                  <a:txBody>
                    <a:bodyPr/>
                    <a:lstStyle/>
                    <a:p>
                      <a:r>
                        <a:rPr sz="1250" b="1">
                          <a:solidFill>
                            <a:srgbClr val="1E2761"/>
                          </a:solidFill>
                          <a:latin typeface="Calibri"/>
                        </a:rPr>
                        <a:t>k(2,4)</a:t>
                      </a:r>
                    </a:p>
                  </a:txBody>
                  <a:tcPr anchor="ctr" marL="54864" marR="54864" marT="0" marB="0">
                    <a:solidFill>
                      <a:srgbClr val="EEF2F7"/>
                    </a:solidFill>
                  </a:tcPr>
                </a:tc>
              </a:tr>
              <a:tr h="274320">
                <a:tc>
                  <a:txBody>
                    <a:bodyPr/>
                    <a:lstStyle/>
                    <a:p>
                      <a:r>
                        <a:rPr sz="1250" b="0">
                          <a:solidFill>
                            <a:srgbClr val="222222"/>
                          </a:solidFill>
                          <a:latin typeface="Calibri"/>
                        </a:rPr>
                        <a:t>0.0</a:t>
                      </a:r>
                    </a:p>
                  </a:txBody>
                  <a:tcPr anchor="ctr" marL="54864" marR="54864" marT="0" marB="0">
                    <a:solidFill>
                      <a:srgbClr val="FFFFFF"/>
                    </a:solidFill>
                  </a:tcPr>
                </a:tc>
                <a:tc>
                  <a:txBody>
                    <a:bodyPr/>
                    <a:lstStyle/>
                    <a:p>
                      <a:r>
                        <a:rPr sz="1250" b="0">
                          <a:solidFill>
                            <a:srgbClr val="222222"/>
                          </a:solidFill>
                          <a:latin typeface="Calibri"/>
                        </a:rPr>
                        <a:t>7.7</a:t>
                      </a:r>
                    </a:p>
                  </a:txBody>
                  <a:tcPr anchor="ctr" marL="54864" marR="54864" marT="0" marB="0">
                    <a:solidFill>
                      <a:srgbClr val="FFFFFF"/>
                    </a:solidFill>
                  </a:tcPr>
                </a:tc>
                <a:tc>
                  <a:txBody>
                    <a:bodyPr/>
                    <a:lstStyle/>
                    <a:p>
                      <a:r>
                        <a:rPr sz="1250" b="0">
                          <a:solidFill>
                            <a:srgbClr val="222222"/>
                          </a:solidFill>
                          <a:latin typeface="Calibri"/>
                        </a:rPr>
                        <a:t>11.8</a:t>
                      </a:r>
                    </a:p>
                  </a:txBody>
                  <a:tcPr anchor="ctr" marL="54864" marR="54864" marT="0" marB="0">
                    <a:solidFill>
                      <a:srgbClr val="FFFFFF"/>
                    </a:solidFill>
                  </a:tcPr>
                </a:tc>
                <a:tc>
                  <a:txBody>
                    <a:bodyPr/>
                    <a:lstStyle/>
                    <a:p>
                      <a:r>
                        <a:rPr sz="1250" b="0">
                          <a:solidFill>
                            <a:srgbClr val="222222"/>
                          </a:solidFill>
                          <a:latin typeface="Calibri"/>
                        </a:rPr>
                        <a:t>356</a:t>
                      </a:r>
                    </a:p>
                  </a:txBody>
                  <a:tcPr anchor="ctr" marL="54864" marR="54864" marT="0" marB="0">
                    <a:solidFill>
                      <a:srgbClr val="FFFFFF"/>
                    </a:solidFill>
                  </a:tcPr>
                </a:tc>
                <a:tc>
                  <a:txBody>
                    <a:bodyPr/>
                    <a:lstStyle/>
                    <a:p>
                      <a:r>
                        <a:rPr sz="1250" b="0">
                          <a:solidFill>
                            <a:srgbClr val="222222"/>
                          </a:solidFill>
                          <a:latin typeface="Calibri"/>
                        </a:rPr>
                        <a:t>239</a:t>
                      </a:r>
                    </a:p>
                  </a:txBody>
                  <a:tcPr anchor="ctr" marL="54864" marR="54864" marT="0" marB="0">
                    <a:solidFill>
                      <a:srgbClr val="FFFFFF"/>
                    </a:solidFill>
                  </a:tcPr>
                </a:tc>
              </a:tr>
              <a:tr h="274320">
                <a:tc>
                  <a:txBody>
                    <a:bodyPr/>
                    <a:lstStyle/>
                    <a:p>
                      <a:r>
                        <a:rPr sz="1250" b="0">
                          <a:solidFill>
                            <a:srgbClr val="222222"/>
                          </a:solidFill>
                          <a:latin typeface="Calibri"/>
                        </a:rPr>
                        <a:t>0.5</a:t>
                      </a:r>
                    </a:p>
                  </a:txBody>
                  <a:tcPr anchor="ctr" marL="54864" marR="54864" marT="0" marB="0">
                    <a:solidFill>
                      <a:srgbClr val="FFFFFF"/>
                    </a:solidFill>
                  </a:tcPr>
                </a:tc>
                <a:tc>
                  <a:txBody>
                    <a:bodyPr/>
                    <a:lstStyle/>
                    <a:p>
                      <a:r>
                        <a:rPr sz="1250" b="0">
                          <a:solidFill>
                            <a:srgbClr val="222222"/>
                          </a:solidFill>
                          <a:latin typeface="Calibri"/>
                        </a:rPr>
                        <a:t>2.6</a:t>
                      </a:r>
                    </a:p>
                  </a:txBody>
                  <a:tcPr anchor="ctr" marL="54864" marR="54864" marT="0" marB="0">
                    <a:solidFill>
                      <a:srgbClr val="FFFFFF"/>
                    </a:solidFill>
                  </a:tcPr>
                </a:tc>
                <a:tc>
                  <a:txBody>
                    <a:bodyPr/>
                    <a:lstStyle/>
                    <a:p>
                      <a:r>
                        <a:rPr sz="1250" b="0">
                          <a:solidFill>
                            <a:srgbClr val="222222"/>
                          </a:solidFill>
                          <a:latin typeface="Calibri"/>
                        </a:rPr>
                        <a:t>3.7</a:t>
                      </a:r>
                    </a:p>
                  </a:txBody>
                  <a:tcPr anchor="ctr" marL="54864" marR="54864" marT="0" marB="0">
                    <a:solidFill>
                      <a:srgbClr val="FFFFFF"/>
                    </a:solidFill>
                  </a:tcPr>
                </a:tc>
                <a:tc>
                  <a:txBody>
                    <a:bodyPr/>
                    <a:lstStyle/>
                    <a:p>
                      <a:r>
                        <a:rPr sz="1250" b="0">
                          <a:solidFill>
                            <a:srgbClr val="222222"/>
                          </a:solidFill>
                          <a:latin typeface="Calibri"/>
                        </a:rPr>
                        <a:t>11.0</a:t>
                      </a:r>
                    </a:p>
                  </a:txBody>
                  <a:tcPr anchor="ctr" marL="54864" marR="54864" marT="0" marB="0">
                    <a:solidFill>
                      <a:srgbClr val="FFFFFF"/>
                    </a:solidFill>
                  </a:tcPr>
                </a:tc>
                <a:tc>
                  <a:txBody>
                    <a:bodyPr/>
                    <a:lstStyle/>
                    <a:p>
                      <a:r>
                        <a:rPr sz="1250" b="0">
                          <a:solidFill>
                            <a:srgbClr val="222222"/>
                          </a:solidFill>
                          <a:latin typeface="Calibri"/>
                        </a:rPr>
                        <a:t>48.9</a:t>
                      </a:r>
                    </a:p>
                  </a:txBody>
                  <a:tcPr anchor="ctr" marL="54864" marR="54864" marT="0" marB="0">
                    <a:solidFill>
                      <a:srgbClr val="FFFFFF"/>
                    </a:solidFill>
                  </a:tcPr>
                </a:tc>
              </a:tr>
              <a:tr h="274320">
                <a:tc>
                  <a:txBody>
                    <a:bodyPr/>
                    <a:lstStyle/>
                    <a:p>
                      <a:r>
                        <a:rPr sz="1250" b="0">
                          <a:solidFill>
                            <a:srgbClr val="222222"/>
                          </a:solidFill>
                          <a:latin typeface="Calibri"/>
                        </a:rPr>
                        <a:t>1.0</a:t>
                      </a:r>
                    </a:p>
                  </a:txBody>
                  <a:tcPr anchor="ctr" marL="54864" marR="54864" marT="0" marB="0">
                    <a:solidFill>
                      <a:srgbClr val="FFFFFF"/>
                    </a:solidFill>
                  </a:tcPr>
                </a:tc>
                <a:tc>
                  <a:txBody>
                    <a:bodyPr/>
                    <a:lstStyle/>
                    <a:p>
                      <a:r>
                        <a:rPr sz="1250" b="0">
                          <a:solidFill>
                            <a:srgbClr val="222222"/>
                          </a:solidFill>
                          <a:latin typeface="Calibri"/>
                        </a:rPr>
                        <a:t>0.5</a:t>
                      </a:r>
                    </a:p>
                  </a:txBody>
                  <a:tcPr anchor="ctr" marL="54864" marR="54864" marT="0" marB="0">
                    <a:solidFill>
                      <a:srgbClr val="FFFFFF"/>
                    </a:solidFill>
                  </a:tcPr>
                </a:tc>
                <a:tc>
                  <a:txBody>
                    <a:bodyPr/>
                    <a:lstStyle/>
                    <a:p>
                      <a:r>
                        <a:rPr sz="1250" b="0">
                          <a:solidFill>
                            <a:srgbClr val="B85042"/>
                          </a:solidFill>
                          <a:latin typeface="Calibri"/>
                        </a:rPr>
                        <a:t>−0.4</a:t>
                      </a:r>
                    </a:p>
                  </a:txBody>
                  <a:tcPr anchor="ctr" marL="54864" marR="54864" marT="0" marB="0">
                    <a:solidFill>
                      <a:srgbClr val="FFFFFF"/>
                    </a:solidFill>
                  </a:tcPr>
                </a:tc>
                <a:tc>
                  <a:txBody>
                    <a:bodyPr/>
                    <a:lstStyle/>
                    <a:p>
                      <a:r>
                        <a:rPr sz="1250" b="0">
                          <a:solidFill>
                            <a:srgbClr val="222222"/>
                          </a:solidFill>
                          <a:latin typeface="Calibri"/>
                        </a:rPr>
                        <a:t>0.7</a:t>
                      </a:r>
                    </a:p>
                  </a:txBody>
                  <a:tcPr anchor="ctr" marL="54864" marR="54864" marT="0" marB="0">
                    <a:solidFill>
                      <a:srgbClr val="FFFFFF"/>
                    </a:solidFill>
                  </a:tcPr>
                </a:tc>
                <a:tc>
                  <a:txBody>
                    <a:bodyPr/>
                    <a:lstStyle/>
                    <a:p>
                      <a:r>
                        <a:rPr sz="1250" b="0">
                          <a:solidFill>
                            <a:srgbClr val="222222"/>
                          </a:solidFill>
                          <a:latin typeface="Calibri"/>
                        </a:rPr>
                        <a:t>14.3</a:t>
                      </a:r>
                    </a:p>
                  </a:txBody>
                  <a:tcPr anchor="ctr" marL="54864" marR="54864" marT="0" marB="0">
                    <a:solidFill>
                      <a:srgbClr val="FFFFFF"/>
                    </a:solidFill>
                  </a:tcPr>
                </a:tc>
              </a:tr>
              <a:tr h="274320">
                <a:tc>
                  <a:txBody>
                    <a:bodyPr/>
                    <a:lstStyle/>
                    <a:p>
                      <a:r>
                        <a:rPr sz="1250" b="0">
                          <a:solidFill>
                            <a:srgbClr val="222222"/>
                          </a:solidFill>
                          <a:latin typeface="Calibri"/>
                        </a:rPr>
                        <a:t>2.4</a:t>
                      </a:r>
                    </a:p>
                  </a:txBody>
                  <a:tcPr anchor="ctr" marL="54864" marR="54864" marT="0" marB="0">
                    <a:solidFill>
                      <a:srgbClr val="FFFFFF"/>
                    </a:solidFill>
                  </a:tcPr>
                </a:tc>
                <a:tc>
                  <a:txBody>
                    <a:bodyPr/>
                    <a:lstStyle/>
                    <a:p>
                      <a:r>
                        <a:rPr sz="1250" b="0">
                          <a:solidFill>
                            <a:srgbClr val="222222"/>
                          </a:solidFill>
                          <a:latin typeface="Calibri"/>
                        </a:rPr>
                        <a:t>1.0</a:t>
                      </a:r>
                    </a:p>
                  </a:txBody>
                  <a:tcPr anchor="ctr" marL="54864" marR="54864" marT="0" marB="0">
                    <a:solidFill>
                      <a:srgbClr val="FFFFFF"/>
                    </a:solidFill>
                  </a:tcPr>
                </a:tc>
                <a:tc>
                  <a:txBody>
                    <a:bodyPr/>
                    <a:lstStyle/>
                    <a:p>
                      <a:r>
                        <a:rPr sz="1250" b="0">
                          <a:solidFill>
                            <a:srgbClr val="222222"/>
                          </a:solidFill>
                          <a:latin typeface="Calibri"/>
                        </a:rPr>
                        <a:t>0.1</a:t>
                      </a:r>
                    </a:p>
                  </a:txBody>
                  <a:tcPr anchor="ctr" marL="54864" marR="54864" marT="0" marB="0">
                    <a:solidFill>
                      <a:srgbClr val="FFFFFF"/>
                    </a:solidFill>
                  </a:tcPr>
                </a:tc>
                <a:tc>
                  <a:txBody>
                    <a:bodyPr/>
                    <a:lstStyle/>
                    <a:p>
                      <a:r>
                        <a:rPr sz="1250" b="0">
                          <a:solidFill>
                            <a:srgbClr val="B85042"/>
                          </a:solidFill>
                          <a:latin typeface="Calibri"/>
                        </a:rPr>
                        <a:t>−0.5</a:t>
                      </a:r>
                    </a:p>
                  </a:txBody>
                  <a:tcPr anchor="ctr" marL="54864" marR="54864" marT="0" marB="0">
                    <a:solidFill>
                      <a:srgbClr val="FFFFFF"/>
                    </a:solidFill>
                  </a:tcPr>
                </a:tc>
                <a:tc>
                  <a:txBody>
                    <a:bodyPr/>
                    <a:lstStyle/>
                    <a:p>
                      <a:r>
                        <a:rPr sz="1250" b="0">
                          <a:solidFill>
                            <a:srgbClr val="222222"/>
                          </a:solidFill>
                          <a:latin typeface="Calibri"/>
                        </a:rPr>
                        <a:t>1.7</a:t>
                      </a:r>
                    </a:p>
                  </a:txBody>
                  <a:tcPr anchor="ctr" marL="54864" marR="54864" marT="0" marB="0">
                    <a:solidFill>
                      <a:srgbClr val="FFFFFF"/>
                    </a:solidFill>
                  </a:tcPr>
                </a:tc>
              </a:tr>
              <a:tr h="274320">
                <a:tc>
                  <a:txBody>
                    <a:bodyPr/>
                    <a:lstStyle/>
                    <a:p>
                      <a:r>
                        <a:rPr sz="1250" b="0">
                          <a:solidFill>
                            <a:srgbClr val="222222"/>
                          </a:solidFill>
                          <a:latin typeface="Calibri"/>
                        </a:rPr>
                        <a:t>4.0</a:t>
                      </a:r>
                    </a:p>
                  </a:txBody>
                  <a:tcPr anchor="ctr" marL="54864" marR="54864" marT="0" marB="0">
                    <a:solidFill>
                      <a:srgbClr val="FFFFFF"/>
                    </a:solidFill>
                  </a:tcPr>
                </a:tc>
                <a:tc>
                  <a:txBody>
                    <a:bodyPr/>
                    <a:lstStyle/>
                    <a:p>
                      <a:r>
                        <a:rPr sz="1250" b="0">
                          <a:solidFill>
                            <a:srgbClr val="222222"/>
                          </a:solidFill>
                          <a:latin typeface="Calibri"/>
                        </a:rPr>
                        <a:t>0.1</a:t>
                      </a:r>
                    </a:p>
                  </a:txBody>
                  <a:tcPr anchor="ctr" marL="54864" marR="54864" marT="0" marB="0">
                    <a:solidFill>
                      <a:srgbClr val="FFFFFF"/>
                    </a:solidFill>
                  </a:tcPr>
                </a:tc>
                <a:tc>
                  <a:txBody>
                    <a:bodyPr/>
                    <a:lstStyle/>
                    <a:p>
                      <a:r>
                        <a:rPr sz="1250" b="0">
                          <a:solidFill>
                            <a:srgbClr val="B85042"/>
                          </a:solidFill>
                          <a:latin typeface="Calibri"/>
                        </a:rPr>
                        <a:t>−0.9</a:t>
                      </a:r>
                    </a:p>
                  </a:txBody>
                  <a:tcPr anchor="ctr" marL="54864" marR="54864" marT="0" marB="0">
                    <a:solidFill>
                      <a:srgbClr val="FFFFFF"/>
                    </a:solidFill>
                  </a:tcPr>
                </a:tc>
                <a:tc>
                  <a:txBody>
                    <a:bodyPr/>
                    <a:lstStyle/>
                    <a:p>
                      <a:r>
                        <a:rPr sz="1250" b="0">
                          <a:solidFill>
                            <a:srgbClr val="B85042"/>
                          </a:solidFill>
                          <a:latin typeface="Calibri"/>
                        </a:rPr>
                        <a:t>−0.6</a:t>
                      </a:r>
                    </a:p>
                  </a:txBody>
                  <a:tcPr anchor="ctr" marL="54864" marR="54864" marT="0" marB="0">
                    <a:solidFill>
                      <a:srgbClr val="FFFFFF"/>
                    </a:solidFill>
                  </a:tcPr>
                </a:tc>
                <a:tc>
                  <a:txBody>
                    <a:bodyPr/>
                    <a:lstStyle/>
                    <a:p>
                      <a:r>
                        <a:rPr sz="1250" b="0">
                          <a:solidFill>
                            <a:srgbClr val="222222"/>
                          </a:solidFill>
                          <a:latin typeface="Calibri"/>
                        </a:rPr>
                        <a:t>0.4</a:t>
                      </a:r>
                    </a:p>
                  </a:txBody>
                  <a:tcPr anchor="ctr" marL="54864" marR="54864" marT="0" marB="0">
                    <a:solidFill>
                      <a:srgbClr val="FFFFFF"/>
                    </a:solidFill>
                  </a:tcPr>
                </a:tc>
              </a:tr>
            </a:tbl>
          </a:graphicData>
        </a:graphic>
      </p:graphicFrame>
      <p:sp>
        <p:nvSpPr>
          <p:cNvPr id="6" name="TextBox 5"/>
          <p:cNvSpPr txBox="1"/>
          <p:nvPr/>
        </p:nvSpPr>
        <p:spPr>
          <a:xfrm>
            <a:off x="5852160" y="1737360"/>
            <a:ext cx="5852160" cy="2926080"/>
          </a:xfrm>
          <a:prstGeom prst="rect">
            <a:avLst/>
          </a:prstGeom>
          <a:noFill/>
        </p:spPr>
        <p:txBody>
          <a:bodyPr wrap="square">
            <a:spAutoFit/>
          </a:bodyPr>
          <a:lstStyle/>
          <a:p>
            <a:pPr algn="l">
              <a:spcAft>
                <a:spcPts val="900"/>
              </a:spcAft>
            </a:pPr>
            <a:r>
              <a:rPr sz="1600" b="1">
                <a:solidFill>
                  <a:srgbClr val="B85042"/>
                </a:solidFill>
                <a:latin typeface="Calibri"/>
              </a:rPr>
              <a:t>Beyond τ ≈ 1 the signal is gone.</a:t>
            </a:r>
          </a:p>
          <a:p>
            <a:pPr algn="l">
              <a:spcAft>
                <a:spcPts val="900"/>
              </a:spcAft>
            </a:pPr>
            <a:r>
              <a:rPr sz="1350" b="0">
                <a:solidFill>
                  <a:srgbClr val="222222"/>
                </a:solidFill>
                <a:latin typeface="Calibri"/>
              </a:rPr>
              <a:t>G(k, τ) turns negative, which is impossible for a particle Green function. Reaching τ ≈ 3 would need roughly 10⁵ times more samples.</a:t>
            </a:r>
          </a:p>
          <a:p>
            <a:pPr algn="l">
              <a:spcAft>
                <a:spcPts val="900"/>
              </a:spcAft>
            </a:pPr>
            <a:r>
              <a:rPr sz="1350" b="0">
                <a:solidFill>
                  <a:srgbClr val="222222"/>
                </a:solidFill>
                <a:latin typeface="Calibri"/>
              </a:rPr>
              <a:t>This is the exponential signal-to-noise wall, not a tuning problem. ALF reaches τ = 10 because DQMC measures time-displaced Green functions directly instead of back-propagating walkers, which is very likely why the group's honeycomb spectral paper used it.</a:t>
            </a:r>
          </a:p>
        </p:txBody>
      </p:sp>
      <p:sp>
        <p:nvSpPr>
          <p:cNvPr id="7" name="TextBox 6"/>
          <p:cNvSpPr txBox="1"/>
          <p:nvPr/>
        </p:nvSpPr>
        <p:spPr>
          <a:xfrm>
            <a:off x="502920" y="4754880"/>
            <a:ext cx="11155680" cy="1097280"/>
          </a:xfrm>
          <a:prstGeom prst="rect">
            <a:avLst/>
          </a:prstGeom>
          <a:noFill/>
        </p:spPr>
        <p:txBody>
          <a:bodyPr wrap="square">
            <a:spAutoFit/>
          </a:bodyPr>
          <a:lstStyle/>
          <a:p>
            <a:pPr algn="l">
              <a:spcAft>
                <a:spcPts val="400"/>
              </a:spcAft>
            </a:pPr>
            <a:r>
              <a:rPr sz="1400" b="1">
                <a:solidFill>
                  <a:srgbClr val="1E2761"/>
                </a:solidFill>
                <a:latin typeface="Calibri"/>
              </a:rPr>
              <a:t>Delivered anyway:</a:t>
            </a:r>
          </a:p>
          <a:p>
            <a:pPr algn="l">
              <a:spcAft>
                <a:spcPts val="400"/>
              </a:spcAft>
            </a:pPr>
            <a:r>
              <a:rPr sz="1400" b="0">
                <a:solidFill>
                  <a:srgbClr val="222222"/>
                </a:solidFill>
                <a:latin typeface="Calibri"/>
              </a:rPr>
              <a:t>G(k,τ) extraction validated exact against the free bands at U = 0, a dispersion fit from the log-slope that needs no analytic continuation, and a working bridge that writes ALF Max_SAC g_dat input files. Ready if we take the ALF route.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Meeting points: 10 of 13 done</a:t>
            </a:r>
          </a:p>
        </p:txBody>
      </p:sp>
      <p:sp>
        <p:nvSpPr>
          <p:cNvPr id="3" name="Rounded Rectangle 2"/>
          <p:cNvSpPr/>
          <p:nvPr/>
        </p:nvSpPr>
        <p:spPr>
          <a:xfrm>
            <a:off x="502920" y="1188720"/>
            <a:ext cx="6675120" cy="4572000"/>
          </a:xfrm>
          <a:prstGeom prst="roundRect">
            <a:avLst/>
          </a:prstGeom>
          <a:solidFill>
            <a:srgbClr val="EA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25880"/>
            <a:ext cx="6126480" cy="365760"/>
          </a:xfrm>
          <a:prstGeom prst="rect">
            <a:avLst/>
          </a:prstGeom>
          <a:noFill/>
        </p:spPr>
        <p:txBody>
          <a:bodyPr wrap="square">
            <a:spAutoFit/>
          </a:bodyPr>
          <a:lstStyle/>
          <a:p>
            <a:pPr algn="l"/>
            <a:r>
              <a:rPr sz="1700" b="1">
                <a:solidFill>
                  <a:srgbClr val="2C5F2D"/>
                </a:solidFill>
                <a:latin typeface="Cambria"/>
              </a:rPr>
              <a:t>Completed</a:t>
            </a:r>
          </a:p>
        </p:txBody>
      </p:sp>
      <p:sp>
        <p:nvSpPr>
          <p:cNvPr id="5" name="TextBox 4"/>
          <p:cNvSpPr txBox="1"/>
          <p:nvPr/>
        </p:nvSpPr>
        <p:spPr>
          <a:xfrm>
            <a:off x="777240" y="1783080"/>
            <a:ext cx="6126480" cy="3840480"/>
          </a:xfrm>
          <a:prstGeom prst="rect">
            <a:avLst/>
          </a:prstGeom>
          <a:noFill/>
        </p:spPr>
        <p:txBody>
          <a:bodyPr wrap="square">
            <a:spAutoFit/>
          </a:bodyPr>
          <a:lstStyle/>
          <a:p>
            <a:pPr algn="l">
              <a:spcAft>
                <a:spcPts val="600"/>
              </a:spcAft>
            </a:pPr>
            <a:r>
              <a:rPr sz="1350" b="0">
                <a:solidFill>
                  <a:srgbClr val="222222"/>
                </a:solidFill>
                <a:latin typeface="Calibri"/>
              </a:rPr>
              <a:t>1    Closed-shell trial wavefunction</a:t>
            </a:r>
          </a:p>
          <a:p>
            <a:pPr algn="l">
              <a:spcAft>
                <a:spcPts val="600"/>
              </a:spcAft>
            </a:pPr>
            <a:r>
              <a:rPr sz="1350" b="0">
                <a:solidFill>
                  <a:srgbClr val="222222"/>
                </a:solidFill>
                <a:latin typeface="Calibri"/>
              </a:rPr>
              <a:t>2    s-wave and extended-s channels</a:t>
            </a:r>
          </a:p>
          <a:p>
            <a:pPr algn="l">
              <a:spcAft>
                <a:spcPts val="600"/>
              </a:spcAft>
            </a:pPr>
            <a:r>
              <a:rPr sz="1350" b="0">
                <a:solidFill>
                  <a:srgbClr val="222222"/>
                </a:solidFill>
                <a:latin typeface="Calibri"/>
              </a:rPr>
              <a:t>3    Susceptibility versus filling</a:t>
            </a:r>
          </a:p>
          <a:p>
            <a:pPr algn="l">
              <a:spcAft>
                <a:spcPts val="600"/>
              </a:spcAft>
            </a:pPr>
            <a:r>
              <a:rPr sz="1350" b="0">
                <a:solidFill>
                  <a:srgbClr val="222222"/>
                </a:solidFill>
                <a:latin typeface="Calibri"/>
              </a:rPr>
              <a:t>4    Γ versus max-q   —   answered: q = 0 (Γ)</a:t>
            </a:r>
          </a:p>
          <a:p>
            <a:pPr algn="l">
              <a:spcAft>
                <a:spcPts val="600"/>
              </a:spcAft>
            </a:pPr>
            <a:r>
              <a:rPr sz="1350" b="0">
                <a:solidFill>
                  <a:srgbClr val="222222"/>
                </a:solidFill>
                <a:latin typeface="Calibri"/>
              </a:rPr>
              <a:t>5    U = 0 and several U values</a:t>
            </a:r>
          </a:p>
          <a:p>
            <a:pPr algn="l">
              <a:spcAft>
                <a:spcPts val="600"/>
              </a:spcAft>
            </a:pPr>
            <a:r>
              <a:rPr sz="1350" b="0">
                <a:solidFill>
                  <a:srgbClr val="222222"/>
                </a:solidFill>
                <a:latin typeface="Calibri"/>
              </a:rPr>
              <a:t>6    Interaction-driven, not δ-driven</a:t>
            </a:r>
          </a:p>
          <a:p>
            <a:pPr algn="l">
              <a:spcAft>
                <a:spcPts val="600"/>
              </a:spcAft>
            </a:pPr>
            <a:r>
              <a:rPr sz="1350" b="0">
                <a:solidFill>
                  <a:srgbClr val="222222"/>
                </a:solidFill>
                <a:latin typeface="Calibri"/>
              </a:rPr>
              <a:t>9    Magnetic stability   —   δ suppresses the moment</a:t>
            </a:r>
          </a:p>
          <a:p>
            <a:pPr algn="l">
              <a:spcAft>
                <a:spcPts val="600"/>
              </a:spcAft>
            </a:pPr>
            <a:r>
              <a:rPr sz="1350" b="0">
                <a:solidFill>
                  <a:srgbClr val="222222"/>
                </a:solidFill>
                <a:latin typeface="Calibri"/>
              </a:rPr>
              <a:t>11   Pairing versus m_AM   —   confirmed at L = 12</a:t>
            </a:r>
          </a:p>
          <a:p>
            <a:pPr algn="l">
              <a:spcAft>
                <a:spcPts val="600"/>
              </a:spcAft>
            </a:pPr>
            <a:r>
              <a:rPr sz="1350" b="0">
                <a:solidFill>
                  <a:srgbClr val="222222"/>
                </a:solidFill>
                <a:latin typeface="Calibri"/>
              </a:rPr>
              <a:t>12   Finite-size stability   —   and it caught two errors</a:t>
            </a:r>
          </a:p>
          <a:p>
            <a:pPr algn="l">
              <a:spcAft>
                <a:spcPts val="600"/>
              </a:spcAft>
            </a:pPr>
            <a:r>
              <a:rPr sz="1350" b="0">
                <a:solidFill>
                  <a:srgbClr val="222222"/>
                </a:solidFill>
                <a:latin typeface="Calibri"/>
              </a:rPr>
              <a:t>13   Head-to-head channel comparison</a:t>
            </a:r>
          </a:p>
        </p:txBody>
      </p:sp>
      <p:sp>
        <p:nvSpPr>
          <p:cNvPr id="6" name="Rounded Rectangle 5"/>
          <p:cNvSpPr/>
          <p:nvPr/>
        </p:nvSpPr>
        <p:spPr>
          <a:xfrm>
            <a:off x="7498079" y="1188720"/>
            <a:ext cx="4206240" cy="45720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325880"/>
            <a:ext cx="3657600" cy="365760"/>
          </a:xfrm>
          <a:prstGeom prst="rect">
            <a:avLst/>
          </a:prstGeom>
          <a:noFill/>
        </p:spPr>
        <p:txBody>
          <a:bodyPr wrap="square">
            <a:spAutoFit/>
          </a:bodyPr>
          <a:lstStyle/>
          <a:p>
            <a:pPr algn="l"/>
            <a:r>
              <a:rPr sz="1700" b="1">
                <a:solidFill>
                  <a:srgbClr val="1E2761"/>
                </a:solidFill>
                <a:latin typeface="Cambria"/>
              </a:rPr>
              <a:t>Remaining</a:t>
            </a:r>
          </a:p>
        </p:txBody>
      </p:sp>
      <p:sp>
        <p:nvSpPr>
          <p:cNvPr id="8" name="TextBox 7"/>
          <p:cNvSpPr txBox="1"/>
          <p:nvPr/>
        </p:nvSpPr>
        <p:spPr>
          <a:xfrm>
            <a:off x="7772400" y="1783080"/>
            <a:ext cx="3657600" cy="1828800"/>
          </a:xfrm>
          <a:prstGeom prst="rect">
            <a:avLst/>
          </a:prstGeom>
          <a:noFill/>
        </p:spPr>
        <p:txBody>
          <a:bodyPr wrap="square">
            <a:spAutoFit/>
          </a:bodyPr>
          <a:lstStyle/>
          <a:p>
            <a:pPr algn="l">
              <a:spcAft>
                <a:spcPts val="600"/>
              </a:spcAft>
            </a:pPr>
            <a:r>
              <a:rPr sz="1350" b="0">
                <a:solidFill>
                  <a:srgbClr val="222222"/>
                </a:solidFill>
                <a:latin typeface="Calibri"/>
              </a:rPr>
              <a:t>7    Spectral function</a:t>
            </a:r>
          </a:p>
          <a:p>
            <a:pPr algn="l">
              <a:spcAft>
                <a:spcPts val="600"/>
              </a:spcAft>
            </a:pPr>
            <a:r>
              <a:rPr sz="1350" b="0">
                <a:solidFill>
                  <a:srgbClr val="222222"/>
                </a:solidFill>
                <a:latin typeface="Calibri"/>
              </a:rPr>
              <a:t>      — answered: needs ALF</a:t>
            </a:r>
          </a:p>
          <a:p>
            <a:pPr algn="l">
              <a:spcAft>
                <a:spcPts val="600"/>
              </a:spcAft>
            </a:pPr>
            <a:r>
              <a:rPr sz="1350" b="0">
                <a:solidFill>
                  <a:srgbClr val="222222"/>
                </a:solidFill>
                <a:latin typeface="Calibri"/>
              </a:rPr>
              <a:t>8    Equal-time vertex</a:t>
            </a:r>
          </a:p>
          <a:p>
            <a:pPr algn="l">
              <a:spcAft>
                <a:spcPts val="600"/>
              </a:spcAft>
            </a:pPr>
            <a:r>
              <a:rPr sz="1350" b="0">
                <a:solidFill>
                  <a:srgbClr val="222222"/>
                </a:solidFill>
                <a:latin typeface="Calibri"/>
              </a:rPr>
              <a:t>      — known CP-biased</a:t>
            </a:r>
          </a:p>
          <a:p>
            <a:pPr algn="l">
              <a:spcAft>
                <a:spcPts val="600"/>
              </a:spcAft>
            </a:pPr>
            <a:r>
              <a:rPr sz="1350" b="0">
                <a:solidFill>
                  <a:srgbClr val="222222"/>
                </a:solidFill>
                <a:latin typeface="Calibri"/>
              </a:rPr>
              <a:t>10   Novelty framing</a:t>
            </a:r>
          </a:p>
          <a:p>
            <a:pPr algn="l">
              <a:spcAft>
                <a:spcPts val="600"/>
              </a:spcAft>
            </a:pPr>
            <a:r>
              <a:rPr sz="1350" b="0">
                <a:solidFill>
                  <a:srgbClr val="222222"/>
                </a:solidFill>
                <a:latin typeface="Calibri"/>
              </a:rPr>
              <a:t>      — writing task</a:t>
            </a:r>
          </a:p>
        </p:txBody>
      </p:sp>
      <p:sp>
        <p:nvSpPr>
          <p:cNvPr id="9" name="TextBox 8"/>
          <p:cNvSpPr txBox="1"/>
          <p:nvPr/>
        </p:nvSpPr>
        <p:spPr>
          <a:xfrm>
            <a:off x="7772400" y="3886200"/>
            <a:ext cx="3657600" cy="1645920"/>
          </a:xfrm>
          <a:prstGeom prst="rect">
            <a:avLst/>
          </a:prstGeom>
          <a:noFill/>
        </p:spPr>
        <p:txBody>
          <a:bodyPr wrap="square">
            <a:spAutoFit/>
          </a:bodyPr>
          <a:lstStyle/>
          <a:p>
            <a:pPr algn="l"/>
            <a:r>
              <a:rPr sz="1300" b="0">
                <a:solidFill>
                  <a:srgbClr val="5A5A5A"/>
                </a:solidFill>
                <a:latin typeface="Calibri"/>
              </a:rPr>
              <a:t>None of the three needs new CPQMC. Point 7 needs a different code, point 8 is already understood and handled by using the integrated vertex, and point 10 is writing.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a:spAutoFit/>
          </a:bodyPr>
          <a:lstStyle/>
          <a:p>
            <a:pPr algn="l"/>
            <a:r>
              <a:rPr sz="2900" b="1">
                <a:solidFill>
                  <a:srgbClr val="1E2761"/>
                </a:solidFill>
                <a:latin typeface="Cambria"/>
              </a:rPr>
              <a:t>Manuscript: five sections, weighted toward pairing</a:t>
            </a:r>
          </a:p>
        </p:txBody>
      </p:sp>
      <p:sp>
        <p:nvSpPr>
          <p:cNvPr id="3" name="Oval 2"/>
          <p:cNvSpPr/>
          <p:nvPr/>
        </p:nvSpPr>
        <p:spPr>
          <a:xfrm>
            <a:off x="502920" y="1161288"/>
            <a:ext cx="493776" cy="49377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25296"/>
            <a:ext cx="493776" cy="365760"/>
          </a:xfrm>
          <a:prstGeom prst="rect">
            <a:avLst/>
          </a:prstGeom>
          <a:noFill/>
        </p:spPr>
        <p:txBody>
          <a:bodyPr wrap="square" lIns="0" rIns="0" tIns="0" bIns="0">
            <a:spAutoFit/>
          </a:bodyPr>
          <a:lstStyle/>
          <a:p>
            <a:pPr algn="ctr"/>
            <a:r>
              <a:rPr sz="1400" b="1">
                <a:solidFill>
                  <a:srgbClr val="FFFFFF"/>
                </a:solidFill>
                <a:latin typeface="Cambria"/>
              </a:rPr>
              <a:t>I</a:t>
            </a:r>
          </a:p>
        </p:txBody>
      </p:sp>
      <p:sp>
        <p:nvSpPr>
          <p:cNvPr id="5" name="TextBox 4"/>
          <p:cNvSpPr txBox="1"/>
          <p:nvPr/>
        </p:nvSpPr>
        <p:spPr>
          <a:xfrm>
            <a:off x="1188720" y="1124712"/>
            <a:ext cx="6035040" cy="310896"/>
          </a:xfrm>
          <a:prstGeom prst="rect">
            <a:avLst/>
          </a:prstGeom>
          <a:noFill/>
        </p:spPr>
        <p:txBody>
          <a:bodyPr wrap="square" lIns="0" rIns="0" tIns="0" bIns="0">
            <a:spAutoFit/>
          </a:bodyPr>
          <a:lstStyle/>
          <a:p>
            <a:pPr algn="l"/>
            <a:r>
              <a:rPr sz="1500" b="1">
                <a:solidFill>
                  <a:srgbClr val="1E2761"/>
                </a:solidFill>
                <a:latin typeface="Calibri"/>
              </a:rPr>
              <a:t>Introduction</a:t>
            </a:r>
          </a:p>
        </p:txBody>
      </p:sp>
      <p:sp>
        <p:nvSpPr>
          <p:cNvPr id="6" name="TextBox 5"/>
          <p:cNvSpPr txBox="1"/>
          <p:nvPr/>
        </p:nvSpPr>
        <p:spPr>
          <a:xfrm>
            <a:off x="1188720" y="1417320"/>
            <a:ext cx="8778240" cy="256032"/>
          </a:xfrm>
          <a:prstGeom prst="rect">
            <a:avLst/>
          </a:prstGeom>
          <a:noFill/>
        </p:spPr>
        <p:txBody>
          <a:bodyPr wrap="square" lIns="0" rIns="0" tIns="0" bIns="0">
            <a:spAutoFit/>
          </a:bodyPr>
          <a:lstStyle/>
          <a:p>
            <a:pPr algn="l"/>
            <a:r>
              <a:rPr sz="1050" b="0">
                <a:solidFill>
                  <a:srgbClr val="5A5A5A"/>
                </a:solidFill>
                <a:latin typeface="Calibri"/>
              </a:rPr>
              <a:t>What altermagnetism is  ·  how it has been modelled (imposed splitting, mean field)  ·  the gap</a:t>
            </a:r>
          </a:p>
        </p:txBody>
      </p:sp>
      <p:sp>
        <p:nvSpPr>
          <p:cNvPr id="7" name="TextBox 6"/>
          <p:cNvSpPr txBox="1"/>
          <p:nvPr/>
        </p:nvSpPr>
        <p:spPr>
          <a:xfrm>
            <a:off x="1188720" y="1636776"/>
            <a:ext cx="8778240" cy="256032"/>
          </a:xfrm>
          <a:prstGeom prst="rect">
            <a:avLst/>
          </a:prstGeom>
          <a:noFill/>
        </p:spPr>
        <p:txBody>
          <a:bodyPr wrap="square" lIns="0" rIns="0" tIns="0" bIns="0">
            <a:spAutoFit/>
          </a:bodyPr>
          <a:lstStyle/>
          <a:p>
            <a:pPr algn="l"/>
            <a:r>
              <a:rPr sz="1050" b="0">
                <a:solidFill>
                  <a:srgbClr val="5A5A5A"/>
                </a:solidFill>
                <a:latin typeface="Calibri"/>
              </a:rPr>
              <a:t>our model and method  ·  summary of results, closing on the central claim</a:t>
            </a:r>
          </a:p>
        </p:txBody>
      </p:sp>
      <p:sp>
        <p:nvSpPr>
          <p:cNvPr id="8" name="TextBox 7"/>
          <p:cNvSpPr txBox="1"/>
          <p:nvPr/>
        </p:nvSpPr>
        <p:spPr>
          <a:xfrm>
            <a:off x="10195560" y="1161288"/>
            <a:ext cx="914400" cy="274320"/>
          </a:xfrm>
          <a:prstGeom prst="rect">
            <a:avLst/>
          </a:prstGeom>
          <a:noFill/>
        </p:spPr>
        <p:txBody>
          <a:bodyPr wrap="square" lIns="0" rIns="0" tIns="0" bIns="0">
            <a:spAutoFit/>
          </a:bodyPr>
          <a:lstStyle/>
          <a:p>
            <a:pPr algn="r"/>
            <a:r>
              <a:rPr sz="1100" b="1">
                <a:solidFill>
                  <a:srgbClr val="1E2761"/>
                </a:solidFill>
                <a:latin typeface="Calibri"/>
              </a:rPr>
              <a:t>5 paragraphs</a:t>
            </a:r>
          </a:p>
        </p:txBody>
      </p:sp>
      <p:sp>
        <p:nvSpPr>
          <p:cNvPr id="9" name="TextBox 8"/>
          <p:cNvSpPr txBox="1"/>
          <p:nvPr/>
        </p:nvSpPr>
        <p:spPr>
          <a:xfrm>
            <a:off x="11155680" y="1161288"/>
            <a:ext cx="822960" cy="274320"/>
          </a:xfrm>
          <a:prstGeom prst="rect">
            <a:avLst/>
          </a:prstGeom>
          <a:noFill/>
        </p:spPr>
        <p:txBody>
          <a:bodyPr wrap="square" lIns="0" rIns="0" tIns="0" bIns="0">
            <a:spAutoFit/>
          </a:bodyPr>
          <a:lstStyle/>
          <a:p>
            <a:pPr algn="r"/>
            <a:r>
              <a:rPr sz="950" b="1">
                <a:solidFill>
                  <a:srgbClr val="5A5A5A"/>
                </a:solidFill>
                <a:latin typeface="Calibri"/>
              </a:rPr>
              <a:t>outline</a:t>
            </a:r>
          </a:p>
        </p:txBody>
      </p:sp>
      <p:sp>
        <p:nvSpPr>
          <p:cNvPr id="10" name="Oval 9"/>
          <p:cNvSpPr/>
          <p:nvPr/>
        </p:nvSpPr>
        <p:spPr>
          <a:xfrm>
            <a:off x="502920" y="2002536"/>
            <a:ext cx="493776" cy="49377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066543"/>
            <a:ext cx="493776" cy="365760"/>
          </a:xfrm>
          <a:prstGeom prst="rect">
            <a:avLst/>
          </a:prstGeom>
          <a:noFill/>
        </p:spPr>
        <p:txBody>
          <a:bodyPr wrap="square" lIns="0" rIns="0" tIns="0" bIns="0">
            <a:spAutoFit/>
          </a:bodyPr>
          <a:lstStyle/>
          <a:p>
            <a:pPr algn="ctr"/>
            <a:r>
              <a:rPr sz="1400" b="1">
                <a:solidFill>
                  <a:srgbClr val="FFFFFF"/>
                </a:solidFill>
                <a:latin typeface="Cambria"/>
              </a:rPr>
              <a:t>II</a:t>
            </a:r>
          </a:p>
        </p:txBody>
      </p:sp>
      <p:sp>
        <p:nvSpPr>
          <p:cNvPr id="12" name="TextBox 11"/>
          <p:cNvSpPr txBox="1"/>
          <p:nvPr/>
        </p:nvSpPr>
        <p:spPr>
          <a:xfrm>
            <a:off x="1188720" y="1965960"/>
            <a:ext cx="6035040" cy="310896"/>
          </a:xfrm>
          <a:prstGeom prst="rect">
            <a:avLst/>
          </a:prstGeom>
          <a:noFill/>
        </p:spPr>
        <p:txBody>
          <a:bodyPr wrap="square" lIns="0" rIns="0" tIns="0" bIns="0">
            <a:spAutoFit/>
          </a:bodyPr>
          <a:lstStyle/>
          <a:p>
            <a:pPr algn="l"/>
            <a:r>
              <a:rPr sz="1500" b="1">
                <a:solidFill>
                  <a:srgbClr val="1E2761"/>
                </a:solidFill>
                <a:latin typeface="Calibri"/>
              </a:rPr>
              <a:t>Model and method</a:t>
            </a:r>
          </a:p>
        </p:txBody>
      </p:sp>
      <p:sp>
        <p:nvSpPr>
          <p:cNvPr id="13" name="TextBox 12"/>
          <p:cNvSpPr txBox="1"/>
          <p:nvPr/>
        </p:nvSpPr>
        <p:spPr>
          <a:xfrm>
            <a:off x="1188720" y="2258568"/>
            <a:ext cx="8778240" cy="256032"/>
          </a:xfrm>
          <a:prstGeom prst="rect">
            <a:avLst/>
          </a:prstGeom>
          <a:noFill/>
        </p:spPr>
        <p:txBody>
          <a:bodyPr wrap="square" lIns="0" rIns="0" tIns="0" bIns="0">
            <a:spAutoFit/>
          </a:bodyPr>
          <a:lstStyle/>
          <a:p>
            <a:pPr algn="l"/>
            <a:r>
              <a:rPr sz="1050" b="0">
                <a:solidFill>
                  <a:srgbClr val="5A5A5A"/>
                </a:solidFill>
                <a:latin typeface="Calibri"/>
              </a:rPr>
              <a:t>Hamiltonian, t± = t′ ± δ, spin-independent hopping  ·  why the form factor is d(xy)</a:t>
            </a:r>
          </a:p>
        </p:txBody>
      </p:sp>
      <p:sp>
        <p:nvSpPr>
          <p:cNvPr id="14" name="TextBox 13"/>
          <p:cNvSpPr txBox="1"/>
          <p:nvPr/>
        </p:nvSpPr>
        <p:spPr>
          <a:xfrm>
            <a:off x="1188720" y="2478024"/>
            <a:ext cx="8778240" cy="256032"/>
          </a:xfrm>
          <a:prstGeom prst="rect">
            <a:avLst/>
          </a:prstGeom>
          <a:noFill/>
        </p:spPr>
        <p:txBody>
          <a:bodyPr wrap="square" lIns="0" rIns="0" tIns="0" bIns="0">
            <a:spAutoFit/>
          </a:bodyPr>
          <a:lstStyle/>
          <a:p>
            <a:pPr algn="l"/>
            <a:r>
              <a:rPr sz="1050" b="0">
                <a:solidFill>
                  <a:srgbClr val="5A5A5A"/>
                </a:solidFill>
                <a:latin typeface="Calibri"/>
              </a:rPr>
              <a:t>CPQMC and the constrained-path approximation  ·  observables: m = √(S/N), connected vertex, Γ point</a:t>
            </a:r>
          </a:p>
        </p:txBody>
      </p:sp>
      <p:sp>
        <p:nvSpPr>
          <p:cNvPr id="15" name="TextBox 14"/>
          <p:cNvSpPr txBox="1"/>
          <p:nvPr/>
        </p:nvSpPr>
        <p:spPr>
          <a:xfrm>
            <a:off x="10195560" y="2002536"/>
            <a:ext cx="914400" cy="274320"/>
          </a:xfrm>
          <a:prstGeom prst="rect">
            <a:avLst/>
          </a:prstGeom>
          <a:noFill/>
        </p:spPr>
        <p:txBody>
          <a:bodyPr wrap="square" lIns="0" rIns="0" tIns="0" bIns="0">
            <a:spAutoFit/>
          </a:bodyPr>
          <a:lstStyle/>
          <a:p>
            <a:pPr algn="r"/>
            <a:r>
              <a:rPr sz="1100" b="1">
                <a:solidFill>
                  <a:srgbClr val="1E2761"/>
                </a:solidFill>
                <a:latin typeface="Calibri"/>
              </a:rPr>
              <a:t>Fig. 1</a:t>
            </a:r>
          </a:p>
        </p:txBody>
      </p:sp>
      <p:sp>
        <p:nvSpPr>
          <p:cNvPr id="16" name="TextBox 15"/>
          <p:cNvSpPr txBox="1"/>
          <p:nvPr/>
        </p:nvSpPr>
        <p:spPr>
          <a:xfrm>
            <a:off x="11155680" y="2002536"/>
            <a:ext cx="822960" cy="274320"/>
          </a:xfrm>
          <a:prstGeom prst="rect">
            <a:avLst/>
          </a:prstGeom>
          <a:noFill/>
        </p:spPr>
        <p:txBody>
          <a:bodyPr wrap="square" lIns="0" rIns="0" tIns="0" bIns="0">
            <a:spAutoFit/>
          </a:bodyPr>
          <a:lstStyle/>
          <a:p>
            <a:pPr algn="r"/>
            <a:r>
              <a:rPr sz="950" b="1">
                <a:solidFill>
                  <a:srgbClr val="5A5A5A"/>
                </a:solidFill>
                <a:latin typeface="Calibri"/>
              </a:rPr>
              <a:t>drafted</a:t>
            </a:r>
          </a:p>
        </p:txBody>
      </p:sp>
      <p:sp>
        <p:nvSpPr>
          <p:cNvPr id="17" name="Oval 16"/>
          <p:cNvSpPr/>
          <p:nvPr/>
        </p:nvSpPr>
        <p:spPr>
          <a:xfrm>
            <a:off x="502920" y="2843784"/>
            <a:ext cx="493776" cy="49377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907791"/>
            <a:ext cx="493776" cy="365760"/>
          </a:xfrm>
          <a:prstGeom prst="rect">
            <a:avLst/>
          </a:prstGeom>
          <a:noFill/>
        </p:spPr>
        <p:txBody>
          <a:bodyPr wrap="square" lIns="0" rIns="0" tIns="0" bIns="0">
            <a:spAutoFit/>
          </a:bodyPr>
          <a:lstStyle/>
          <a:p>
            <a:pPr algn="ctr"/>
            <a:r>
              <a:rPr sz="1400" b="1">
                <a:solidFill>
                  <a:srgbClr val="FFFFFF"/>
                </a:solidFill>
                <a:latin typeface="Cambria"/>
              </a:rPr>
              <a:t>III</a:t>
            </a:r>
          </a:p>
        </p:txBody>
      </p:sp>
      <p:sp>
        <p:nvSpPr>
          <p:cNvPr id="19" name="TextBox 18"/>
          <p:cNvSpPr txBox="1"/>
          <p:nvPr/>
        </p:nvSpPr>
        <p:spPr>
          <a:xfrm>
            <a:off x="1188720" y="2807208"/>
            <a:ext cx="6035040" cy="310896"/>
          </a:xfrm>
          <a:prstGeom prst="rect">
            <a:avLst/>
          </a:prstGeom>
          <a:noFill/>
        </p:spPr>
        <p:txBody>
          <a:bodyPr wrap="square" lIns="0" rIns="0" tIns="0" bIns="0">
            <a:spAutoFit/>
          </a:bodyPr>
          <a:lstStyle/>
          <a:p>
            <a:pPr algn="l"/>
            <a:r>
              <a:rPr sz="1500" b="1">
                <a:solidFill>
                  <a:srgbClr val="1E2761"/>
                </a:solidFill>
                <a:latin typeface="Calibri"/>
              </a:rPr>
              <a:t>Emergent altermagnetic order</a:t>
            </a:r>
          </a:p>
        </p:txBody>
      </p:sp>
      <p:sp>
        <p:nvSpPr>
          <p:cNvPr id="20" name="TextBox 19"/>
          <p:cNvSpPr txBox="1"/>
          <p:nvPr/>
        </p:nvSpPr>
        <p:spPr>
          <a:xfrm>
            <a:off x="1188720" y="3099815"/>
            <a:ext cx="8778240" cy="256032"/>
          </a:xfrm>
          <a:prstGeom prst="rect">
            <a:avLst/>
          </a:prstGeom>
          <a:noFill/>
        </p:spPr>
        <p:txBody>
          <a:bodyPr wrap="square" lIns="0" rIns="0" tIns="0" bIns="0">
            <a:spAutoFit/>
          </a:bodyPr>
          <a:lstStyle/>
          <a:p>
            <a:pPr algn="l"/>
            <a:r>
              <a:rPr sz="1050" b="0">
                <a:solidFill>
                  <a:srgbClr val="5A5A5A"/>
                </a:solidFill>
                <a:latin typeface="Calibri"/>
              </a:rPr>
              <a:t>Non-interacting structure, Fermi surface, van Hove  ·  no spin splitting at U = 0</a:t>
            </a:r>
          </a:p>
        </p:txBody>
      </p:sp>
      <p:sp>
        <p:nvSpPr>
          <p:cNvPr id="21" name="TextBox 20"/>
          <p:cNvSpPr txBox="1"/>
          <p:nvPr/>
        </p:nvSpPr>
        <p:spPr>
          <a:xfrm>
            <a:off x="1188720" y="3319272"/>
            <a:ext cx="8778240" cy="256032"/>
          </a:xfrm>
          <a:prstGeom prst="rect">
            <a:avLst/>
          </a:prstGeom>
          <a:noFill/>
        </p:spPr>
        <p:txBody>
          <a:bodyPr wrap="square" lIns="0" rIns="0" tIns="0" bIns="0">
            <a:spAutoFit/>
          </a:bodyPr>
          <a:lstStyle/>
          <a:p>
            <a:pPr algn="l"/>
            <a:r>
              <a:rPr sz="1050" b="0">
                <a:solidFill>
                  <a:srgbClr val="5A5A5A"/>
                </a:solidFill>
                <a:latin typeface="Calibri"/>
              </a:rPr>
              <a:t>(n, δ) magnetic phase diagram  ·  the order parameter m_AM = Δm · δ</a:t>
            </a:r>
          </a:p>
        </p:txBody>
      </p:sp>
      <p:sp>
        <p:nvSpPr>
          <p:cNvPr id="22" name="TextBox 21"/>
          <p:cNvSpPr txBox="1"/>
          <p:nvPr/>
        </p:nvSpPr>
        <p:spPr>
          <a:xfrm>
            <a:off x="10195560" y="2843784"/>
            <a:ext cx="914400" cy="274320"/>
          </a:xfrm>
          <a:prstGeom prst="rect">
            <a:avLst/>
          </a:prstGeom>
          <a:noFill/>
        </p:spPr>
        <p:txBody>
          <a:bodyPr wrap="square" lIns="0" rIns="0" tIns="0" bIns="0">
            <a:spAutoFit/>
          </a:bodyPr>
          <a:lstStyle/>
          <a:p>
            <a:pPr algn="r"/>
            <a:r>
              <a:rPr sz="1100" b="1">
                <a:solidFill>
                  <a:srgbClr val="1E2761"/>
                </a:solidFill>
                <a:latin typeface="Calibri"/>
              </a:rPr>
              <a:t>Figs. 2-5</a:t>
            </a:r>
          </a:p>
        </p:txBody>
      </p:sp>
      <p:sp>
        <p:nvSpPr>
          <p:cNvPr id="23" name="TextBox 22"/>
          <p:cNvSpPr txBox="1"/>
          <p:nvPr/>
        </p:nvSpPr>
        <p:spPr>
          <a:xfrm>
            <a:off x="11155680" y="2843784"/>
            <a:ext cx="822960" cy="274320"/>
          </a:xfrm>
          <a:prstGeom prst="rect">
            <a:avLst/>
          </a:prstGeom>
          <a:noFill/>
        </p:spPr>
        <p:txBody>
          <a:bodyPr wrap="square" lIns="0" rIns="0" tIns="0" bIns="0">
            <a:spAutoFit/>
          </a:bodyPr>
          <a:lstStyle/>
          <a:p>
            <a:pPr algn="r"/>
            <a:r>
              <a:rPr sz="950" b="1">
                <a:solidFill>
                  <a:srgbClr val="2C5F2D"/>
                </a:solidFill>
                <a:latin typeface="Calibri"/>
              </a:rPr>
              <a:t>data in</a:t>
            </a:r>
          </a:p>
        </p:txBody>
      </p:sp>
      <p:sp>
        <p:nvSpPr>
          <p:cNvPr id="24" name="Oval 23"/>
          <p:cNvSpPr/>
          <p:nvPr/>
        </p:nvSpPr>
        <p:spPr>
          <a:xfrm>
            <a:off x="502920" y="3685031"/>
            <a:ext cx="493776" cy="49377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749039"/>
            <a:ext cx="493776" cy="365760"/>
          </a:xfrm>
          <a:prstGeom prst="rect">
            <a:avLst/>
          </a:prstGeom>
          <a:noFill/>
        </p:spPr>
        <p:txBody>
          <a:bodyPr wrap="square" lIns="0" rIns="0" tIns="0" bIns="0">
            <a:spAutoFit/>
          </a:bodyPr>
          <a:lstStyle/>
          <a:p>
            <a:pPr algn="ctr"/>
            <a:r>
              <a:rPr sz="1400" b="1">
                <a:solidFill>
                  <a:srgbClr val="FFFFFF"/>
                </a:solidFill>
                <a:latin typeface="Cambria"/>
              </a:rPr>
              <a:t>IV</a:t>
            </a:r>
          </a:p>
        </p:txBody>
      </p:sp>
      <p:sp>
        <p:nvSpPr>
          <p:cNvPr id="26" name="TextBox 25"/>
          <p:cNvSpPr txBox="1"/>
          <p:nvPr/>
        </p:nvSpPr>
        <p:spPr>
          <a:xfrm>
            <a:off x="1188720" y="3648456"/>
            <a:ext cx="6035040" cy="310896"/>
          </a:xfrm>
          <a:prstGeom prst="rect">
            <a:avLst/>
          </a:prstGeom>
          <a:noFill/>
        </p:spPr>
        <p:txBody>
          <a:bodyPr wrap="square" lIns="0" rIns="0" tIns="0" bIns="0">
            <a:spAutoFit/>
          </a:bodyPr>
          <a:lstStyle/>
          <a:p>
            <a:pPr algn="l"/>
            <a:r>
              <a:rPr sz="1500" b="1">
                <a:solidFill>
                  <a:srgbClr val="B85042"/>
                </a:solidFill>
                <a:latin typeface="Calibri"/>
              </a:rPr>
              <a:t>Pairing</a:t>
            </a:r>
          </a:p>
        </p:txBody>
      </p:sp>
      <p:sp>
        <p:nvSpPr>
          <p:cNvPr id="27" name="TextBox 26"/>
          <p:cNvSpPr txBox="1"/>
          <p:nvPr/>
        </p:nvSpPr>
        <p:spPr>
          <a:xfrm>
            <a:off x="1188720" y="3941063"/>
            <a:ext cx="8778240" cy="256032"/>
          </a:xfrm>
          <a:prstGeom prst="rect">
            <a:avLst/>
          </a:prstGeom>
          <a:noFill/>
        </p:spPr>
        <p:txBody>
          <a:bodyPr wrap="square" lIns="0" rIns="0" tIns="0" bIns="0">
            <a:spAutoFit/>
          </a:bodyPr>
          <a:lstStyle/>
          <a:p>
            <a:pPr algn="l"/>
            <a:r>
              <a:rPr sz="1050" b="0">
                <a:solidFill>
                  <a:srgbClr val="5A5A5A"/>
                </a:solidFill>
                <a:latin typeface="Calibri"/>
              </a:rPr>
              <a:t>Four channels and the U = 0 null test  ·  symmetry-selective suppression  ·  interaction dependence</a:t>
            </a:r>
          </a:p>
        </p:txBody>
      </p:sp>
      <p:sp>
        <p:nvSpPr>
          <p:cNvPr id="28" name="TextBox 27"/>
          <p:cNvSpPr txBox="1"/>
          <p:nvPr/>
        </p:nvSpPr>
        <p:spPr>
          <a:xfrm>
            <a:off x="1188720" y="4160520"/>
            <a:ext cx="8778240" cy="256032"/>
          </a:xfrm>
          <a:prstGeom prst="rect">
            <a:avLst/>
          </a:prstGeom>
          <a:noFill/>
        </p:spPr>
        <p:txBody>
          <a:bodyPr wrap="square" lIns="0" rIns="0" tIns="0" bIns="0">
            <a:spAutoFit/>
          </a:bodyPr>
          <a:lstStyle/>
          <a:p>
            <a:pPr algn="l"/>
            <a:r>
              <a:rPr sz="1050" b="0">
                <a:solidFill>
                  <a:srgbClr val="5A5A5A"/>
                </a:solidFill>
                <a:latin typeface="Calibri"/>
              </a:rPr>
              <a:t>reversal with filling  ·  half filling  ·  finite-size analysis, L = 6 to 12</a:t>
            </a:r>
          </a:p>
        </p:txBody>
      </p:sp>
      <p:sp>
        <p:nvSpPr>
          <p:cNvPr id="29" name="TextBox 28"/>
          <p:cNvSpPr txBox="1"/>
          <p:nvPr/>
        </p:nvSpPr>
        <p:spPr>
          <a:xfrm>
            <a:off x="10195560" y="3685031"/>
            <a:ext cx="914400" cy="274320"/>
          </a:xfrm>
          <a:prstGeom prst="rect">
            <a:avLst/>
          </a:prstGeom>
          <a:noFill/>
        </p:spPr>
        <p:txBody>
          <a:bodyPr wrap="square" lIns="0" rIns="0" tIns="0" bIns="0">
            <a:spAutoFit/>
          </a:bodyPr>
          <a:lstStyle/>
          <a:p>
            <a:pPr algn="r"/>
            <a:r>
              <a:rPr sz="1100" b="1">
                <a:solidFill>
                  <a:srgbClr val="1E2761"/>
                </a:solidFill>
                <a:latin typeface="Calibri"/>
              </a:rPr>
              <a:t>Figs. 6-10</a:t>
            </a:r>
          </a:p>
        </p:txBody>
      </p:sp>
      <p:sp>
        <p:nvSpPr>
          <p:cNvPr id="30" name="TextBox 29"/>
          <p:cNvSpPr txBox="1"/>
          <p:nvPr/>
        </p:nvSpPr>
        <p:spPr>
          <a:xfrm>
            <a:off x="11155680" y="3685031"/>
            <a:ext cx="822960" cy="274320"/>
          </a:xfrm>
          <a:prstGeom prst="rect">
            <a:avLst/>
          </a:prstGeom>
          <a:noFill/>
        </p:spPr>
        <p:txBody>
          <a:bodyPr wrap="square" lIns="0" rIns="0" tIns="0" bIns="0">
            <a:spAutoFit/>
          </a:bodyPr>
          <a:lstStyle/>
          <a:p>
            <a:pPr algn="r"/>
            <a:r>
              <a:rPr sz="950" b="1">
                <a:solidFill>
                  <a:srgbClr val="2C5F2D"/>
                </a:solidFill>
                <a:latin typeface="Calibri"/>
              </a:rPr>
              <a:t>data in</a:t>
            </a:r>
          </a:p>
        </p:txBody>
      </p:sp>
      <p:sp>
        <p:nvSpPr>
          <p:cNvPr id="31" name="Oval 30"/>
          <p:cNvSpPr/>
          <p:nvPr/>
        </p:nvSpPr>
        <p:spPr>
          <a:xfrm>
            <a:off x="502920" y="4526279"/>
            <a:ext cx="493776" cy="49377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4590288"/>
            <a:ext cx="493776" cy="365760"/>
          </a:xfrm>
          <a:prstGeom prst="rect">
            <a:avLst/>
          </a:prstGeom>
          <a:noFill/>
        </p:spPr>
        <p:txBody>
          <a:bodyPr wrap="square" lIns="0" rIns="0" tIns="0" bIns="0">
            <a:spAutoFit/>
          </a:bodyPr>
          <a:lstStyle/>
          <a:p>
            <a:pPr algn="ctr"/>
            <a:r>
              <a:rPr sz="1400" b="1">
                <a:solidFill>
                  <a:srgbClr val="FFFFFF"/>
                </a:solidFill>
                <a:latin typeface="Cambria"/>
              </a:rPr>
              <a:t>V</a:t>
            </a:r>
          </a:p>
        </p:txBody>
      </p:sp>
      <p:sp>
        <p:nvSpPr>
          <p:cNvPr id="33" name="TextBox 32"/>
          <p:cNvSpPr txBox="1"/>
          <p:nvPr/>
        </p:nvSpPr>
        <p:spPr>
          <a:xfrm>
            <a:off x="1188720" y="4489704"/>
            <a:ext cx="6035040" cy="310896"/>
          </a:xfrm>
          <a:prstGeom prst="rect">
            <a:avLst/>
          </a:prstGeom>
          <a:noFill/>
        </p:spPr>
        <p:txBody>
          <a:bodyPr wrap="square" lIns="0" rIns="0" tIns="0" bIns="0">
            <a:spAutoFit/>
          </a:bodyPr>
          <a:lstStyle/>
          <a:p>
            <a:pPr algn="l"/>
            <a:r>
              <a:rPr sz="1500" b="1">
                <a:solidFill>
                  <a:srgbClr val="1E2761"/>
                </a:solidFill>
                <a:latin typeface="Calibri"/>
              </a:rPr>
              <a:t>Discussion and conclusions</a:t>
            </a:r>
          </a:p>
        </p:txBody>
      </p:sp>
      <p:sp>
        <p:nvSpPr>
          <p:cNvPr id="34" name="TextBox 33"/>
          <p:cNvSpPr txBox="1"/>
          <p:nvPr/>
        </p:nvSpPr>
        <p:spPr>
          <a:xfrm>
            <a:off x="1188720" y="4782312"/>
            <a:ext cx="8778240" cy="256032"/>
          </a:xfrm>
          <a:prstGeom prst="rect">
            <a:avLst/>
          </a:prstGeom>
          <a:noFill/>
        </p:spPr>
        <p:txBody>
          <a:bodyPr wrap="square" lIns="0" rIns="0" tIns="0" bIns="0">
            <a:spAutoFit/>
          </a:bodyPr>
          <a:lstStyle/>
          <a:p>
            <a:pPr algn="l"/>
            <a:r>
              <a:rPr sz="1050" b="0">
                <a:solidFill>
                  <a:srgbClr val="5A5A5A"/>
                </a:solidFill>
                <a:latin typeface="Calibri"/>
              </a:rPr>
              <a:t>Generality: any altermagnet suppresses the channel sharing its symmetry</a:t>
            </a:r>
          </a:p>
        </p:txBody>
      </p:sp>
      <p:sp>
        <p:nvSpPr>
          <p:cNvPr id="35" name="TextBox 34"/>
          <p:cNvSpPr txBox="1"/>
          <p:nvPr/>
        </p:nvSpPr>
        <p:spPr>
          <a:xfrm>
            <a:off x="1188720" y="5001768"/>
            <a:ext cx="8778240" cy="256032"/>
          </a:xfrm>
          <a:prstGeom prst="rect">
            <a:avLst/>
          </a:prstGeom>
          <a:noFill/>
        </p:spPr>
        <p:txBody>
          <a:bodyPr wrap="square" lIns="0" rIns="0" tIns="0" bIns="0">
            <a:spAutoFit/>
          </a:bodyPr>
          <a:lstStyle/>
          <a:p>
            <a:pPr algn="l"/>
            <a:r>
              <a:rPr sz="1050" b="0">
                <a:solidFill>
                  <a:srgbClr val="5A5A5A"/>
                </a:solidFill>
                <a:latin typeface="Calibri"/>
              </a:rPr>
              <a:t>prediction for square-lattice d(x²−y²) altermagnets  ·  limits: CP bias, no T_c, no spectral function</a:t>
            </a:r>
          </a:p>
        </p:txBody>
      </p:sp>
      <p:sp>
        <p:nvSpPr>
          <p:cNvPr id="36" name="TextBox 35"/>
          <p:cNvSpPr txBox="1"/>
          <p:nvPr/>
        </p:nvSpPr>
        <p:spPr>
          <a:xfrm>
            <a:off x="10195560" y="4526279"/>
            <a:ext cx="914400" cy="274320"/>
          </a:xfrm>
          <a:prstGeom prst="rect">
            <a:avLst/>
          </a:prstGeom>
          <a:noFill/>
        </p:spPr>
        <p:txBody>
          <a:bodyPr wrap="square" lIns="0" rIns="0" tIns="0" bIns="0">
            <a:spAutoFit/>
          </a:bodyPr>
          <a:lstStyle/>
          <a:p>
            <a:pPr algn="r"/>
            <a:r>
              <a:rPr sz="1100" b="1">
                <a:solidFill>
                  <a:srgbClr val="1E2761"/>
                </a:solidFill>
                <a:latin typeface="Calibri"/>
              </a:rPr>
              <a:t>—</a:t>
            </a:r>
          </a:p>
        </p:txBody>
      </p:sp>
      <p:sp>
        <p:nvSpPr>
          <p:cNvPr id="37" name="TextBox 36"/>
          <p:cNvSpPr txBox="1"/>
          <p:nvPr/>
        </p:nvSpPr>
        <p:spPr>
          <a:xfrm>
            <a:off x="11155680" y="4526279"/>
            <a:ext cx="822960" cy="274320"/>
          </a:xfrm>
          <a:prstGeom prst="rect">
            <a:avLst/>
          </a:prstGeom>
          <a:noFill/>
        </p:spPr>
        <p:txBody>
          <a:bodyPr wrap="square" lIns="0" rIns="0" tIns="0" bIns="0">
            <a:spAutoFit/>
          </a:bodyPr>
          <a:lstStyle/>
          <a:p>
            <a:pPr algn="r"/>
            <a:r>
              <a:rPr sz="950" b="1">
                <a:solidFill>
                  <a:srgbClr val="5A5A5A"/>
                </a:solidFill>
                <a:latin typeface="Calibri"/>
              </a:rPr>
              <a:t>outline</a:t>
            </a:r>
          </a:p>
        </p:txBody>
      </p:sp>
      <p:sp>
        <p:nvSpPr>
          <p:cNvPr id="38" name="Rounded Rectangle 37"/>
          <p:cNvSpPr/>
          <p:nvPr/>
        </p:nvSpPr>
        <p:spPr>
          <a:xfrm>
            <a:off x="502920" y="5440680"/>
            <a:ext cx="7680960" cy="914400"/>
          </a:xfrm>
          <a:prstGeom prst="roundRect">
            <a:avLst/>
          </a:prstGeom>
          <a:solidFill>
            <a:srgbClr val="F7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532120"/>
            <a:ext cx="7315200" cy="777240"/>
          </a:xfrm>
          <a:prstGeom prst="rect">
            <a:avLst/>
          </a:prstGeom>
          <a:noFill/>
        </p:spPr>
        <p:txBody>
          <a:bodyPr wrap="square">
            <a:spAutoFit/>
          </a:bodyPr>
          <a:lstStyle/>
          <a:p>
            <a:pPr algn="l">
              <a:spcAft>
                <a:spcPts val="300"/>
              </a:spcAft>
            </a:pPr>
            <a:r>
              <a:rPr sz="1250" b="1">
                <a:solidFill>
                  <a:srgbClr val="B85042"/>
                </a:solidFill>
                <a:latin typeface="Calibri"/>
              </a:rPr>
              <a:t>Three edits before drafting:</a:t>
            </a:r>
          </a:p>
          <a:p>
            <a:pPr algn="l">
              <a:spcAft>
                <a:spcPts val="300"/>
              </a:spcAft>
            </a:pPr>
            <a:r>
              <a:rPr sz="1200" b="0">
                <a:solidFill>
                  <a:srgbClr val="222222"/>
                </a:solidFill>
                <a:latin typeface="Calibri"/>
              </a:rPr>
              <a:t>1.  Abstract drops the Mδ scaling claim, since M is finite at U = 0.    2.  Old equal-time pairing figures out, integrated vertex in.    3.  New title.</a:t>
            </a:r>
          </a:p>
        </p:txBody>
      </p:sp>
      <p:sp>
        <p:nvSpPr>
          <p:cNvPr id="40" name="Rounded Rectangle 39"/>
          <p:cNvSpPr/>
          <p:nvPr/>
        </p:nvSpPr>
        <p:spPr>
          <a:xfrm>
            <a:off x="8412480" y="5440680"/>
            <a:ext cx="3291840"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0" y="5532120"/>
            <a:ext cx="2926080" cy="777240"/>
          </a:xfrm>
          <a:prstGeom prst="rect">
            <a:avLst/>
          </a:prstGeom>
          <a:noFill/>
        </p:spPr>
        <p:txBody>
          <a:bodyPr wrap="square">
            <a:spAutoFit/>
          </a:bodyPr>
          <a:lstStyle/>
          <a:p>
            <a:pPr algn="l">
              <a:spcAft>
                <a:spcPts val="300"/>
              </a:spcAft>
            </a:pPr>
            <a:r>
              <a:rPr sz="1250" b="1">
                <a:solidFill>
                  <a:srgbClr val="1E2761"/>
                </a:solidFill>
                <a:latin typeface="Calibri"/>
              </a:rPr>
              <a:t>Target</a:t>
            </a:r>
          </a:p>
          <a:p>
            <a:pPr algn="l">
              <a:spcAft>
                <a:spcPts val="300"/>
              </a:spcAft>
            </a:pPr>
            <a:r>
              <a:rPr sz="1150" b="0">
                <a:solidFill>
                  <a:srgbClr val="222222"/>
                </a:solidFill>
                <a:latin typeface="Calibri"/>
              </a:rPr>
              <a:t>PRB. If the mechanism holds with the full U range, PRL first with PRB as fallback.</a:t>
            </a:r>
          </a:p>
        </p:txBody>
      </p:sp>
      <p:sp>
        <p:nvSpPr>
          <p:cNvPr id="42" name="TextBox 41"/>
          <p:cNvSpPr txBox="1"/>
          <p:nvPr/>
        </p:nvSpPr>
        <p:spPr>
          <a:xfrm>
            <a:off x="502920" y="6400800"/>
            <a:ext cx="11155680" cy="365760"/>
          </a:xfrm>
          <a:prstGeom prst="rect">
            <a:avLst/>
          </a:prstGeom>
          <a:noFill/>
        </p:spPr>
        <p:txBody>
          <a:bodyPr wrap="square">
            <a:spAutoFit/>
          </a:bodyPr>
          <a:lstStyle/>
          <a:p>
            <a:pPr algn="l"/>
            <a:r>
              <a:rPr sz="1300" b="1">
                <a:solidFill>
                  <a:srgbClr val="1E2761"/>
                </a:solidFill>
                <a:latin typeface="Calibri"/>
              </a:rPr>
              <a:t>Proposed title:  Symmetry-selective suppression of pairing by an emergent altermagnet in the checkerboard Hubbard model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777240" y="594360"/>
            <a:ext cx="10698480" cy="731520"/>
          </a:xfrm>
          <a:prstGeom prst="rect">
            <a:avLst/>
          </a:prstGeom>
          <a:noFill/>
        </p:spPr>
        <p:txBody>
          <a:bodyPr wrap="square">
            <a:spAutoFit/>
          </a:bodyPr>
          <a:lstStyle/>
          <a:p>
            <a:pPr algn="l"/>
            <a:r>
              <a:rPr sz="3200" b="1">
                <a:solidFill>
                  <a:srgbClr val="FFFFFF"/>
                </a:solidFill>
                <a:latin typeface="Cambria"/>
              </a:rPr>
              <a:t>Next</a:t>
            </a:r>
          </a:p>
        </p:txBody>
      </p:sp>
      <p:sp>
        <p:nvSpPr>
          <p:cNvPr id="3" name="TextBox 2"/>
          <p:cNvSpPr txBox="1"/>
          <p:nvPr/>
        </p:nvSpPr>
        <p:spPr>
          <a:xfrm>
            <a:off x="822960" y="1508760"/>
            <a:ext cx="10515600" cy="384048"/>
          </a:xfrm>
          <a:prstGeom prst="rect">
            <a:avLst/>
          </a:prstGeom>
          <a:noFill/>
        </p:spPr>
        <p:txBody>
          <a:bodyPr wrap="square" lIns="0" rIns="0" tIns="0" bIns="0">
            <a:spAutoFit/>
          </a:bodyPr>
          <a:lstStyle/>
          <a:p>
            <a:pPr algn="l"/>
            <a:r>
              <a:rPr sz="1800" b="1">
                <a:solidFill>
                  <a:srgbClr val="CADCFC"/>
                </a:solidFill>
                <a:latin typeface="Cambria"/>
              </a:rPr>
              <a:t>Running tonight</a:t>
            </a:r>
          </a:p>
        </p:txBody>
      </p:sp>
      <p:sp>
        <p:nvSpPr>
          <p:cNvPr id="4" name="TextBox 3"/>
          <p:cNvSpPr txBox="1"/>
          <p:nvPr/>
        </p:nvSpPr>
        <p:spPr>
          <a:xfrm>
            <a:off x="822960" y="1874519"/>
            <a:ext cx="10515600" cy="777240"/>
          </a:xfrm>
          <a:prstGeom prst="rect">
            <a:avLst/>
          </a:prstGeom>
          <a:noFill/>
        </p:spPr>
        <p:txBody>
          <a:bodyPr wrap="square" lIns="0" rIns="0" tIns="0" bIns="0">
            <a:spAutoFit/>
          </a:bodyPr>
          <a:lstStyle/>
          <a:p>
            <a:pPr algn="l"/>
            <a:r>
              <a:rPr sz="1450" b="0">
                <a:solidFill>
                  <a:srgbClr val="FFFFFF"/>
                </a:solidFill>
                <a:latin typeface="Calibri"/>
              </a:rPr>
              <a:t>Magnetic cube at U = 2, 6 and 8 completes the mechanism test. The dense-filling scan locates the doped-to-half-filling boundary to ±0.014 in n.</a:t>
            </a:r>
          </a:p>
        </p:txBody>
      </p:sp>
      <p:sp>
        <p:nvSpPr>
          <p:cNvPr id="5" name="TextBox 4"/>
          <p:cNvSpPr txBox="1"/>
          <p:nvPr/>
        </p:nvSpPr>
        <p:spPr>
          <a:xfrm>
            <a:off x="822960" y="2715768"/>
            <a:ext cx="10515600" cy="384048"/>
          </a:xfrm>
          <a:prstGeom prst="rect">
            <a:avLst/>
          </a:prstGeom>
          <a:noFill/>
        </p:spPr>
        <p:txBody>
          <a:bodyPr wrap="square" lIns="0" rIns="0" tIns="0" bIns="0">
            <a:spAutoFit/>
          </a:bodyPr>
          <a:lstStyle/>
          <a:p>
            <a:pPr algn="l"/>
            <a:r>
              <a:rPr sz="1800" b="1">
                <a:solidFill>
                  <a:srgbClr val="CADCFC"/>
                </a:solidFill>
                <a:latin typeface="Cambria"/>
              </a:rPr>
              <a:t>Then</a:t>
            </a:r>
          </a:p>
        </p:txBody>
      </p:sp>
      <p:sp>
        <p:nvSpPr>
          <p:cNvPr id="6" name="TextBox 5"/>
          <p:cNvSpPr txBox="1"/>
          <p:nvPr/>
        </p:nvSpPr>
        <p:spPr>
          <a:xfrm>
            <a:off x="822960" y="3081527"/>
            <a:ext cx="10515600" cy="777240"/>
          </a:xfrm>
          <a:prstGeom prst="rect">
            <a:avLst/>
          </a:prstGeom>
          <a:noFill/>
        </p:spPr>
        <p:txBody>
          <a:bodyPr wrap="square" lIns="0" rIns="0" tIns="0" bIns="0">
            <a:spAutoFit/>
          </a:bodyPr>
          <a:lstStyle/>
          <a:p>
            <a:pPr algn="l"/>
            <a:r>
              <a:rPr sz="1450" b="0">
                <a:solidFill>
                  <a:srgbClr val="FFFFFF"/>
                </a:solidFill>
                <a:latin typeface="Calibri"/>
              </a:rPr>
              <a:t>Rewrite the abstract, replace the pairing figures, and draft Secs. II and IV.</a:t>
            </a:r>
          </a:p>
        </p:txBody>
      </p:sp>
      <p:sp>
        <p:nvSpPr>
          <p:cNvPr id="7" name="TextBox 6"/>
          <p:cNvSpPr txBox="1"/>
          <p:nvPr/>
        </p:nvSpPr>
        <p:spPr>
          <a:xfrm>
            <a:off x="822960" y="3922776"/>
            <a:ext cx="10515600" cy="384048"/>
          </a:xfrm>
          <a:prstGeom prst="rect">
            <a:avLst/>
          </a:prstGeom>
          <a:noFill/>
        </p:spPr>
        <p:txBody>
          <a:bodyPr wrap="square" lIns="0" rIns="0" tIns="0" bIns="0">
            <a:spAutoFit/>
          </a:bodyPr>
          <a:lstStyle/>
          <a:p>
            <a:pPr algn="l"/>
            <a:r>
              <a:rPr sz="1800" b="1">
                <a:solidFill>
                  <a:srgbClr val="CADCFC"/>
                </a:solidFill>
                <a:latin typeface="Cambria"/>
              </a:rPr>
              <a:t>Later, if we want it</a:t>
            </a:r>
          </a:p>
        </p:txBody>
      </p:sp>
      <p:sp>
        <p:nvSpPr>
          <p:cNvPr id="8" name="TextBox 7"/>
          <p:cNvSpPr txBox="1"/>
          <p:nvPr/>
        </p:nvSpPr>
        <p:spPr>
          <a:xfrm>
            <a:off x="822960" y="4288536"/>
            <a:ext cx="10515600" cy="777240"/>
          </a:xfrm>
          <a:prstGeom prst="rect">
            <a:avLst/>
          </a:prstGeom>
          <a:noFill/>
        </p:spPr>
        <p:txBody>
          <a:bodyPr wrap="square" lIns="0" rIns="0" tIns="0" bIns="0">
            <a:spAutoFit/>
          </a:bodyPr>
          <a:lstStyle/>
          <a:p>
            <a:pPr algn="l"/>
            <a:r>
              <a:rPr sz="1450" b="0">
                <a:solidFill>
                  <a:srgbClr val="FFFFFF"/>
                </a:solidFill>
                <a:latin typeface="Calibri"/>
              </a:rPr>
              <a:t>Twist-averaged run to make the half-filling threshold publishable, and the ALF route for the spectral function.</a:t>
            </a:r>
          </a:p>
        </p:txBody>
      </p:sp>
      <p:sp>
        <p:nvSpPr>
          <p:cNvPr id="9" name="TextBox 8"/>
          <p:cNvSpPr txBox="1"/>
          <p:nvPr/>
        </p:nvSpPr>
        <p:spPr>
          <a:xfrm>
            <a:off x="822960" y="5129783"/>
            <a:ext cx="10515600" cy="384048"/>
          </a:xfrm>
          <a:prstGeom prst="rect">
            <a:avLst/>
          </a:prstGeom>
          <a:noFill/>
        </p:spPr>
        <p:txBody>
          <a:bodyPr wrap="square" lIns="0" rIns="0" tIns="0" bIns="0">
            <a:spAutoFit/>
          </a:bodyPr>
          <a:lstStyle/>
          <a:p>
            <a:pPr algn="l"/>
            <a:r>
              <a:rPr sz="1800" b="1">
                <a:solidFill>
                  <a:srgbClr val="CADCFC"/>
                </a:solidFill>
                <a:latin typeface="Cambria"/>
              </a:rPr>
              <a:t>Question for discussion</a:t>
            </a:r>
          </a:p>
        </p:txBody>
      </p:sp>
      <p:sp>
        <p:nvSpPr>
          <p:cNvPr id="10" name="TextBox 9"/>
          <p:cNvSpPr txBox="1"/>
          <p:nvPr/>
        </p:nvSpPr>
        <p:spPr>
          <a:xfrm>
            <a:off x="822960" y="5495544"/>
            <a:ext cx="10515600" cy="777240"/>
          </a:xfrm>
          <a:prstGeom prst="rect">
            <a:avLst/>
          </a:prstGeom>
          <a:noFill/>
        </p:spPr>
        <p:txBody>
          <a:bodyPr wrap="square" lIns="0" rIns="0" tIns="0" bIns="0">
            <a:spAutoFit/>
          </a:bodyPr>
          <a:lstStyle/>
          <a:p>
            <a:pPr algn="l"/>
            <a:r>
              <a:rPr sz="1450" b="0">
                <a:solidFill>
                  <a:srgbClr val="FFFFFF"/>
                </a:solidFill>
                <a:latin typeface="Calibri"/>
              </a:rPr>
              <a:t>Journal target. PRB is safe and near-certain with this data. If the mechanism section holds with the full U range, the claim may be sharp enough to try PRL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