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965960"/>
            <a:ext cx="10515600" cy="1463040"/>
          </a:xfrm>
          <a:prstGeom prst="rect">
            <a:avLst/>
          </a:prstGeom>
          <a:noFill/>
          <a:ln>
            <a:noFill/>
          </a:ln>
        </p:spPr>
        <p:txBody>
          <a:bodyPr wrap="square" anchor="t" tIns="54864" bIns="54864">
            <a:spAutoFit/>
          </a:bodyPr>
          <a:lstStyle/>
          <a:p>
            <a:pPr algn="l">
              <a:spcAft>
                <a:spcPts val="400"/>
              </a:spcAft>
            </a:pPr>
            <a:r>
              <a:rPr sz="3800" b="1">
                <a:solidFill>
                  <a:srgbClr val="FFFFFF"/>
                </a:solidFill>
                <a:latin typeface="Calibri"/>
              </a:rPr>
              <a:t>From the spin-dependent NNN model</a:t>
            </a:r>
          </a:p>
          <a:p>
            <a:pPr algn="l">
              <a:spcAft>
                <a:spcPts val="400"/>
              </a:spcAft>
            </a:pPr>
            <a:r>
              <a:rPr sz="3800" b="1">
                <a:solidFill>
                  <a:srgbClr val="FFFFFF"/>
                </a:solidFill>
                <a:latin typeface="Calibri"/>
              </a:rPr>
              <a:t>to the checkerboard model</a:t>
            </a:r>
          </a:p>
        </p:txBody>
      </p:sp>
      <p:sp>
        <p:nvSpPr>
          <p:cNvPr id="4" name="TextBox 3"/>
          <p:cNvSpPr txBox="1"/>
          <p:nvPr/>
        </p:nvSpPr>
        <p:spPr>
          <a:xfrm>
            <a:off x="822960" y="3520440"/>
            <a:ext cx="10515600" cy="822960"/>
          </a:xfrm>
          <a:prstGeom prst="rect">
            <a:avLst/>
          </a:prstGeom>
          <a:noFill/>
          <a:ln>
            <a:noFill/>
          </a:ln>
        </p:spPr>
        <p:txBody>
          <a:bodyPr wrap="square" anchor="t" tIns="54864" bIns="54864">
            <a:spAutoFit/>
          </a:bodyPr>
          <a:lstStyle/>
          <a:p>
            <a:pPr algn="l">
              <a:spcAft>
                <a:spcPts val="0"/>
              </a:spcAft>
            </a:pPr>
            <a:r>
              <a:rPr sz="1900" b="0">
                <a:solidFill>
                  <a:srgbClr val="CADCFC"/>
                </a:solidFill>
                <a:latin typeface="Calibri"/>
              </a:rPr>
              <a:t>Record of every code change, with the reason for each</a:t>
            </a:r>
          </a:p>
        </p:txBody>
      </p:sp>
      <p:sp>
        <p:nvSpPr>
          <p:cNvPr id="5" name="TextBox 4"/>
          <p:cNvSpPr txBox="1"/>
          <p:nvPr/>
        </p:nvSpPr>
        <p:spPr>
          <a:xfrm>
            <a:off x="822960" y="4892040"/>
            <a:ext cx="10515600" cy="914400"/>
          </a:xfrm>
          <a:prstGeom prst="rect">
            <a:avLst/>
          </a:prstGeom>
          <a:noFill/>
          <a:ln>
            <a:noFill/>
          </a:ln>
        </p:spPr>
        <p:txBody>
          <a:bodyPr wrap="square" anchor="t" tIns="54864" bIns="54864">
            <a:spAutoFit/>
          </a:bodyPr>
          <a:lstStyle/>
          <a:p>
            <a:pPr algn="l">
              <a:spcAft>
                <a:spcPts val="300"/>
              </a:spcAft>
            </a:pPr>
            <a:r>
              <a:rPr sz="1200" b="0">
                <a:solidFill>
                  <a:srgbClr val="9FB0D8"/>
                </a:solidFill>
                <a:latin typeface="Courier New"/>
              </a:rPr>
              <a:t>Original   /home/phd25imran/CPQMC/Imran/Combined_Model</a:t>
            </a:r>
          </a:p>
          <a:p>
            <a:pPr algn="l">
              <a:spcAft>
                <a:spcPts val="300"/>
              </a:spcAft>
            </a:pPr>
            <a:r>
              <a:rPr sz="1200" b="0">
                <a:solidFill>
                  <a:srgbClr val="9FB0D8"/>
                </a:solidFill>
                <a:latin typeface="Courier New"/>
              </a:rPr>
              <a:t>Modified   /home/phd25imran/Checkerboard_Model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56032"/>
            <a:ext cx="11338560" cy="566928"/>
          </a:xfrm>
          <a:prstGeom prst="rect">
            <a:avLst/>
          </a:prstGeom>
          <a:noFill/>
          <a:ln>
            <a:noFill/>
          </a:ln>
        </p:spPr>
        <p:txBody>
          <a:bodyPr wrap="square" anchor="t" tIns="54864" bIns="54864">
            <a:spAutoFit/>
          </a:bodyPr>
          <a:lstStyle/>
          <a:p>
            <a:pPr algn="l">
              <a:spcAft>
                <a:spcPts val="0"/>
              </a:spcAft>
            </a:pPr>
            <a:r>
              <a:rPr sz="3000" b="1">
                <a:solidFill>
                  <a:srgbClr val="1E2761"/>
                </a:solidFill>
                <a:latin typeface="Calibri"/>
              </a:rPr>
              <a:t>Three files changed out of ten</a:t>
            </a:r>
          </a:p>
        </p:txBody>
      </p:sp>
      <p:sp>
        <p:nvSpPr>
          <p:cNvPr id="3" name="TextBox 2"/>
          <p:cNvSpPr txBox="1"/>
          <p:nvPr/>
        </p:nvSpPr>
        <p:spPr>
          <a:xfrm>
            <a:off x="411480" y="1051560"/>
            <a:ext cx="3566160" cy="1417320"/>
          </a:xfrm>
          <a:prstGeom prst="rect">
            <a:avLst/>
          </a:prstGeom>
          <a:solidFill>
            <a:srgbClr val="EAF3F9"/>
          </a:solidFill>
          <a:ln>
            <a:noFill/>
          </a:ln>
        </p:spPr>
        <p:txBody>
          <a:bodyPr wrap="square" anchor="ctr" tIns="54864" bIns="54864">
            <a:spAutoFit/>
          </a:bodyPr>
          <a:lstStyle/>
          <a:p>
            <a:pPr algn="ctr">
              <a:spcAft>
                <a:spcPts val="0"/>
              </a:spcAft>
            </a:pPr>
            <a:r>
              <a:rPr sz="7200" b="1">
                <a:solidFill>
                  <a:srgbClr val="0072B2"/>
                </a:solidFill>
                <a:latin typeface="Calibri"/>
              </a:rPr>
              <a:t>3</a:t>
            </a:r>
          </a:p>
        </p:txBody>
      </p:sp>
      <p:sp>
        <p:nvSpPr>
          <p:cNvPr id="4" name="TextBox 3"/>
          <p:cNvSpPr txBox="1"/>
          <p:nvPr/>
        </p:nvSpPr>
        <p:spPr>
          <a:xfrm>
            <a:off x="411480" y="2542032"/>
            <a:ext cx="3566160" cy="384048"/>
          </a:xfrm>
          <a:prstGeom prst="rect">
            <a:avLst/>
          </a:prstGeom>
          <a:noFill/>
          <a:ln>
            <a:noFill/>
          </a:ln>
        </p:spPr>
        <p:txBody>
          <a:bodyPr wrap="square" anchor="t" tIns="54864" bIns="54864">
            <a:spAutoFit/>
          </a:bodyPr>
          <a:lstStyle/>
          <a:p>
            <a:pPr algn="ctr">
              <a:spcAft>
                <a:spcPts val="0"/>
              </a:spcAft>
            </a:pPr>
            <a:r>
              <a:rPr sz="1300" b="0">
                <a:solidFill>
                  <a:srgbClr val="6B6B6B"/>
                </a:solidFill>
                <a:latin typeface="Calibri"/>
              </a:rPr>
              <a:t>files modified</a:t>
            </a:r>
          </a:p>
        </p:txBody>
      </p:sp>
      <p:sp>
        <p:nvSpPr>
          <p:cNvPr id="5" name="TextBox 4"/>
          <p:cNvSpPr txBox="1"/>
          <p:nvPr/>
        </p:nvSpPr>
        <p:spPr>
          <a:xfrm>
            <a:off x="4315968" y="1051560"/>
            <a:ext cx="3566160" cy="1417320"/>
          </a:xfrm>
          <a:prstGeom prst="rect">
            <a:avLst/>
          </a:prstGeom>
          <a:solidFill>
            <a:srgbClr val="F4F5F7"/>
          </a:solidFill>
          <a:ln>
            <a:noFill/>
          </a:ln>
        </p:spPr>
        <p:txBody>
          <a:bodyPr wrap="square" anchor="ctr" tIns="54864" bIns="54864">
            <a:spAutoFit/>
          </a:bodyPr>
          <a:lstStyle/>
          <a:p>
            <a:pPr algn="ctr">
              <a:spcAft>
                <a:spcPts val="0"/>
              </a:spcAft>
            </a:pPr>
            <a:r>
              <a:rPr sz="7200" b="1">
                <a:solidFill>
                  <a:srgbClr val="6B6B6B"/>
                </a:solidFill>
                <a:latin typeface="Calibri"/>
              </a:rPr>
              <a:t>7</a:t>
            </a:r>
          </a:p>
        </p:txBody>
      </p:sp>
      <p:sp>
        <p:nvSpPr>
          <p:cNvPr id="6" name="TextBox 5"/>
          <p:cNvSpPr txBox="1"/>
          <p:nvPr/>
        </p:nvSpPr>
        <p:spPr>
          <a:xfrm>
            <a:off x="4315968" y="2542032"/>
            <a:ext cx="3566160" cy="384048"/>
          </a:xfrm>
          <a:prstGeom prst="rect">
            <a:avLst/>
          </a:prstGeom>
          <a:noFill/>
          <a:ln>
            <a:noFill/>
          </a:ln>
        </p:spPr>
        <p:txBody>
          <a:bodyPr wrap="square" anchor="t" tIns="54864" bIns="54864">
            <a:spAutoFit/>
          </a:bodyPr>
          <a:lstStyle/>
          <a:p>
            <a:pPr algn="ctr">
              <a:spcAft>
                <a:spcPts val="0"/>
              </a:spcAft>
            </a:pPr>
            <a:r>
              <a:rPr sz="1300" b="0">
                <a:solidFill>
                  <a:srgbClr val="6B6B6B"/>
                </a:solidFill>
                <a:latin typeface="Calibri"/>
              </a:rPr>
              <a:t>files byte-identical</a:t>
            </a:r>
          </a:p>
        </p:txBody>
      </p:sp>
      <p:sp>
        <p:nvSpPr>
          <p:cNvPr id="7" name="TextBox 6"/>
          <p:cNvSpPr txBox="1"/>
          <p:nvPr/>
        </p:nvSpPr>
        <p:spPr>
          <a:xfrm>
            <a:off x="8220456" y="1051560"/>
            <a:ext cx="3557016" cy="1417320"/>
          </a:xfrm>
          <a:prstGeom prst="rect">
            <a:avLst/>
          </a:prstGeom>
          <a:solidFill>
            <a:srgbClr val="FDF1E8"/>
          </a:solidFill>
          <a:ln>
            <a:noFill/>
          </a:ln>
        </p:spPr>
        <p:txBody>
          <a:bodyPr wrap="square" anchor="ctr" tIns="54864" bIns="54864">
            <a:spAutoFit/>
          </a:bodyPr>
          <a:lstStyle/>
          <a:p>
            <a:pPr algn="ctr">
              <a:spcAft>
                <a:spcPts val="0"/>
              </a:spcAft>
            </a:pPr>
            <a:r>
              <a:rPr sz="7200" b="1">
                <a:solidFill>
                  <a:srgbClr val="D55E00"/>
                </a:solidFill>
                <a:latin typeface="Calibri"/>
              </a:rPr>
              <a:t>0</a:t>
            </a:r>
          </a:p>
        </p:txBody>
      </p:sp>
      <p:sp>
        <p:nvSpPr>
          <p:cNvPr id="8" name="TextBox 7"/>
          <p:cNvSpPr txBox="1"/>
          <p:nvPr/>
        </p:nvSpPr>
        <p:spPr>
          <a:xfrm>
            <a:off x="8220456" y="2542032"/>
            <a:ext cx="3557016" cy="384048"/>
          </a:xfrm>
          <a:prstGeom prst="rect">
            <a:avLst/>
          </a:prstGeom>
          <a:noFill/>
          <a:ln>
            <a:noFill/>
          </a:ln>
        </p:spPr>
        <p:txBody>
          <a:bodyPr wrap="square" anchor="t" tIns="54864" bIns="54864">
            <a:spAutoFit/>
          </a:bodyPr>
          <a:lstStyle/>
          <a:p>
            <a:pPr algn="ctr">
              <a:spcAft>
                <a:spcPts val="0"/>
              </a:spcAft>
            </a:pPr>
            <a:r>
              <a:rPr sz="1300" b="0">
                <a:solidFill>
                  <a:srgbClr val="6B6B6B"/>
                </a:solidFill>
                <a:latin typeface="Calibri"/>
              </a:rPr>
              <a:t>changes to the QMC engine</a:t>
            </a:r>
          </a:p>
        </p:txBody>
      </p:sp>
      <p:sp>
        <p:nvSpPr>
          <p:cNvPr id="9" name="TextBox 8"/>
          <p:cNvSpPr txBox="1"/>
          <p:nvPr/>
        </p:nvSpPr>
        <p:spPr>
          <a:xfrm>
            <a:off x="411480" y="3063240"/>
            <a:ext cx="5577840" cy="1874519"/>
          </a:xfrm>
          <a:prstGeom prst="rect">
            <a:avLst/>
          </a:prstGeom>
          <a:solidFill>
            <a:srgbClr val="EAF3F9"/>
          </a:solidFill>
          <a:ln w="12700">
            <a:solidFill>
              <a:srgbClr val="0072B2"/>
            </a:solidFill>
          </a:ln>
        </p:spPr>
        <p:txBody>
          <a:bodyPr wrap="square" anchor="t" tIns="54864" bIns="54864">
            <a:spAutoFit/>
          </a:bodyPr>
          <a:lstStyle/>
          <a:p>
            <a:pPr algn="l">
              <a:spcAft>
                <a:spcPts val="300"/>
              </a:spcAft>
            </a:pPr>
            <a:r>
              <a:rPr sz="1200" b="0">
                <a:solidFill>
                  <a:srgbClr val="212121"/>
                </a:solidFill>
                <a:latin typeface="Courier New"/>
              </a:rPr>
              <a:t>MODIFIED</a:t>
            </a:r>
          </a:p>
          <a:p>
            <a:pPr algn="l">
              <a:spcAft>
                <a:spcPts val="300"/>
              </a:spcAft>
            </a:pPr>
            <a:r>
              <a:rPr sz="1200" b="0">
                <a:solidFill>
                  <a:srgbClr val="212121"/>
                </a:solidFill>
                <a:latin typeface="Courier New"/>
              </a:rPr>
              <a:t>  mc2duph.f90      +40 / -10   kinetic matrix tk</a:t>
            </a:r>
          </a:p>
          <a:p>
            <a:pPr algn="l">
              <a:spcAft>
                <a:spcPts val="300"/>
              </a:spcAft>
            </a:pPr>
            <a:r>
              <a:rPr sz="1200" b="0">
                <a:solidFill>
                  <a:srgbClr val="212121"/>
                </a:solidFill>
                <a:latin typeface="Courier New"/>
              </a:rPr>
              <a:t>  parameter.f90     +1         declares tp, tm</a:t>
            </a:r>
          </a:p>
          <a:p>
            <a:pPr algn="l">
              <a:spcAft>
                <a:spcPts val="300"/>
              </a:spcAft>
            </a:pPr>
            <a:r>
              <a:rPr sz="1200" b="0">
                <a:solidFill>
                  <a:srgbClr val="212121"/>
                </a:solidFill>
                <a:latin typeface="Courier New"/>
              </a:rPr>
              <a:t>  wf_unified.py   +103 / -30   trial wavefunction</a:t>
            </a:r>
          </a:p>
        </p:txBody>
      </p:sp>
      <p:sp>
        <p:nvSpPr>
          <p:cNvPr id="10" name="TextBox 9"/>
          <p:cNvSpPr txBox="1"/>
          <p:nvPr/>
        </p:nvSpPr>
        <p:spPr>
          <a:xfrm>
            <a:off x="6199632" y="3063240"/>
            <a:ext cx="5577840" cy="1874519"/>
          </a:xfrm>
          <a:prstGeom prst="rect">
            <a:avLst/>
          </a:prstGeom>
          <a:solidFill>
            <a:srgbClr val="F4F5F7"/>
          </a:solidFill>
          <a:ln>
            <a:noFill/>
          </a:ln>
        </p:spPr>
        <p:txBody>
          <a:bodyPr wrap="square" anchor="t" tIns="54864" bIns="54864">
            <a:spAutoFit/>
          </a:bodyPr>
          <a:lstStyle/>
          <a:p>
            <a:pPr algn="l">
              <a:spcAft>
                <a:spcPts val="300"/>
              </a:spcAft>
            </a:pPr>
            <a:r>
              <a:rPr sz="1200" b="0">
                <a:solidFill>
                  <a:srgbClr val="212121"/>
                </a:solidFill>
                <a:latin typeface="Courier New"/>
              </a:rPr>
              <a:t>UNCHANGED</a:t>
            </a:r>
          </a:p>
          <a:p>
            <a:pPr algn="l">
              <a:spcAft>
                <a:spcPts val="300"/>
              </a:spcAft>
            </a:pPr>
            <a:r>
              <a:rPr sz="1200" b="0">
                <a:solidFill>
                  <a:srgbClr val="212121"/>
                </a:solidFill>
                <a:latin typeface="Courier New"/>
              </a:rPr>
              <a:t>  libuph.f90    2699 lines     QMC engine</a:t>
            </a:r>
          </a:p>
          <a:p>
            <a:pPr algn="l">
              <a:spcAft>
                <a:spcPts val="300"/>
              </a:spcAft>
            </a:pPr>
            <a:r>
              <a:rPr sz="1200" b="0">
                <a:solidFill>
                  <a:srgbClr val="212121"/>
                </a:solidFill>
                <a:latin typeface="Courier New"/>
              </a:rPr>
              <a:t>  cp.f90  cpOut.f90  cpPara.f90  jiekou.f90</a:t>
            </a:r>
          </a:p>
          <a:p>
            <a:pPr algn="l">
              <a:spcAft>
                <a:spcPts val="300"/>
              </a:spcAft>
            </a:pPr>
            <a:r>
              <a:rPr sz="1200" b="0">
                <a:solidFill>
                  <a:srgbClr val="212121"/>
                </a:solidFill>
                <a:latin typeface="Courier New"/>
              </a:rPr>
              <a:t>  in.dat        Makefile</a:t>
            </a:r>
          </a:p>
        </p:txBody>
      </p:sp>
      <p:sp>
        <p:nvSpPr>
          <p:cNvPr id="11" name="TextBox 10"/>
          <p:cNvSpPr txBox="1"/>
          <p:nvPr/>
        </p:nvSpPr>
        <p:spPr>
          <a:xfrm>
            <a:off x="411480" y="5074920"/>
            <a:ext cx="11365992" cy="1371600"/>
          </a:xfrm>
          <a:prstGeom prst="rect">
            <a:avLst/>
          </a:prstGeom>
          <a:solidFill>
            <a:srgbClr val="F4F5F7"/>
          </a:solidFill>
          <a:ln>
            <a:noFill/>
          </a:ln>
        </p:spPr>
        <p:txBody>
          <a:bodyPr wrap="square" anchor="t" tIns="54864" bIns="54864">
            <a:spAutoFit/>
          </a:bodyPr>
          <a:lstStyle/>
          <a:p>
            <a:pPr algn="l">
              <a:spcAft>
                <a:spcPts val="600"/>
              </a:spcAft>
            </a:pPr>
            <a:r>
              <a:rPr sz="1300" b="0">
                <a:solidFill>
                  <a:srgbClr val="212121"/>
                </a:solidFill>
                <a:latin typeface="Calibri"/>
              </a:rPr>
              <a:t>The Monte Carlo engine was never touched. libuph.f90 is 2699 lines and is byte-identical between the two versions, as are the driver, the I/O, the parallel layer and the build files.</a:t>
            </a:r>
          </a:p>
          <a:p>
            <a:pPr algn="l">
              <a:spcAft>
                <a:spcPts val="600"/>
              </a:spcAft>
            </a:pPr>
            <a:r>
              <a:rPr sz="1300" b="0">
                <a:solidFill>
                  <a:srgbClr val="212121"/>
                </a:solidFill>
                <a:latin typeface="Calibri"/>
              </a:rPr>
              <a:t>Only the definition of the model changed. Any difference in the results therefore comes from the physics of the Hamiltonian and not from the sampler.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56032"/>
            <a:ext cx="11338560" cy="566928"/>
          </a:xfrm>
          <a:prstGeom prst="rect">
            <a:avLst/>
          </a:prstGeom>
          <a:noFill/>
          <a:ln>
            <a:noFill/>
          </a:ln>
        </p:spPr>
        <p:txBody>
          <a:bodyPr wrap="square" anchor="t" tIns="54864" bIns="54864">
            <a:spAutoFit/>
          </a:bodyPr>
          <a:lstStyle/>
          <a:p>
            <a:pPr algn="l">
              <a:spcAft>
                <a:spcPts val="0"/>
              </a:spcAft>
            </a:pPr>
            <a:r>
              <a:rPr sz="3000" b="1">
                <a:solidFill>
                  <a:srgbClr val="1E2761"/>
                </a:solidFill>
                <a:latin typeface="Calibri"/>
              </a:rPr>
              <a:t>What the change does, in one line</a:t>
            </a:r>
          </a:p>
        </p:txBody>
      </p:sp>
      <p:sp>
        <p:nvSpPr>
          <p:cNvPr id="3" name="TextBox 2"/>
          <p:cNvSpPr txBox="1"/>
          <p:nvPr/>
        </p:nvSpPr>
        <p:spPr>
          <a:xfrm>
            <a:off x="411480" y="1170432"/>
            <a:ext cx="5577840" cy="310896"/>
          </a:xfrm>
          <a:prstGeom prst="rect">
            <a:avLst/>
          </a:prstGeom>
          <a:noFill/>
          <a:ln>
            <a:noFill/>
          </a:ln>
        </p:spPr>
        <p:txBody>
          <a:bodyPr wrap="square" anchor="t" tIns="54864" bIns="54864">
            <a:spAutoFit/>
          </a:bodyPr>
          <a:lstStyle/>
          <a:p>
            <a:pPr algn="l">
              <a:spcAft>
                <a:spcPts val="0"/>
              </a:spcAft>
            </a:pPr>
            <a:r>
              <a:rPr sz="1200" b="1">
                <a:solidFill>
                  <a:srgbClr val="D55E00"/>
                </a:solidFill>
                <a:latin typeface="Calibri"/>
              </a:rPr>
              <a:t>BEFORE</a:t>
            </a:r>
          </a:p>
        </p:txBody>
      </p:sp>
      <p:sp>
        <p:nvSpPr>
          <p:cNvPr id="4" name="TextBox 3"/>
          <p:cNvSpPr txBox="1"/>
          <p:nvPr/>
        </p:nvSpPr>
        <p:spPr>
          <a:xfrm>
            <a:off x="6199632" y="1170432"/>
            <a:ext cx="5577840" cy="310896"/>
          </a:xfrm>
          <a:prstGeom prst="rect">
            <a:avLst/>
          </a:prstGeom>
          <a:noFill/>
          <a:ln>
            <a:noFill/>
          </a:ln>
        </p:spPr>
        <p:txBody>
          <a:bodyPr wrap="square" anchor="t" tIns="54864" bIns="54864">
            <a:spAutoFit/>
          </a:bodyPr>
          <a:lstStyle/>
          <a:p>
            <a:pPr algn="l">
              <a:spcAft>
                <a:spcPts val="0"/>
              </a:spcAft>
            </a:pPr>
            <a:r>
              <a:rPr sz="1200" b="1">
                <a:solidFill>
                  <a:srgbClr val="0072B2"/>
                </a:solidFill>
                <a:latin typeface="Calibri"/>
              </a:rPr>
              <a:t>AFTER</a:t>
            </a:r>
          </a:p>
        </p:txBody>
      </p:sp>
      <p:sp>
        <p:nvSpPr>
          <p:cNvPr id="5" name="TextBox 4"/>
          <p:cNvSpPr txBox="1"/>
          <p:nvPr/>
        </p:nvSpPr>
        <p:spPr>
          <a:xfrm>
            <a:off x="411480" y="1481328"/>
            <a:ext cx="5577840" cy="1554480"/>
          </a:xfrm>
          <a:prstGeom prst="rect">
            <a:avLst/>
          </a:prstGeom>
          <a:solidFill>
            <a:srgbClr val="FDF1E8"/>
          </a:solidFill>
          <a:ln w="12700">
            <a:solidFill>
              <a:srgbClr val="D55E00"/>
            </a:solidFill>
          </a:ln>
        </p:spPr>
        <p:txBody>
          <a:bodyPr wrap="square" anchor="t" tIns="54864" bIns="54864">
            <a:spAutoFit/>
          </a:bodyPr>
          <a:lstStyle/>
          <a:p>
            <a:pPr algn="l">
              <a:spcAft>
                <a:spcPts val="400"/>
              </a:spcAft>
            </a:pPr>
            <a:r>
              <a:rPr sz="1500" b="0">
                <a:solidFill>
                  <a:srgbClr val="212121"/>
                </a:solidFill>
                <a:latin typeface="Calibri"/>
              </a:rPr>
              <a:t>The two spin species hop differently.</a:t>
            </a:r>
          </a:p>
          <a:p>
            <a:pPr algn="l">
              <a:spcAft>
                <a:spcPts val="400"/>
              </a:spcAft>
            </a:pPr>
            <a:r>
              <a:rPr sz="1500" b="0">
                <a:solidFill>
                  <a:srgbClr val="212121"/>
                </a:solidFill>
                <a:latin typeface="Calibri"/>
              </a:rPr>
              <a:t/>
            </a:r>
          </a:p>
          <a:p>
            <a:pPr algn="l">
              <a:spcAft>
                <a:spcPts val="400"/>
              </a:spcAft>
            </a:pPr>
            <a:r>
              <a:rPr sz="1500" b="0">
                <a:solidFill>
                  <a:srgbClr val="212121"/>
                </a:solidFill>
                <a:latin typeface="Calibri"/>
              </a:rPr>
              <a:t>Spin up sees  +t1  on one diagonal,</a:t>
            </a:r>
          </a:p>
          <a:p>
            <a:pPr algn="l">
              <a:spcAft>
                <a:spcPts val="400"/>
              </a:spcAft>
            </a:pPr>
            <a:r>
              <a:rPr sz="1500" b="0">
                <a:solidFill>
                  <a:srgbClr val="212121"/>
                </a:solidFill>
                <a:latin typeface="Calibri"/>
              </a:rPr>
              <a:t>spin down sees  -t1  on the same bond.</a:t>
            </a:r>
          </a:p>
          <a:p>
            <a:pPr algn="l">
              <a:spcAft>
                <a:spcPts val="400"/>
              </a:spcAft>
            </a:pPr>
            <a:r>
              <a:rPr sz="1500" b="0">
                <a:solidFill>
                  <a:srgbClr val="212121"/>
                </a:solidFill>
                <a:latin typeface="Calibri"/>
              </a:rPr>
              <a:t>Identical at every site.</a:t>
            </a:r>
          </a:p>
        </p:txBody>
      </p:sp>
      <p:sp>
        <p:nvSpPr>
          <p:cNvPr id="6" name="TextBox 5"/>
          <p:cNvSpPr txBox="1"/>
          <p:nvPr/>
        </p:nvSpPr>
        <p:spPr>
          <a:xfrm>
            <a:off x="6199632" y="1481328"/>
            <a:ext cx="5577840" cy="1554480"/>
          </a:xfrm>
          <a:prstGeom prst="rect">
            <a:avLst/>
          </a:prstGeom>
          <a:solidFill>
            <a:srgbClr val="EAF3F9"/>
          </a:solidFill>
          <a:ln w="12700">
            <a:solidFill>
              <a:srgbClr val="0072B2"/>
            </a:solidFill>
          </a:ln>
        </p:spPr>
        <p:txBody>
          <a:bodyPr wrap="square" anchor="t" tIns="54864" bIns="54864">
            <a:spAutoFit/>
          </a:bodyPr>
          <a:lstStyle/>
          <a:p>
            <a:pPr algn="l">
              <a:spcAft>
                <a:spcPts val="400"/>
              </a:spcAft>
            </a:pPr>
            <a:r>
              <a:rPr sz="1500" b="0">
                <a:solidFill>
                  <a:srgbClr val="212121"/>
                </a:solidFill>
                <a:latin typeface="Calibri"/>
              </a:rPr>
              <a:t>The two spin species hop identically.</a:t>
            </a:r>
          </a:p>
          <a:p>
            <a:pPr algn="l">
              <a:spcAft>
                <a:spcPts val="400"/>
              </a:spcAft>
            </a:pPr>
            <a:r>
              <a:rPr sz="1500" b="0">
                <a:solidFill>
                  <a:srgbClr val="212121"/>
                </a:solidFill>
                <a:latin typeface="Calibri"/>
              </a:rPr>
              <a:t/>
            </a:r>
          </a:p>
          <a:p>
            <a:pPr algn="l">
              <a:spcAft>
                <a:spcPts val="400"/>
              </a:spcAft>
            </a:pPr>
            <a:r>
              <a:rPr sz="1500" b="0">
                <a:solidFill>
                  <a:srgbClr val="212121"/>
                </a:solidFill>
                <a:latin typeface="Calibri"/>
              </a:rPr>
              <a:t>Both spins see the same amplitude.</a:t>
            </a:r>
          </a:p>
          <a:p>
            <a:pPr algn="l">
              <a:spcAft>
                <a:spcPts val="400"/>
              </a:spcAft>
            </a:pPr>
            <a:r>
              <a:rPr sz="1500" b="0">
                <a:solidFill>
                  <a:srgbClr val="212121"/>
                </a:solidFill>
                <a:latin typeface="Calibri"/>
              </a:rPr>
              <a:t>What alternates is the GEOMETRY:</a:t>
            </a:r>
          </a:p>
          <a:p>
            <a:pPr algn="l">
              <a:spcAft>
                <a:spcPts val="400"/>
              </a:spcAft>
            </a:pPr>
            <a:r>
              <a:rPr sz="1500" b="0">
                <a:solidFill>
                  <a:srgbClr val="212121"/>
                </a:solidFill>
                <a:latin typeface="Calibri"/>
              </a:rPr>
              <a:t>A and B sublattices are 90 deg rotated.</a:t>
            </a:r>
          </a:p>
        </p:txBody>
      </p:sp>
      <p:sp>
        <p:nvSpPr>
          <p:cNvPr id="7" name="TextBox 6"/>
          <p:cNvSpPr txBox="1"/>
          <p:nvPr/>
        </p:nvSpPr>
        <p:spPr>
          <a:xfrm>
            <a:off x="411480" y="3200400"/>
            <a:ext cx="5577840" cy="1234440"/>
          </a:xfrm>
          <a:prstGeom prst="rect">
            <a:avLst/>
          </a:prstGeom>
          <a:solidFill>
            <a:srgbClr val="FDF1E8"/>
          </a:solidFill>
          <a:ln>
            <a:noFill/>
          </a:ln>
        </p:spPr>
        <p:txBody>
          <a:bodyPr wrap="square" anchor="ctr" tIns="54864" bIns="54864">
            <a:spAutoFit/>
          </a:bodyPr>
          <a:lstStyle/>
          <a:p>
            <a:pPr algn="ctr">
              <a:spcAft>
                <a:spcPts val="400"/>
              </a:spcAft>
            </a:pPr>
            <a:r>
              <a:rPr sz="1600" b="1">
                <a:solidFill>
                  <a:srgbClr val="D55E00"/>
                </a:solidFill>
                <a:latin typeface="Calibri"/>
              </a:rPr>
              <a:t>Spin splitting is BUILT IN.</a:t>
            </a:r>
          </a:p>
          <a:p>
            <a:pPr algn="ctr">
              <a:spcAft>
                <a:spcPts val="400"/>
              </a:spcAft>
            </a:pPr>
            <a:r>
              <a:rPr sz="1600" b="1">
                <a:solidFill>
                  <a:srgbClr val="D55E00"/>
                </a:solidFill>
                <a:latin typeface="Calibri"/>
              </a:rPr>
              <a:t>It exists already at U = 0.</a:t>
            </a:r>
          </a:p>
        </p:txBody>
      </p:sp>
      <p:sp>
        <p:nvSpPr>
          <p:cNvPr id="8" name="TextBox 7"/>
          <p:cNvSpPr txBox="1"/>
          <p:nvPr/>
        </p:nvSpPr>
        <p:spPr>
          <a:xfrm>
            <a:off x="6199632" y="3200400"/>
            <a:ext cx="5577840" cy="1234440"/>
          </a:xfrm>
          <a:prstGeom prst="rect">
            <a:avLst/>
          </a:prstGeom>
          <a:solidFill>
            <a:srgbClr val="EAF3F9"/>
          </a:solidFill>
          <a:ln>
            <a:noFill/>
          </a:ln>
        </p:spPr>
        <p:txBody>
          <a:bodyPr wrap="square" anchor="ctr" tIns="54864" bIns="54864">
            <a:spAutoFit/>
          </a:bodyPr>
          <a:lstStyle/>
          <a:p>
            <a:pPr algn="ctr">
              <a:spcAft>
                <a:spcPts val="400"/>
              </a:spcAft>
            </a:pPr>
            <a:r>
              <a:rPr sz="1600" b="1">
                <a:solidFill>
                  <a:srgbClr val="0072B2"/>
                </a:solidFill>
                <a:latin typeface="Calibri"/>
              </a:rPr>
              <a:t>Spin splitting must EMERGE.</a:t>
            </a:r>
          </a:p>
          <a:p>
            <a:pPr algn="ctr">
              <a:spcAft>
                <a:spcPts val="400"/>
              </a:spcAft>
            </a:pPr>
            <a:r>
              <a:rPr sz="1600" b="1">
                <a:solidFill>
                  <a:srgbClr val="0072B2"/>
                </a:solidFill>
                <a:latin typeface="Calibri"/>
              </a:rPr>
              <a:t>It is exactly zero at U = 0.</a:t>
            </a:r>
          </a:p>
        </p:txBody>
      </p:sp>
      <p:sp>
        <p:nvSpPr>
          <p:cNvPr id="9" name="TextBox 8"/>
          <p:cNvSpPr txBox="1"/>
          <p:nvPr/>
        </p:nvSpPr>
        <p:spPr>
          <a:xfrm>
            <a:off x="411480" y="4626864"/>
            <a:ext cx="11365992" cy="1737360"/>
          </a:xfrm>
          <a:prstGeom prst="rect">
            <a:avLst/>
          </a:prstGeom>
          <a:solidFill>
            <a:srgbClr val="F4F5F7"/>
          </a:solidFill>
          <a:ln>
            <a:noFill/>
          </a:ln>
        </p:spPr>
        <p:txBody>
          <a:bodyPr wrap="square" anchor="t" tIns="54864" bIns="54864">
            <a:spAutoFit/>
          </a:bodyPr>
          <a:lstStyle/>
          <a:p>
            <a:pPr algn="l">
              <a:spcAft>
                <a:spcPts val="600"/>
              </a:spcAft>
            </a:pPr>
            <a:r>
              <a:rPr sz="1300" b="0">
                <a:solidFill>
                  <a:srgbClr val="212121"/>
                </a:solidFill>
                <a:latin typeface="Calibri"/>
              </a:rPr>
              <a:t>This is the whole point of the new model. In the old code the altermagnetic splitting is put in by hand through spin-dependent hopping, so the model can describe the consequences of altermagnetism but not its origin.</a:t>
            </a:r>
          </a:p>
          <a:p>
            <a:pPr algn="l">
              <a:spcAft>
                <a:spcPts val="600"/>
              </a:spcAft>
            </a:pPr>
            <a:r>
              <a:rPr sz="1300" b="0">
                <a:solidFill>
                  <a:srgbClr val="212121"/>
                </a:solidFill>
                <a:latin typeface="Calibri"/>
              </a:rPr>
              <a:t>In the new code nothing in the Hamiltonian distinguishes up from down. Any splitting that appears has to be generated by the on-site repulsion U, which is what makes the result an emergent altermagnet.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56032"/>
            <a:ext cx="11338560" cy="566928"/>
          </a:xfrm>
          <a:prstGeom prst="rect">
            <a:avLst/>
          </a:prstGeom>
          <a:noFill/>
          <a:ln>
            <a:noFill/>
          </a:ln>
        </p:spPr>
        <p:txBody>
          <a:bodyPr wrap="square" anchor="t" tIns="54864" bIns="54864">
            <a:spAutoFit/>
          </a:bodyPr>
          <a:lstStyle/>
          <a:p>
            <a:pPr algn="l">
              <a:spcAft>
                <a:spcPts val="0"/>
              </a:spcAft>
            </a:pPr>
            <a:r>
              <a:rPr sz="3000" b="1">
                <a:solidFill>
                  <a:srgbClr val="1E2761"/>
                </a:solidFill>
                <a:latin typeface="Calibri"/>
              </a:rPr>
              <a:t>mc2duph.f90  —  the kinetic matrix</a:t>
            </a:r>
          </a:p>
        </p:txBody>
      </p:sp>
      <p:sp>
        <p:nvSpPr>
          <p:cNvPr id="3" name="TextBox 2"/>
          <p:cNvSpPr txBox="1"/>
          <p:nvPr/>
        </p:nvSpPr>
        <p:spPr>
          <a:xfrm>
            <a:off x="411480" y="841248"/>
            <a:ext cx="11338560" cy="310896"/>
          </a:xfrm>
          <a:prstGeom prst="rect">
            <a:avLst/>
          </a:prstGeom>
          <a:noFill/>
          <a:ln>
            <a:noFill/>
          </a:ln>
        </p:spPr>
        <p:txBody>
          <a:bodyPr wrap="square" anchor="t" tIns="54864" bIns="54864">
            <a:spAutoFit/>
          </a:bodyPr>
          <a:lstStyle/>
          <a:p>
            <a:pPr algn="l">
              <a:spcAft>
                <a:spcPts val="0"/>
              </a:spcAft>
            </a:pPr>
            <a:r>
              <a:rPr sz="1200" b="0">
                <a:solidFill>
                  <a:srgbClr val="6B6B6B"/>
                </a:solidFill>
                <a:latin typeface="Courier New"/>
              </a:rPr>
              <a:t>subroutine that fills tk(:,:,spin)     +40 / -10 lines     THE physics change</a:t>
            </a:r>
          </a:p>
        </p:txBody>
      </p:sp>
      <p:sp>
        <p:nvSpPr>
          <p:cNvPr id="4" name="TextBox 3"/>
          <p:cNvSpPr txBox="1"/>
          <p:nvPr/>
        </p:nvSpPr>
        <p:spPr>
          <a:xfrm>
            <a:off x="411480" y="1170432"/>
            <a:ext cx="5577840" cy="310896"/>
          </a:xfrm>
          <a:prstGeom prst="rect">
            <a:avLst/>
          </a:prstGeom>
          <a:noFill/>
          <a:ln>
            <a:noFill/>
          </a:ln>
        </p:spPr>
        <p:txBody>
          <a:bodyPr wrap="square" anchor="t" tIns="54864" bIns="54864">
            <a:spAutoFit/>
          </a:bodyPr>
          <a:lstStyle/>
          <a:p>
            <a:pPr algn="l">
              <a:spcAft>
                <a:spcPts val="0"/>
              </a:spcAft>
            </a:pPr>
            <a:r>
              <a:rPr sz="1200" b="1">
                <a:solidFill>
                  <a:srgbClr val="D55E00"/>
                </a:solidFill>
                <a:latin typeface="Calibri"/>
              </a:rPr>
              <a:t>BEFORE   Combined_Model</a:t>
            </a:r>
          </a:p>
        </p:txBody>
      </p:sp>
      <p:sp>
        <p:nvSpPr>
          <p:cNvPr id="5" name="TextBox 4"/>
          <p:cNvSpPr txBox="1"/>
          <p:nvPr/>
        </p:nvSpPr>
        <p:spPr>
          <a:xfrm>
            <a:off x="6199632" y="1170432"/>
            <a:ext cx="5577840" cy="310896"/>
          </a:xfrm>
          <a:prstGeom prst="rect">
            <a:avLst/>
          </a:prstGeom>
          <a:noFill/>
          <a:ln>
            <a:noFill/>
          </a:ln>
        </p:spPr>
        <p:txBody>
          <a:bodyPr wrap="square" anchor="t" tIns="54864" bIns="54864">
            <a:spAutoFit/>
          </a:bodyPr>
          <a:lstStyle/>
          <a:p>
            <a:pPr algn="l">
              <a:spcAft>
                <a:spcPts val="0"/>
              </a:spcAft>
            </a:pPr>
            <a:r>
              <a:rPr sz="1200" b="1">
                <a:solidFill>
                  <a:srgbClr val="0072B2"/>
                </a:solidFill>
                <a:latin typeface="Calibri"/>
              </a:rPr>
              <a:t>AFTER   Checkerboard_Model</a:t>
            </a:r>
          </a:p>
        </p:txBody>
      </p:sp>
      <p:sp>
        <p:nvSpPr>
          <p:cNvPr id="6" name="TextBox 5"/>
          <p:cNvSpPr txBox="1"/>
          <p:nvPr/>
        </p:nvSpPr>
        <p:spPr>
          <a:xfrm>
            <a:off x="411480" y="1481328"/>
            <a:ext cx="5577840" cy="2999232"/>
          </a:xfrm>
          <a:prstGeom prst="rect">
            <a:avLst/>
          </a:prstGeom>
          <a:solidFill>
            <a:srgbClr val="FDF1E8"/>
          </a:solidFill>
          <a:ln w="12700">
            <a:solidFill>
              <a:srgbClr val="D55E00"/>
            </a:solidFill>
          </a:ln>
        </p:spPr>
        <p:txBody>
          <a:bodyPr wrap="square" anchor="t" tIns="54864" bIns="54864">
            <a:spAutoFit/>
          </a:bodyPr>
          <a:lstStyle/>
          <a:p>
            <a:pPr algn="l">
              <a:spcAft>
                <a:spcPts val="0"/>
              </a:spcAft>
            </a:pPr>
            <a:r>
              <a:rPr sz="850" b="0">
                <a:solidFill>
                  <a:srgbClr val="212121"/>
                </a:solidFill>
                <a:latin typeface="Courier New"/>
              </a:rPr>
              <a:t>do 121 i=1,nsites_cu</a:t>
            </a:r>
          </a:p>
          <a:p>
            <a:pPr algn="l">
              <a:spcAft>
                <a:spcPts val="0"/>
              </a:spcAft>
            </a:pPr>
            <a:r>
              <a:rPr sz="850" b="0">
                <a:solidFill>
                  <a:srgbClr val="212121"/>
                </a:solidFill>
                <a:latin typeface="Courier New"/>
              </a:rPr>
              <a:t>   tk(i, iposit(ixv(i)+1,iyv(i)+1), 1)= t1</a:t>
            </a:r>
          </a:p>
          <a:p>
            <a:pPr algn="l">
              <a:spcAft>
                <a:spcPts val="0"/>
              </a:spcAft>
            </a:pPr>
            <a:r>
              <a:rPr sz="850" b="0">
                <a:solidFill>
                  <a:srgbClr val="212121"/>
                </a:solidFill>
                <a:latin typeface="Courier New"/>
              </a:rPr>
              <a:t>   tk(i, iposit(ixv(i)-1,iyv(i)+1), 1)=-t1</a:t>
            </a:r>
          </a:p>
          <a:p>
            <a:pPr algn="l">
              <a:spcAft>
                <a:spcPts val="0"/>
              </a:spcAft>
            </a:pPr>
            <a:r>
              <a:rPr sz="850" b="0">
                <a:solidFill>
                  <a:srgbClr val="212121"/>
                </a:solidFill>
                <a:latin typeface="Courier New"/>
              </a:rPr>
              <a:t>   tk(i, iposit(ixv(i)-1,iyv(i)-1), 1)= t1</a:t>
            </a:r>
          </a:p>
          <a:p>
            <a:pPr algn="l">
              <a:spcAft>
                <a:spcPts val="0"/>
              </a:spcAft>
            </a:pPr>
            <a:r>
              <a:rPr sz="850" b="0">
                <a:solidFill>
                  <a:srgbClr val="212121"/>
                </a:solidFill>
                <a:latin typeface="Courier New"/>
              </a:rPr>
              <a:t>   tk(i, iposit(ixv(i)+1,iyv(i)-1), 1)=-t1</a:t>
            </a:r>
          </a:p>
          <a:p>
            <a:pPr algn="l">
              <a:spcAft>
                <a:spcPts val="0"/>
              </a:spcAft>
            </a:pPr>
            <a:r>
              <a:rPr sz="850" b="0">
                <a:solidFill>
                  <a:srgbClr val="212121"/>
                </a:solidFill>
                <a:latin typeface="Courier New"/>
              </a:rPr>
              <a:t/>
            </a:r>
          </a:p>
          <a:p>
            <a:pPr algn="l">
              <a:spcAft>
                <a:spcPts val="0"/>
              </a:spcAft>
            </a:pPr>
            <a:r>
              <a:rPr sz="850" b="0">
                <a:solidFill>
                  <a:srgbClr val="212121"/>
                </a:solidFill>
                <a:latin typeface="Courier New"/>
              </a:rPr>
              <a:t>   tk(i, iposit(ixv(i)+1,iyv(i)+1), 2)=-t1</a:t>
            </a:r>
          </a:p>
          <a:p>
            <a:pPr algn="l">
              <a:spcAft>
                <a:spcPts val="0"/>
              </a:spcAft>
            </a:pPr>
            <a:r>
              <a:rPr sz="850" b="0">
                <a:solidFill>
                  <a:srgbClr val="212121"/>
                </a:solidFill>
                <a:latin typeface="Courier New"/>
              </a:rPr>
              <a:t>   tk(i, iposit(ixv(i)-1,iyv(i)+1), 2)= t1</a:t>
            </a:r>
          </a:p>
          <a:p>
            <a:pPr algn="l">
              <a:spcAft>
                <a:spcPts val="0"/>
              </a:spcAft>
            </a:pPr>
            <a:r>
              <a:rPr sz="850" b="0">
                <a:solidFill>
                  <a:srgbClr val="212121"/>
                </a:solidFill>
                <a:latin typeface="Courier New"/>
              </a:rPr>
              <a:t>   tk(i, iposit(ixv(i)-1,iyv(i)-1), 2)=-t1</a:t>
            </a:r>
          </a:p>
          <a:p>
            <a:pPr algn="l">
              <a:spcAft>
                <a:spcPts val="0"/>
              </a:spcAft>
            </a:pPr>
            <a:r>
              <a:rPr sz="850" b="0">
                <a:solidFill>
                  <a:srgbClr val="212121"/>
                </a:solidFill>
                <a:latin typeface="Courier New"/>
              </a:rPr>
              <a:t>   tk(i, iposit(ixv(i)+1,iyv(i)-1), 2)= t1</a:t>
            </a:r>
          </a:p>
          <a:p>
            <a:pPr algn="l">
              <a:spcAft>
                <a:spcPts val="0"/>
              </a:spcAft>
            </a:pPr>
            <a:r>
              <a:rPr sz="850" b="0">
                <a:solidFill>
                  <a:srgbClr val="212121"/>
                </a:solidFill>
                <a:latin typeface="Courier New"/>
              </a:rPr>
              <a:t>121 continue</a:t>
            </a:r>
          </a:p>
          <a:p>
            <a:pPr algn="l">
              <a:spcAft>
                <a:spcPts val="0"/>
              </a:spcAft>
            </a:pPr>
            <a:r>
              <a:rPr sz="850" b="0">
                <a:solidFill>
                  <a:srgbClr val="212121"/>
                </a:solidFill>
                <a:latin typeface="Courier New"/>
              </a:rPr>
              <a:t/>
            </a:r>
          </a:p>
          <a:p>
            <a:pPr algn="l">
              <a:spcAft>
                <a:spcPts val="0"/>
              </a:spcAft>
            </a:pPr>
            <a:r>
              <a:rPr sz="850" b="0">
                <a:solidFill>
                  <a:srgbClr val="212121"/>
                </a:solidFill>
                <a:latin typeface="Courier New"/>
              </a:rPr>
              <a:t>   spin 1 and spin 2 get OPPOSITE signs</a:t>
            </a:r>
          </a:p>
          <a:p>
            <a:pPr algn="l">
              <a:spcAft>
                <a:spcPts val="0"/>
              </a:spcAft>
            </a:pPr>
            <a:r>
              <a:rPr sz="850" b="0">
                <a:solidFill>
                  <a:srgbClr val="212121"/>
                </a:solidFill>
                <a:latin typeface="Courier New"/>
              </a:rPr>
              <a:t>   no dependence on the site index</a:t>
            </a:r>
          </a:p>
        </p:txBody>
      </p:sp>
      <p:sp>
        <p:nvSpPr>
          <p:cNvPr id="7" name="TextBox 6"/>
          <p:cNvSpPr txBox="1"/>
          <p:nvPr/>
        </p:nvSpPr>
        <p:spPr>
          <a:xfrm>
            <a:off x="6199632" y="1481328"/>
            <a:ext cx="5577840" cy="2999232"/>
          </a:xfrm>
          <a:prstGeom prst="rect">
            <a:avLst/>
          </a:prstGeom>
          <a:solidFill>
            <a:srgbClr val="EAF3F9"/>
          </a:solidFill>
          <a:ln w="12700">
            <a:solidFill>
              <a:srgbClr val="0072B2"/>
            </a:solidFill>
          </a:ln>
        </p:spPr>
        <p:txBody>
          <a:bodyPr wrap="square" anchor="t" tIns="54864" bIns="54864">
            <a:spAutoFit/>
          </a:bodyPr>
          <a:lstStyle/>
          <a:p>
            <a:pPr algn="l">
              <a:spcAft>
                <a:spcPts val="0"/>
              </a:spcAft>
            </a:pPr>
            <a:r>
              <a:rPr sz="850" b="0">
                <a:solidFill>
                  <a:srgbClr val="212121"/>
                </a:solidFill>
                <a:latin typeface="Courier New"/>
              </a:rPr>
              <a:t>tp = t1 + t2</a:t>
            </a:r>
          </a:p>
          <a:p>
            <a:pPr algn="l">
              <a:spcAft>
                <a:spcPts val="0"/>
              </a:spcAft>
            </a:pPr>
            <a:r>
              <a:rPr sz="850" b="0">
                <a:solidFill>
                  <a:srgbClr val="212121"/>
                </a:solidFill>
                <a:latin typeface="Courier New"/>
              </a:rPr>
              <a:t>tm = t1 - t2</a:t>
            </a:r>
          </a:p>
          <a:p>
            <a:pPr algn="l">
              <a:spcAft>
                <a:spcPts val="0"/>
              </a:spcAft>
            </a:pPr>
            <a:r>
              <a:rPr sz="850" b="0">
                <a:solidFill>
                  <a:srgbClr val="212121"/>
                </a:solidFill>
                <a:latin typeface="Courier New"/>
              </a:rPr>
              <a:t>do 121 i=1,nsites_cu</a:t>
            </a:r>
          </a:p>
          <a:p>
            <a:pPr algn="l">
              <a:spcAft>
                <a:spcPts val="0"/>
              </a:spcAft>
            </a:pPr>
            <a:r>
              <a:rPr sz="850" b="0">
                <a:solidFill>
                  <a:srgbClr val="212121"/>
                </a:solidFill>
                <a:latin typeface="Courier New"/>
              </a:rPr>
              <a:t> if ( mod( ixv(i)+iyv(i), 2 ) == 0 ) then</a:t>
            </a:r>
          </a:p>
          <a:p>
            <a:pPr algn="l">
              <a:spcAft>
                <a:spcPts val="0"/>
              </a:spcAft>
            </a:pPr>
            <a:r>
              <a:rPr sz="850" b="0">
                <a:solidFill>
                  <a:srgbClr val="212121"/>
                </a:solidFill>
                <a:latin typeface="Courier New"/>
              </a:rPr>
              <a:t>   ! A site:  '/' = tp ,  '\' = tm</a:t>
            </a:r>
          </a:p>
          <a:p>
            <a:pPr algn="l">
              <a:spcAft>
                <a:spcPts val="0"/>
              </a:spcAft>
            </a:pPr>
            <a:r>
              <a:rPr sz="850" b="0">
                <a:solidFill>
                  <a:srgbClr val="212121"/>
                </a:solidFill>
                <a:latin typeface="Courier New"/>
              </a:rPr>
              <a:t>   tk(i, iposit(ixv(i)+1,iyv(i)+1), 1)=tp</a:t>
            </a:r>
          </a:p>
          <a:p>
            <a:pPr algn="l">
              <a:spcAft>
                <a:spcPts val="0"/>
              </a:spcAft>
            </a:pPr>
            <a:r>
              <a:rPr sz="850" b="0">
                <a:solidFill>
                  <a:srgbClr val="212121"/>
                </a:solidFill>
                <a:latin typeface="Courier New"/>
              </a:rPr>
              <a:t>   tk(i, iposit(ixv(i)-1,iyv(i)-1), 1)=tp</a:t>
            </a:r>
          </a:p>
          <a:p>
            <a:pPr algn="l">
              <a:spcAft>
                <a:spcPts val="0"/>
              </a:spcAft>
            </a:pPr>
            <a:r>
              <a:rPr sz="850" b="0">
                <a:solidFill>
                  <a:srgbClr val="212121"/>
                </a:solidFill>
                <a:latin typeface="Courier New"/>
              </a:rPr>
              <a:t>   tk(i, iposit(ixv(i)+1,iyv(i)-1), 1)=tm</a:t>
            </a:r>
          </a:p>
          <a:p>
            <a:pPr algn="l">
              <a:spcAft>
                <a:spcPts val="0"/>
              </a:spcAft>
            </a:pPr>
            <a:r>
              <a:rPr sz="850" b="0">
                <a:solidFill>
                  <a:srgbClr val="212121"/>
                </a:solidFill>
                <a:latin typeface="Courier New"/>
              </a:rPr>
              <a:t>   tk(i, iposit(ixv(i)-1,iyv(i)+1), 1)=tm</a:t>
            </a:r>
          </a:p>
          <a:p>
            <a:pPr algn="l">
              <a:spcAft>
                <a:spcPts val="0"/>
              </a:spcAft>
            </a:pPr>
            <a:r>
              <a:rPr sz="850" b="0">
                <a:solidFill>
                  <a:srgbClr val="212121"/>
                </a:solidFill>
                <a:latin typeface="Courier New"/>
              </a:rPr>
              <a:t>   tk(i, iposit(ixv(i)+1,iyv(i)+1), 2)=tp</a:t>
            </a:r>
          </a:p>
          <a:p>
            <a:pPr algn="l">
              <a:spcAft>
                <a:spcPts val="0"/>
              </a:spcAft>
            </a:pPr>
            <a:r>
              <a:rPr sz="850" b="0">
                <a:solidFill>
                  <a:srgbClr val="212121"/>
                </a:solidFill>
                <a:latin typeface="Courier New"/>
              </a:rPr>
              <a:t>   tk(i, iposit(ixv(i)-1,iyv(i)-1), 2)=tp</a:t>
            </a:r>
          </a:p>
          <a:p>
            <a:pPr algn="l">
              <a:spcAft>
                <a:spcPts val="0"/>
              </a:spcAft>
            </a:pPr>
            <a:r>
              <a:rPr sz="850" b="0">
                <a:solidFill>
                  <a:srgbClr val="212121"/>
                </a:solidFill>
                <a:latin typeface="Courier New"/>
              </a:rPr>
              <a:t>   tk(i, iposit(ixv(i)+1,iyv(i)-1), 2)=tm</a:t>
            </a:r>
          </a:p>
          <a:p>
            <a:pPr algn="l">
              <a:spcAft>
                <a:spcPts val="0"/>
              </a:spcAft>
            </a:pPr>
            <a:r>
              <a:rPr sz="850" b="0">
                <a:solidFill>
                  <a:srgbClr val="212121"/>
                </a:solidFill>
                <a:latin typeface="Courier New"/>
              </a:rPr>
              <a:t>   tk(i, iposit(ixv(i)-1,iyv(i)+1), 2)=tm</a:t>
            </a:r>
          </a:p>
          <a:p>
            <a:pPr algn="l">
              <a:spcAft>
                <a:spcPts val="0"/>
              </a:spcAft>
            </a:pPr>
            <a:r>
              <a:rPr sz="850" b="0">
                <a:solidFill>
                  <a:srgbClr val="212121"/>
                </a:solidFill>
                <a:latin typeface="Courier New"/>
              </a:rPr>
              <a:t> else</a:t>
            </a:r>
          </a:p>
          <a:p>
            <a:pPr algn="l">
              <a:spcAft>
                <a:spcPts val="0"/>
              </a:spcAft>
            </a:pPr>
            <a:r>
              <a:rPr sz="850" b="0">
                <a:solidFill>
                  <a:srgbClr val="212121"/>
                </a:solidFill>
                <a:latin typeface="Courier New"/>
              </a:rPr>
              <a:t>   ! B site: same 8 lines, tp and tm swapped</a:t>
            </a:r>
          </a:p>
          <a:p>
            <a:pPr algn="l">
              <a:spcAft>
                <a:spcPts val="0"/>
              </a:spcAft>
            </a:pPr>
            <a:r>
              <a:rPr sz="850" b="0">
                <a:solidFill>
                  <a:srgbClr val="212121"/>
                </a:solidFill>
                <a:latin typeface="Courier New"/>
              </a:rPr>
              <a:t> end if</a:t>
            </a:r>
          </a:p>
          <a:p>
            <a:pPr algn="l">
              <a:spcAft>
                <a:spcPts val="0"/>
              </a:spcAft>
            </a:pPr>
            <a:r>
              <a:rPr sz="850" b="0">
                <a:solidFill>
                  <a:srgbClr val="212121"/>
                </a:solidFill>
                <a:latin typeface="Courier New"/>
              </a:rPr>
              <a:t>121 continue</a:t>
            </a:r>
          </a:p>
        </p:txBody>
      </p:sp>
      <p:sp>
        <p:nvSpPr>
          <p:cNvPr id="8" name="TextBox 7"/>
          <p:cNvSpPr txBox="1"/>
          <p:nvPr/>
        </p:nvSpPr>
        <p:spPr>
          <a:xfrm>
            <a:off x="411480" y="4626864"/>
            <a:ext cx="11365992" cy="1865376"/>
          </a:xfrm>
          <a:prstGeom prst="rect">
            <a:avLst/>
          </a:prstGeom>
          <a:solidFill>
            <a:srgbClr val="F4F5F7"/>
          </a:solidFill>
          <a:ln>
            <a:noFill/>
          </a:ln>
        </p:spPr>
        <p:txBody>
          <a:bodyPr wrap="square" anchor="t" tIns="54864" bIns="54864">
            <a:spAutoFit/>
          </a:bodyPr>
          <a:lstStyle/>
          <a:p>
            <a:pPr algn="l">
              <a:spcAft>
                <a:spcPts val="500"/>
              </a:spcAft>
            </a:pPr>
            <a:r>
              <a:rPr sz="1300" b="0">
                <a:solidFill>
                  <a:srgbClr val="212121"/>
                </a:solidFill>
                <a:latin typeface="Calibri"/>
              </a:rPr>
              <a:t>The spin index is the whole story. On the left, tk(...,1) and tk(...,2) carry opposite signs, so the two spin species see different Hamiltonians before the interaction is switched on.</a:t>
            </a:r>
          </a:p>
          <a:p>
            <a:pPr algn="l">
              <a:spcAft>
                <a:spcPts val="500"/>
              </a:spcAft>
            </a:pPr>
            <a:r>
              <a:rPr sz="1300" b="0">
                <a:solidFill>
                  <a:srgbClr val="212121"/>
                </a:solidFill>
                <a:latin typeface="Calibri"/>
              </a:rPr>
              <a:t>On the right they carry the same value on every bond. What alternates instead is the site parity mod(ixv+iyv,2), which makes the A and B sublattices differ by a 90 degree rotation. That is the checkerboard geometry, and it is the condition an altermagnet needs. The strengths are tp = t1+t2 and tm = t1-t2, so the anisotropy is set by t2 = -delta.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56032"/>
            <a:ext cx="11338560" cy="566928"/>
          </a:xfrm>
          <a:prstGeom prst="rect">
            <a:avLst/>
          </a:prstGeom>
          <a:noFill/>
          <a:ln>
            <a:noFill/>
          </a:ln>
        </p:spPr>
        <p:txBody>
          <a:bodyPr wrap="square" anchor="t" tIns="54864" bIns="54864">
            <a:spAutoFit/>
          </a:bodyPr>
          <a:lstStyle/>
          <a:p>
            <a:pPr algn="l">
              <a:spcAft>
                <a:spcPts val="0"/>
              </a:spcAft>
            </a:pPr>
            <a:r>
              <a:rPr sz="3000" b="1">
                <a:solidFill>
                  <a:srgbClr val="1E2761"/>
                </a:solidFill>
                <a:latin typeface="Calibri"/>
              </a:rPr>
              <a:t>Verification: the splitting really is gone at U = 0</a:t>
            </a:r>
          </a:p>
        </p:txBody>
      </p:sp>
      <p:sp>
        <p:nvSpPr>
          <p:cNvPr id="3" name="TextBox 2"/>
          <p:cNvSpPr txBox="1"/>
          <p:nvPr/>
        </p:nvSpPr>
        <p:spPr>
          <a:xfrm>
            <a:off x="411480" y="841248"/>
            <a:ext cx="11338560" cy="310896"/>
          </a:xfrm>
          <a:prstGeom prst="rect">
            <a:avLst/>
          </a:prstGeom>
          <a:noFill/>
          <a:ln>
            <a:noFill/>
          </a:ln>
        </p:spPr>
        <p:txBody>
          <a:bodyPr wrap="square" anchor="t" tIns="54864" bIns="54864">
            <a:spAutoFit/>
          </a:bodyPr>
          <a:lstStyle/>
          <a:p>
            <a:pPr algn="l">
              <a:spcAft>
                <a:spcPts val="0"/>
              </a:spcAft>
            </a:pPr>
            <a:r>
              <a:rPr sz="1200" b="0">
                <a:solidFill>
                  <a:srgbClr val="6B6B6B"/>
                </a:solidFill>
                <a:latin typeface="Courier New"/>
              </a:rPr>
              <a:t>both kinetic matrices rebuilt exactly as mc2duph.f90 fills them, then diagonalised</a:t>
            </a:r>
          </a:p>
        </p:txBody>
      </p:sp>
      <p:sp>
        <p:nvSpPr>
          <p:cNvPr id="4" name="TextBox 3"/>
          <p:cNvSpPr txBox="1"/>
          <p:nvPr/>
        </p:nvSpPr>
        <p:spPr>
          <a:xfrm>
            <a:off x="411480" y="1234440"/>
            <a:ext cx="2286000" cy="566928"/>
          </a:xfrm>
          <a:prstGeom prst="rect">
            <a:avLst/>
          </a:prstGeom>
          <a:noFill/>
          <a:ln>
            <a:noFill/>
          </a:ln>
        </p:spPr>
        <p:txBody>
          <a:bodyPr wrap="square" anchor="ctr" tIns="54864" bIns="54864">
            <a:spAutoFit/>
          </a:bodyPr>
          <a:lstStyle/>
          <a:p>
            <a:pPr algn="ctr">
              <a:spcAft>
                <a:spcPts val="0"/>
              </a:spcAft>
            </a:pPr>
            <a:r>
              <a:rPr sz="1100" b="0">
                <a:solidFill>
                  <a:srgbClr val="6B6B6B"/>
                </a:solidFill>
                <a:latin typeface="Calibri"/>
              </a:rPr>
              <a:t/>
            </a:r>
          </a:p>
        </p:txBody>
      </p:sp>
      <p:sp>
        <p:nvSpPr>
          <p:cNvPr id="5" name="TextBox 4"/>
          <p:cNvSpPr txBox="1"/>
          <p:nvPr/>
        </p:nvSpPr>
        <p:spPr>
          <a:xfrm>
            <a:off x="2788920" y="1234440"/>
            <a:ext cx="3108960" cy="566928"/>
          </a:xfrm>
          <a:prstGeom prst="rect">
            <a:avLst/>
          </a:prstGeom>
          <a:noFill/>
          <a:ln>
            <a:noFill/>
          </a:ln>
        </p:spPr>
        <p:txBody>
          <a:bodyPr wrap="square" anchor="ctr" tIns="54864" bIns="54864">
            <a:spAutoFit/>
          </a:bodyPr>
          <a:lstStyle/>
          <a:p>
            <a:pPr algn="ctr">
              <a:spcAft>
                <a:spcPts val="0"/>
              </a:spcAft>
            </a:pPr>
            <a:r>
              <a:rPr sz="1100" b="0">
                <a:solidFill>
                  <a:srgbClr val="6B6B6B"/>
                </a:solidFill>
                <a:latin typeface="Calibri"/>
              </a:rPr>
              <a:t>max |K_up - K_dn|</a:t>
            </a:r>
          </a:p>
        </p:txBody>
      </p:sp>
      <p:sp>
        <p:nvSpPr>
          <p:cNvPr id="6" name="TextBox 5"/>
          <p:cNvSpPr txBox="1"/>
          <p:nvPr/>
        </p:nvSpPr>
        <p:spPr>
          <a:xfrm>
            <a:off x="5989320" y="1234440"/>
            <a:ext cx="3383280" cy="566928"/>
          </a:xfrm>
          <a:prstGeom prst="rect">
            <a:avLst/>
          </a:prstGeom>
          <a:noFill/>
          <a:ln>
            <a:noFill/>
          </a:ln>
        </p:spPr>
        <p:txBody>
          <a:bodyPr wrap="square" anchor="ctr" tIns="54864" bIns="54864">
            <a:spAutoFit/>
          </a:bodyPr>
          <a:lstStyle/>
          <a:p>
            <a:pPr algn="ctr">
              <a:spcAft>
                <a:spcPts val="0"/>
              </a:spcAft>
            </a:pPr>
            <a:r>
              <a:rPr sz="1100" b="0">
                <a:solidFill>
                  <a:srgbClr val="6B6B6B"/>
                </a:solidFill>
                <a:latin typeface="Calibri"/>
              </a:rPr>
              <a:t>splitting at fixed k</a:t>
            </a:r>
          </a:p>
        </p:txBody>
      </p:sp>
      <p:sp>
        <p:nvSpPr>
          <p:cNvPr id="7" name="TextBox 6"/>
          <p:cNvSpPr txBox="1"/>
          <p:nvPr/>
        </p:nvSpPr>
        <p:spPr>
          <a:xfrm>
            <a:off x="9464040" y="1234440"/>
            <a:ext cx="2286000" cy="566928"/>
          </a:xfrm>
          <a:prstGeom prst="rect">
            <a:avLst/>
          </a:prstGeom>
          <a:noFill/>
          <a:ln>
            <a:noFill/>
          </a:ln>
        </p:spPr>
        <p:txBody>
          <a:bodyPr wrap="square" anchor="ctr" tIns="54864" bIns="54864">
            <a:spAutoFit/>
          </a:bodyPr>
          <a:lstStyle/>
          <a:p>
            <a:pPr algn="ctr">
              <a:spcAft>
                <a:spcPts val="0"/>
              </a:spcAft>
            </a:pPr>
            <a:r>
              <a:rPr sz="1100" b="0">
                <a:solidFill>
                  <a:srgbClr val="6B6B6B"/>
                </a:solidFill>
                <a:latin typeface="Calibri"/>
              </a:rPr>
              <a:t/>
            </a:r>
          </a:p>
        </p:txBody>
      </p:sp>
      <p:sp>
        <p:nvSpPr>
          <p:cNvPr id="8" name="TextBox 7"/>
          <p:cNvSpPr txBox="1"/>
          <p:nvPr/>
        </p:nvSpPr>
        <p:spPr>
          <a:xfrm>
            <a:off x="411480" y="1892808"/>
            <a:ext cx="2286000" cy="566928"/>
          </a:xfrm>
          <a:prstGeom prst="rect">
            <a:avLst/>
          </a:prstGeom>
          <a:solidFill>
            <a:srgbClr val="FDF1E8"/>
          </a:solidFill>
          <a:ln>
            <a:noFill/>
          </a:ln>
        </p:spPr>
        <p:txBody>
          <a:bodyPr wrap="square" anchor="ctr" tIns="54864" bIns="54864">
            <a:spAutoFit/>
          </a:bodyPr>
          <a:lstStyle/>
          <a:p>
            <a:pPr algn="ctr">
              <a:spcAft>
                <a:spcPts val="0"/>
              </a:spcAft>
            </a:pPr>
            <a:r>
              <a:rPr sz="1500" b="1">
                <a:solidFill>
                  <a:srgbClr val="D55E00"/>
                </a:solidFill>
                <a:latin typeface="Calibri"/>
              </a:rPr>
              <a:t>BEFORE</a:t>
            </a:r>
          </a:p>
        </p:txBody>
      </p:sp>
      <p:sp>
        <p:nvSpPr>
          <p:cNvPr id="9" name="TextBox 8"/>
          <p:cNvSpPr txBox="1"/>
          <p:nvPr/>
        </p:nvSpPr>
        <p:spPr>
          <a:xfrm>
            <a:off x="2788920" y="1892808"/>
            <a:ext cx="3108960" cy="566928"/>
          </a:xfrm>
          <a:prstGeom prst="rect">
            <a:avLst/>
          </a:prstGeom>
          <a:solidFill>
            <a:srgbClr val="FDF1E8"/>
          </a:solidFill>
          <a:ln>
            <a:noFill/>
          </a:ln>
        </p:spPr>
        <p:txBody>
          <a:bodyPr wrap="square" anchor="ctr" tIns="54864" bIns="54864">
            <a:spAutoFit/>
          </a:bodyPr>
          <a:lstStyle/>
          <a:p>
            <a:pPr algn="ctr">
              <a:spcAft>
                <a:spcPts val="0"/>
              </a:spcAft>
            </a:pPr>
            <a:r>
              <a:rPr sz="1500" b="1">
                <a:solidFill>
                  <a:srgbClr val="D55E00"/>
                </a:solidFill>
                <a:latin typeface="Courier New"/>
              </a:rPr>
              <a:t>0.6000</a:t>
            </a:r>
          </a:p>
        </p:txBody>
      </p:sp>
      <p:sp>
        <p:nvSpPr>
          <p:cNvPr id="10" name="TextBox 9"/>
          <p:cNvSpPr txBox="1"/>
          <p:nvPr/>
        </p:nvSpPr>
        <p:spPr>
          <a:xfrm>
            <a:off x="5989320" y="1892808"/>
            <a:ext cx="3383280" cy="566928"/>
          </a:xfrm>
          <a:prstGeom prst="rect">
            <a:avLst/>
          </a:prstGeom>
          <a:solidFill>
            <a:srgbClr val="FDF1E8"/>
          </a:solidFill>
          <a:ln>
            <a:noFill/>
          </a:ln>
        </p:spPr>
        <p:txBody>
          <a:bodyPr wrap="square" anchor="ctr" tIns="54864" bIns="54864">
            <a:spAutoFit/>
          </a:bodyPr>
          <a:lstStyle/>
          <a:p>
            <a:pPr algn="ctr">
              <a:spcAft>
                <a:spcPts val="0"/>
              </a:spcAft>
            </a:pPr>
            <a:r>
              <a:rPr sz="1500" b="1">
                <a:solidFill>
                  <a:srgbClr val="D55E00"/>
                </a:solidFill>
                <a:latin typeface="Courier New"/>
              </a:rPr>
              <a:t>2.4000</a:t>
            </a:r>
          </a:p>
        </p:txBody>
      </p:sp>
      <p:sp>
        <p:nvSpPr>
          <p:cNvPr id="11" name="TextBox 10"/>
          <p:cNvSpPr txBox="1"/>
          <p:nvPr/>
        </p:nvSpPr>
        <p:spPr>
          <a:xfrm>
            <a:off x="9464040" y="1892808"/>
            <a:ext cx="2286000" cy="566928"/>
          </a:xfrm>
          <a:prstGeom prst="rect">
            <a:avLst/>
          </a:prstGeom>
          <a:solidFill>
            <a:srgbClr val="FDF1E8"/>
          </a:solidFill>
          <a:ln>
            <a:noFill/>
          </a:ln>
        </p:spPr>
        <p:txBody>
          <a:bodyPr wrap="square" anchor="ctr" tIns="54864" bIns="54864">
            <a:spAutoFit/>
          </a:bodyPr>
          <a:lstStyle/>
          <a:p>
            <a:pPr algn="ctr">
              <a:spcAft>
                <a:spcPts val="0"/>
              </a:spcAft>
            </a:pPr>
            <a:r>
              <a:rPr sz="1500" b="1">
                <a:solidFill>
                  <a:srgbClr val="D55E00"/>
                </a:solidFill>
                <a:latin typeface="Calibri"/>
              </a:rPr>
              <a:t>spin split</a:t>
            </a:r>
          </a:p>
        </p:txBody>
      </p:sp>
      <p:sp>
        <p:nvSpPr>
          <p:cNvPr id="12" name="TextBox 11"/>
          <p:cNvSpPr txBox="1"/>
          <p:nvPr/>
        </p:nvSpPr>
        <p:spPr>
          <a:xfrm>
            <a:off x="411480" y="2551176"/>
            <a:ext cx="2286000" cy="566928"/>
          </a:xfrm>
          <a:prstGeom prst="rect">
            <a:avLst/>
          </a:prstGeom>
          <a:solidFill>
            <a:srgbClr val="EAF3F9"/>
          </a:solidFill>
          <a:ln>
            <a:noFill/>
          </a:ln>
        </p:spPr>
        <p:txBody>
          <a:bodyPr wrap="square" anchor="ctr" tIns="54864" bIns="54864">
            <a:spAutoFit/>
          </a:bodyPr>
          <a:lstStyle/>
          <a:p>
            <a:pPr algn="ctr">
              <a:spcAft>
                <a:spcPts val="0"/>
              </a:spcAft>
            </a:pPr>
            <a:r>
              <a:rPr sz="1500" b="1">
                <a:solidFill>
                  <a:srgbClr val="0072B2"/>
                </a:solidFill>
                <a:latin typeface="Calibri"/>
              </a:rPr>
              <a:t>AFTER</a:t>
            </a:r>
          </a:p>
        </p:txBody>
      </p:sp>
      <p:sp>
        <p:nvSpPr>
          <p:cNvPr id="13" name="TextBox 12"/>
          <p:cNvSpPr txBox="1"/>
          <p:nvPr/>
        </p:nvSpPr>
        <p:spPr>
          <a:xfrm>
            <a:off x="2788920" y="2551176"/>
            <a:ext cx="3108960" cy="566928"/>
          </a:xfrm>
          <a:prstGeom prst="rect">
            <a:avLst/>
          </a:prstGeom>
          <a:solidFill>
            <a:srgbClr val="EAF3F9"/>
          </a:solidFill>
          <a:ln>
            <a:noFill/>
          </a:ln>
        </p:spPr>
        <p:txBody>
          <a:bodyPr wrap="square" anchor="ctr" tIns="54864" bIns="54864">
            <a:spAutoFit/>
          </a:bodyPr>
          <a:lstStyle/>
          <a:p>
            <a:pPr algn="ctr">
              <a:spcAft>
                <a:spcPts val="0"/>
              </a:spcAft>
            </a:pPr>
            <a:r>
              <a:rPr sz="1500" b="1">
                <a:solidFill>
                  <a:srgbClr val="0072B2"/>
                </a:solidFill>
                <a:latin typeface="Courier New"/>
              </a:rPr>
              <a:t>0.0000</a:t>
            </a:r>
          </a:p>
        </p:txBody>
      </p:sp>
      <p:sp>
        <p:nvSpPr>
          <p:cNvPr id="14" name="TextBox 13"/>
          <p:cNvSpPr txBox="1"/>
          <p:nvPr/>
        </p:nvSpPr>
        <p:spPr>
          <a:xfrm>
            <a:off x="5989320" y="2551176"/>
            <a:ext cx="3383280" cy="566928"/>
          </a:xfrm>
          <a:prstGeom prst="rect">
            <a:avLst/>
          </a:prstGeom>
          <a:solidFill>
            <a:srgbClr val="EAF3F9"/>
          </a:solidFill>
          <a:ln>
            <a:noFill/>
          </a:ln>
        </p:spPr>
        <p:txBody>
          <a:bodyPr wrap="square" anchor="ctr" tIns="54864" bIns="54864">
            <a:spAutoFit/>
          </a:bodyPr>
          <a:lstStyle/>
          <a:p>
            <a:pPr algn="ctr">
              <a:spcAft>
                <a:spcPts val="0"/>
              </a:spcAft>
            </a:pPr>
            <a:r>
              <a:rPr sz="1500" b="1">
                <a:solidFill>
                  <a:srgbClr val="0072B2"/>
                </a:solidFill>
                <a:latin typeface="Courier New"/>
              </a:rPr>
              <a:t>0.0000</a:t>
            </a:r>
          </a:p>
        </p:txBody>
      </p:sp>
      <p:sp>
        <p:nvSpPr>
          <p:cNvPr id="15" name="TextBox 14"/>
          <p:cNvSpPr txBox="1"/>
          <p:nvPr/>
        </p:nvSpPr>
        <p:spPr>
          <a:xfrm>
            <a:off x="9464040" y="2551176"/>
            <a:ext cx="2286000" cy="566928"/>
          </a:xfrm>
          <a:prstGeom prst="rect">
            <a:avLst/>
          </a:prstGeom>
          <a:solidFill>
            <a:srgbClr val="EAF3F9"/>
          </a:solidFill>
          <a:ln>
            <a:noFill/>
          </a:ln>
        </p:spPr>
        <p:txBody>
          <a:bodyPr wrap="square" anchor="ctr" tIns="54864" bIns="54864">
            <a:spAutoFit/>
          </a:bodyPr>
          <a:lstStyle/>
          <a:p>
            <a:pPr algn="ctr">
              <a:spcAft>
                <a:spcPts val="0"/>
              </a:spcAft>
            </a:pPr>
            <a:r>
              <a:rPr sz="1500" b="1">
                <a:solidFill>
                  <a:srgbClr val="0072B2"/>
                </a:solidFill>
                <a:latin typeface="Calibri"/>
              </a:rPr>
              <a:t>degenerate</a:t>
            </a:r>
          </a:p>
        </p:txBody>
      </p:sp>
      <p:sp>
        <p:nvSpPr>
          <p:cNvPr id="16" name="TextBox 15"/>
          <p:cNvSpPr txBox="1"/>
          <p:nvPr/>
        </p:nvSpPr>
        <p:spPr>
          <a:xfrm>
            <a:off x="411480" y="3401568"/>
            <a:ext cx="11365992" cy="1143000"/>
          </a:xfrm>
          <a:prstGeom prst="rect">
            <a:avLst/>
          </a:prstGeom>
          <a:solidFill>
            <a:srgbClr val="F4F5F7"/>
          </a:solidFill>
          <a:ln>
            <a:noFill/>
          </a:ln>
        </p:spPr>
        <p:txBody>
          <a:bodyPr wrap="square" anchor="t" tIns="54864" bIns="54864">
            <a:spAutoFit/>
          </a:bodyPr>
          <a:lstStyle/>
          <a:p>
            <a:pPr algn="l">
              <a:spcAft>
                <a:spcPts val="600"/>
              </a:spcAft>
            </a:pPr>
            <a:r>
              <a:rPr sz="1300" b="0">
                <a:solidFill>
                  <a:srgbClr val="212121"/>
                </a:solidFill>
                <a:latin typeface="Calibri"/>
              </a:rPr>
              <a:t>In the modified code K_up and K_dn are bit-for-bit identical, so no spin splitting is possible at any k before U is switched on.</a:t>
            </a:r>
          </a:p>
          <a:p>
            <a:pPr algn="l">
              <a:spcAft>
                <a:spcPts val="600"/>
              </a:spcAft>
            </a:pPr>
            <a:r>
              <a:rPr sz="1300" b="0">
                <a:solidFill>
                  <a:srgbClr val="212121"/>
                </a:solidFill>
                <a:latin typeface="Calibri"/>
              </a:rPr>
              <a:t>In the original code they differ by 0.6 and the splitting reaches 8|t1| = 2.4, with the d_xy form  E_up(k) - E_dn(k) = -8 t1 sin(kx) sin(ky), reproduced to 9e-16.</a:t>
            </a:r>
          </a:p>
        </p:txBody>
      </p:sp>
      <p:sp>
        <p:nvSpPr>
          <p:cNvPr id="17" name="TextBox 16"/>
          <p:cNvSpPr txBox="1"/>
          <p:nvPr/>
        </p:nvSpPr>
        <p:spPr>
          <a:xfrm>
            <a:off x="411480" y="4709160"/>
            <a:ext cx="11365992" cy="1691640"/>
          </a:xfrm>
          <a:prstGeom prst="rect">
            <a:avLst/>
          </a:prstGeom>
          <a:solidFill>
            <a:srgbClr val="FDF1E8"/>
          </a:solidFill>
          <a:ln w="12700">
            <a:solidFill>
              <a:srgbClr val="D55E00"/>
            </a:solidFill>
          </a:ln>
        </p:spPr>
        <p:txBody>
          <a:bodyPr wrap="square" anchor="t" tIns="54864" bIns="54864">
            <a:spAutoFit/>
          </a:bodyPr>
          <a:lstStyle/>
          <a:p>
            <a:pPr algn="l">
              <a:spcAft>
                <a:spcPts val="500"/>
              </a:spcAft>
            </a:pPr>
            <a:r>
              <a:rPr sz="1250" b="0">
                <a:solidFill>
                  <a:srgbClr val="212121"/>
                </a:solidFill>
                <a:latin typeface="Calibri"/>
              </a:rPr>
              <a:t>CAREFUL: comparing the sorted eigenvalue lists gives ZERO for both models.</a:t>
            </a:r>
          </a:p>
          <a:p>
            <a:pPr algn="l">
              <a:spcAft>
                <a:spcPts val="500"/>
              </a:spcAft>
            </a:pPr>
            <a:r>
              <a:rPr sz="1250" b="0">
                <a:solidFill>
                  <a:srgbClr val="212121"/>
                </a:solidFill>
                <a:latin typeface="Calibri"/>
              </a:rPr>
              <a:t>In the original model the two spin Hamiltonians are related by a 90 degree rotation, so their eigenvalue sets are identical even though the bands are split at each k. That degeneracy of the sets IS the altermagnetic compensation: equal density of states for both spins and zero net moment.</a:t>
            </a:r>
          </a:p>
          <a:p>
            <a:pPr algn="l">
              <a:spcAft>
                <a:spcPts val="500"/>
              </a:spcAft>
            </a:pPr>
            <a:r>
              <a:rPr sz="1250" b="0">
                <a:solidFill>
                  <a:srgbClr val="212121"/>
                </a:solidFill>
                <a:latin typeface="Calibri"/>
              </a:rPr>
              <a:t>This is why the paper measures the k-resolved polarization and not the total magnetization, which vanishes in both models and cannot tell them apart.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56032"/>
            <a:ext cx="11338560" cy="566928"/>
          </a:xfrm>
          <a:prstGeom prst="rect">
            <a:avLst/>
          </a:prstGeom>
          <a:noFill/>
          <a:ln>
            <a:noFill/>
          </a:ln>
        </p:spPr>
        <p:txBody>
          <a:bodyPr wrap="square" anchor="t" tIns="54864" bIns="54864">
            <a:spAutoFit/>
          </a:bodyPr>
          <a:lstStyle/>
          <a:p>
            <a:pPr algn="l">
              <a:spcAft>
                <a:spcPts val="0"/>
              </a:spcAft>
            </a:pPr>
            <a:r>
              <a:rPr sz="3000" b="1">
                <a:solidFill>
                  <a:srgbClr val="1E2761"/>
                </a:solidFill>
                <a:latin typeface="Calibri"/>
              </a:rPr>
              <a:t>parameter.f90  —  one declaration</a:t>
            </a:r>
          </a:p>
        </p:txBody>
      </p:sp>
      <p:sp>
        <p:nvSpPr>
          <p:cNvPr id="3" name="TextBox 2"/>
          <p:cNvSpPr txBox="1"/>
          <p:nvPr/>
        </p:nvSpPr>
        <p:spPr>
          <a:xfrm>
            <a:off x="411480" y="841248"/>
            <a:ext cx="11338560" cy="310896"/>
          </a:xfrm>
          <a:prstGeom prst="rect">
            <a:avLst/>
          </a:prstGeom>
          <a:noFill/>
          <a:ln>
            <a:noFill/>
          </a:ln>
        </p:spPr>
        <p:txBody>
          <a:bodyPr wrap="square" anchor="t" tIns="54864" bIns="54864">
            <a:spAutoFit/>
          </a:bodyPr>
          <a:lstStyle/>
          <a:p>
            <a:pPr algn="l">
              <a:spcAft>
                <a:spcPts val="0"/>
              </a:spcAft>
            </a:pPr>
            <a:r>
              <a:rPr sz="1200" b="0">
                <a:solidFill>
                  <a:srgbClr val="6B6B6B"/>
                </a:solidFill>
                <a:latin typeface="Courier New"/>
              </a:rPr>
              <a:t>module variables     +1 line</a:t>
            </a:r>
          </a:p>
        </p:txBody>
      </p:sp>
      <p:sp>
        <p:nvSpPr>
          <p:cNvPr id="4" name="TextBox 3"/>
          <p:cNvSpPr txBox="1"/>
          <p:nvPr/>
        </p:nvSpPr>
        <p:spPr>
          <a:xfrm>
            <a:off x="411480" y="1170432"/>
            <a:ext cx="5577840" cy="310896"/>
          </a:xfrm>
          <a:prstGeom prst="rect">
            <a:avLst/>
          </a:prstGeom>
          <a:noFill/>
          <a:ln>
            <a:noFill/>
          </a:ln>
        </p:spPr>
        <p:txBody>
          <a:bodyPr wrap="square" anchor="t" tIns="54864" bIns="54864">
            <a:spAutoFit/>
          </a:bodyPr>
          <a:lstStyle/>
          <a:p>
            <a:pPr algn="l">
              <a:spcAft>
                <a:spcPts val="0"/>
              </a:spcAft>
            </a:pPr>
            <a:r>
              <a:rPr sz="1200" b="1">
                <a:solidFill>
                  <a:srgbClr val="D55E00"/>
                </a:solidFill>
                <a:latin typeface="Calibri"/>
              </a:rPr>
              <a:t>BEFORE   Combined_Model</a:t>
            </a:r>
          </a:p>
        </p:txBody>
      </p:sp>
      <p:sp>
        <p:nvSpPr>
          <p:cNvPr id="5" name="TextBox 4"/>
          <p:cNvSpPr txBox="1"/>
          <p:nvPr/>
        </p:nvSpPr>
        <p:spPr>
          <a:xfrm>
            <a:off x="6199632" y="1170432"/>
            <a:ext cx="5577840" cy="310896"/>
          </a:xfrm>
          <a:prstGeom prst="rect">
            <a:avLst/>
          </a:prstGeom>
          <a:noFill/>
          <a:ln>
            <a:noFill/>
          </a:ln>
        </p:spPr>
        <p:txBody>
          <a:bodyPr wrap="square" anchor="t" tIns="54864" bIns="54864">
            <a:spAutoFit/>
          </a:bodyPr>
          <a:lstStyle/>
          <a:p>
            <a:pPr algn="l">
              <a:spcAft>
                <a:spcPts val="0"/>
              </a:spcAft>
            </a:pPr>
            <a:r>
              <a:rPr sz="1200" b="1">
                <a:solidFill>
                  <a:srgbClr val="0072B2"/>
                </a:solidFill>
                <a:latin typeface="Calibri"/>
              </a:rPr>
              <a:t>AFTER   Checkerboard_Model</a:t>
            </a:r>
          </a:p>
        </p:txBody>
      </p:sp>
      <p:sp>
        <p:nvSpPr>
          <p:cNvPr id="6" name="TextBox 5"/>
          <p:cNvSpPr txBox="1"/>
          <p:nvPr/>
        </p:nvSpPr>
        <p:spPr>
          <a:xfrm>
            <a:off x="411480" y="1481328"/>
            <a:ext cx="5577840" cy="2999232"/>
          </a:xfrm>
          <a:prstGeom prst="rect">
            <a:avLst/>
          </a:prstGeom>
          <a:solidFill>
            <a:srgbClr val="FDF1E8"/>
          </a:solidFill>
          <a:ln w="12700">
            <a:solidFill>
              <a:srgbClr val="D55E00"/>
            </a:solidFill>
          </a:ln>
        </p:spPr>
        <p:txBody>
          <a:bodyPr wrap="square" anchor="t" tIns="54864" bIns="54864">
            <a:spAutoFit/>
          </a:bodyPr>
          <a:lstStyle/>
          <a:p>
            <a:pPr algn="l">
              <a:spcAft>
                <a:spcPts val="0"/>
              </a:spcAft>
            </a:pPr>
            <a:r>
              <a:rPr sz="1000" b="0">
                <a:solidFill>
                  <a:srgbClr val="212121"/>
                </a:solidFill>
                <a:latin typeface="Courier New"/>
              </a:rPr>
              <a:t>!------------HoKinAnHop-------------!</a:t>
            </a:r>
          </a:p>
          <a:p>
            <a:pPr algn="l">
              <a:spcAft>
                <a:spcPts val="0"/>
              </a:spcAft>
            </a:pPr>
            <a:r>
              <a:rPr sz="1000" b="0">
                <a:solidFill>
                  <a:srgbClr val="212121"/>
                </a:solidFill>
                <a:latin typeface="Courier New"/>
              </a:rPr>
              <a:t/>
            </a:r>
          </a:p>
          <a:p>
            <a:pPr algn="l">
              <a:spcAft>
                <a:spcPts val="0"/>
              </a:spcAft>
            </a:pPr>
            <a:r>
              <a:rPr sz="1000" b="0">
                <a:solidFill>
                  <a:srgbClr val="212121"/>
                </a:solidFill>
                <a:latin typeface="Courier New"/>
              </a:rPr>
              <a:t>real(sp)::alpha,alphat1,ttp,ttn,tam</a:t>
            </a:r>
          </a:p>
          <a:p>
            <a:pPr algn="l">
              <a:spcAft>
                <a:spcPts val="0"/>
              </a:spcAft>
            </a:pPr>
            <a:r>
              <a:rPr sz="1000" b="0">
                <a:solidFill>
                  <a:srgbClr val="212121"/>
                </a:solidFill>
                <a:latin typeface="Courier New"/>
              </a:rPr>
              <a:t/>
            </a:r>
          </a:p>
          <a:p>
            <a:pPr algn="l">
              <a:spcAft>
                <a:spcPts val="0"/>
              </a:spcAft>
            </a:pPr>
            <a:r>
              <a:rPr sz="1000" b="0">
                <a:solidFill>
                  <a:srgbClr val="212121"/>
                </a:solidFill>
                <a:latin typeface="Courier New"/>
              </a:rPr>
              <a:t/>
            </a:r>
          </a:p>
          <a:p>
            <a:pPr algn="l">
              <a:spcAft>
                <a:spcPts val="0"/>
              </a:spcAft>
            </a:pPr>
            <a:r>
              <a:rPr sz="1000" b="0">
                <a:solidFill>
                  <a:srgbClr val="212121"/>
                </a:solidFill>
                <a:latin typeface="Courier New"/>
              </a:rPr>
              <a:t/>
            </a:r>
          </a:p>
          <a:p>
            <a:pPr algn="l">
              <a:spcAft>
                <a:spcPts val="0"/>
              </a:spcAft>
            </a:pPr>
            <a:r>
              <a:rPr sz="1000" b="0">
                <a:solidFill>
                  <a:srgbClr val="212121"/>
                </a:solidFill>
                <a:latin typeface="Courier New"/>
              </a:rPr>
              <a:t/>
            </a:r>
          </a:p>
          <a:p>
            <a:pPr algn="l">
              <a:spcAft>
                <a:spcPts val="0"/>
              </a:spcAft>
            </a:pPr>
            <a:r>
              <a:rPr sz="1000" b="0">
                <a:solidFill>
                  <a:srgbClr val="212121"/>
                </a:solidFill>
                <a:latin typeface="Courier New"/>
              </a:rPr>
              <a:t>!for specify the k-point 1-kx 2-ky</a:t>
            </a:r>
          </a:p>
        </p:txBody>
      </p:sp>
      <p:sp>
        <p:nvSpPr>
          <p:cNvPr id="7" name="TextBox 6"/>
          <p:cNvSpPr txBox="1"/>
          <p:nvPr/>
        </p:nvSpPr>
        <p:spPr>
          <a:xfrm>
            <a:off x="6199632" y="1481328"/>
            <a:ext cx="5577840" cy="2999232"/>
          </a:xfrm>
          <a:prstGeom prst="rect">
            <a:avLst/>
          </a:prstGeom>
          <a:solidFill>
            <a:srgbClr val="EAF3F9"/>
          </a:solidFill>
          <a:ln w="12700">
            <a:solidFill>
              <a:srgbClr val="0072B2"/>
            </a:solidFill>
          </a:ln>
        </p:spPr>
        <p:txBody>
          <a:bodyPr wrap="square" anchor="t" tIns="54864" bIns="54864">
            <a:spAutoFit/>
          </a:bodyPr>
          <a:lstStyle/>
          <a:p>
            <a:pPr algn="l">
              <a:spcAft>
                <a:spcPts val="0"/>
              </a:spcAft>
            </a:pPr>
            <a:r>
              <a:rPr sz="1000" b="0">
                <a:solidFill>
                  <a:srgbClr val="212121"/>
                </a:solidFill>
                <a:latin typeface="Courier New"/>
              </a:rPr>
              <a:t>!------------HoKinAnHop-------------!</a:t>
            </a:r>
          </a:p>
          <a:p>
            <a:pPr algn="l">
              <a:spcAft>
                <a:spcPts val="0"/>
              </a:spcAft>
            </a:pPr>
            <a:r>
              <a:rPr sz="1000" b="0">
                <a:solidFill>
                  <a:srgbClr val="212121"/>
                </a:solidFill>
                <a:latin typeface="Courier New"/>
              </a:rPr>
              <a:t/>
            </a:r>
          </a:p>
          <a:p>
            <a:pPr algn="l">
              <a:spcAft>
                <a:spcPts val="0"/>
              </a:spcAft>
            </a:pPr>
            <a:r>
              <a:rPr sz="1000" b="0">
                <a:solidFill>
                  <a:srgbClr val="212121"/>
                </a:solidFill>
                <a:latin typeface="Courier New"/>
              </a:rPr>
              <a:t>real(sp)::alpha,alphat1,ttp,ttn,tam</a:t>
            </a:r>
          </a:p>
          <a:p>
            <a:pPr algn="l">
              <a:spcAft>
                <a:spcPts val="0"/>
              </a:spcAft>
            </a:pPr>
            <a:r>
              <a:rPr sz="1000" b="0">
                <a:solidFill>
                  <a:srgbClr val="212121"/>
                </a:solidFill>
                <a:latin typeface="Courier New"/>
              </a:rPr>
              <a:t>real(sp)::tp,tm   ! checkerboard</a:t>
            </a:r>
          </a:p>
          <a:p>
            <a:pPr algn="l">
              <a:spcAft>
                <a:spcPts val="0"/>
              </a:spcAft>
            </a:pPr>
            <a:r>
              <a:rPr sz="1000" b="0">
                <a:solidFill>
                  <a:srgbClr val="212121"/>
                </a:solidFill>
                <a:latin typeface="Courier New"/>
              </a:rPr>
              <a:t>                  ! anisotropic diagonals:</a:t>
            </a:r>
          </a:p>
          <a:p>
            <a:pPr algn="l">
              <a:spcAft>
                <a:spcPts val="0"/>
              </a:spcAft>
            </a:pPr>
            <a:r>
              <a:rPr sz="1000" b="0">
                <a:solidFill>
                  <a:srgbClr val="212121"/>
                </a:solidFill>
                <a:latin typeface="Courier New"/>
              </a:rPr>
              <a:t>                  ! tp = t1+t2, tm = t1-t2</a:t>
            </a:r>
          </a:p>
          <a:p>
            <a:pPr algn="l">
              <a:spcAft>
                <a:spcPts val="0"/>
              </a:spcAft>
            </a:pPr>
            <a:r>
              <a:rPr sz="1000" b="0">
                <a:solidFill>
                  <a:srgbClr val="212121"/>
                </a:solidFill>
                <a:latin typeface="Courier New"/>
              </a:rPr>
              <a:t/>
            </a:r>
          </a:p>
          <a:p>
            <a:pPr algn="l">
              <a:spcAft>
                <a:spcPts val="0"/>
              </a:spcAft>
            </a:pPr>
            <a:r>
              <a:rPr sz="1000" b="0">
                <a:solidFill>
                  <a:srgbClr val="212121"/>
                </a:solidFill>
                <a:latin typeface="Courier New"/>
              </a:rPr>
              <a:t>!for specify the k-point 1-kx 2-ky</a:t>
            </a:r>
          </a:p>
        </p:txBody>
      </p:sp>
      <p:sp>
        <p:nvSpPr>
          <p:cNvPr id="8" name="TextBox 7"/>
          <p:cNvSpPr txBox="1"/>
          <p:nvPr/>
        </p:nvSpPr>
        <p:spPr>
          <a:xfrm>
            <a:off x="411480" y="4626864"/>
            <a:ext cx="11365992" cy="1865376"/>
          </a:xfrm>
          <a:prstGeom prst="rect">
            <a:avLst/>
          </a:prstGeom>
          <a:solidFill>
            <a:srgbClr val="F4F5F7"/>
          </a:solidFill>
          <a:ln>
            <a:noFill/>
          </a:ln>
        </p:spPr>
        <p:txBody>
          <a:bodyPr wrap="square" anchor="t" tIns="54864" bIns="54864">
            <a:spAutoFit/>
          </a:bodyPr>
          <a:lstStyle/>
          <a:p>
            <a:pPr algn="l">
              <a:spcAft>
                <a:spcPts val="500"/>
              </a:spcAft>
            </a:pPr>
            <a:r>
              <a:rPr sz="1300" b="0">
                <a:solidFill>
                  <a:srgbClr val="212121"/>
                </a:solidFill>
                <a:latin typeface="Calibri"/>
              </a:rPr>
              <a:t>The smallest change in the project, and it exists only because Fortran requires every variable to be declared before use.</a:t>
            </a:r>
          </a:p>
          <a:p>
            <a:pPr algn="l">
              <a:spcAft>
                <a:spcPts val="500"/>
              </a:spcAft>
            </a:pPr>
            <a:r>
              <a:rPr sz="1300" b="0">
                <a:solidFill>
                  <a:srgbClr val="212121"/>
                </a:solidFill>
                <a:latin typeface="Calibri"/>
              </a:rPr>
              <a:t>tp and tm hold the two diagonal strengths used by mc2duph.f90. Nothing else in the module was touched, so no existing variable changed meaning and no routine that used the old declarations needed recompiling differently.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56032"/>
            <a:ext cx="11338560" cy="566928"/>
          </a:xfrm>
          <a:prstGeom prst="rect">
            <a:avLst/>
          </a:prstGeom>
          <a:noFill/>
          <a:ln>
            <a:noFill/>
          </a:ln>
        </p:spPr>
        <p:txBody>
          <a:bodyPr wrap="square" anchor="t" tIns="54864" bIns="54864">
            <a:spAutoFit/>
          </a:bodyPr>
          <a:lstStyle/>
          <a:p>
            <a:pPr algn="l">
              <a:spcAft>
                <a:spcPts val="0"/>
              </a:spcAft>
            </a:pPr>
            <a:r>
              <a:rPr sz="3000" b="1">
                <a:solidFill>
                  <a:srgbClr val="1E2761"/>
                </a:solidFill>
                <a:latin typeface="Calibri"/>
              </a:rPr>
              <a:t>wf_unified.py  —  trial wavefunction, kinetic matrix</a:t>
            </a:r>
          </a:p>
        </p:txBody>
      </p:sp>
      <p:sp>
        <p:nvSpPr>
          <p:cNvPr id="3" name="TextBox 2"/>
          <p:cNvSpPr txBox="1"/>
          <p:nvPr/>
        </p:nvSpPr>
        <p:spPr>
          <a:xfrm>
            <a:off x="411480" y="841248"/>
            <a:ext cx="11338560" cy="310896"/>
          </a:xfrm>
          <a:prstGeom prst="rect">
            <a:avLst/>
          </a:prstGeom>
          <a:noFill/>
          <a:ln>
            <a:noFill/>
          </a:ln>
        </p:spPr>
        <p:txBody>
          <a:bodyPr wrap="square" anchor="t" tIns="54864" bIns="54864">
            <a:spAutoFit/>
          </a:bodyPr>
          <a:lstStyle/>
          <a:p>
            <a:pPr algn="l">
              <a:spcAft>
                <a:spcPts val="0"/>
              </a:spcAft>
            </a:pPr>
            <a:r>
              <a:rPr sz="1200" b="0">
                <a:solidFill>
                  <a:srgbClr val="6B6B6B"/>
                </a:solidFill>
                <a:latin typeface="Courier New"/>
              </a:rPr>
              <a:t>def GetK(...)     the Hartree-Fock trial state handed to the QMC</a:t>
            </a:r>
          </a:p>
        </p:txBody>
      </p:sp>
      <p:sp>
        <p:nvSpPr>
          <p:cNvPr id="4" name="TextBox 3"/>
          <p:cNvSpPr txBox="1"/>
          <p:nvPr/>
        </p:nvSpPr>
        <p:spPr>
          <a:xfrm>
            <a:off x="411480" y="1170432"/>
            <a:ext cx="5577840" cy="310896"/>
          </a:xfrm>
          <a:prstGeom prst="rect">
            <a:avLst/>
          </a:prstGeom>
          <a:noFill/>
          <a:ln>
            <a:noFill/>
          </a:ln>
        </p:spPr>
        <p:txBody>
          <a:bodyPr wrap="square" anchor="t" tIns="54864" bIns="54864">
            <a:spAutoFit/>
          </a:bodyPr>
          <a:lstStyle/>
          <a:p>
            <a:pPr algn="l">
              <a:spcAft>
                <a:spcPts val="0"/>
              </a:spcAft>
            </a:pPr>
            <a:r>
              <a:rPr sz="1200" b="1">
                <a:solidFill>
                  <a:srgbClr val="D55E00"/>
                </a:solidFill>
                <a:latin typeface="Calibri"/>
              </a:rPr>
              <a:t>BEFORE   Combined_Model</a:t>
            </a:r>
          </a:p>
        </p:txBody>
      </p:sp>
      <p:sp>
        <p:nvSpPr>
          <p:cNvPr id="5" name="TextBox 4"/>
          <p:cNvSpPr txBox="1"/>
          <p:nvPr/>
        </p:nvSpPr>
        <p:spPr>
          <a:xfrm>
            <a:off x="6199632" y="1170432"/>
            <a:ext cx="5577840" cy="310896"/>
          </a:xfrm>
          <a:prstGeom prst="rect">
            <a:avLst/>
          </a:prstGeom>
          <a:noFill/>
          <a:ln>
            <a:noFill/>
          </a:ln>
        </p:spPr>
        <p:txBody>
          <a:bodyPr wrap="square" anchor="t" tIns="54864" bIns="54864">
            <a:spAutoFit/>
          </a:bodyPr>
          <a:lstStyle/>
          <a:p>
            <a:pPr algn="l">
              <a:spcAft>
                <a:spcPts val="0"/>
              </a:spcAft>
            </a:pPr>
            <a:r>
              <a:rPr sz="1200" b="1">
                <a:solidFill>
                  <a:srgbClr val="0072B2"/>
                </a:solidFill>
                <a:latin typeface="Calibri"/>
              </a:rPr>
              <a:t>AFTER   Checkerboard_Model</a:t>
            </a:r>
          </a:p>
        </p:txBody>
      </p:sp>
      <p:sp>
        <p:nvSpPr>
          <p:cNvPr id="6" name="TextBox 5"/>
          <p:cNvSpPr txBox="1"/>
          <p:nvPr/>
        </p:nvSpPr>
        <p:spPr>
          <a:xfrm>
            <a:off x="411480" y="1481328"/>
            <a:ext cx="5577840" cy="2999232"/>
          </a:xfrm>
          <a:prstGeom prst="rect">
            <a:avLst/>
          </a:prstGeom>
          <a:solidFill>
            <a:srgbClr val="FDF1E8"/>
          </a:solidFill>
          <a:ln w="12700">
            <a:solidFill>
              <a:srgbClr val="D55E00"/>
            </a:solidFill>
          </a:ln>
        </p:spPr>
        <p:txBody>
          <a:bodyPr wrap="square" anchor="t" tIns="54864" bIns="54864">
            <a:spAutoFit/>
          </a:bodyPr>
          <a:lstStyle/>
          <a:p>
            <a:pPr algn="l">
              <a:spcAft>
                <a:spcPts val="0"/>
              </a:spcAft>
            </a:pPr>
            <a:r>
              <a:rPr sz="850" b="0">
                <a:solidFill>
                  <a:srgbClr val="212121"/>
                </a:solidFill>
                <a:latin typeface="Courier New"/>
              </a:rPr>
              <a:t>def GetK(Lx, Ly, t, tA, tt):</a:t>
            </a:r>
          </a:p>
          <a:p>
            <a:pPr algn="l">
              <a:spcAft>
                <a:spcPts val="0"/>
              </a:spcAft>
            </a:pPr>
            <a:r>
              <a:rPr sz="850" b="0">
                <a:solidFill>
                  <a:srgbClr val="212121"/>
                </a:solidFill>
                <a:latin typeface="Courier New"/>
              </a:rPr>
              <a:t/>
            </a:r>
          </a:p>
          <a:p>
            <a:pPr algn="l">
              <a:spcAft>
                <a:spcPts val="0"/>
              </a:spcAft>
            </a:pPr>
            <a:r>
              <a:rPr sz="850" b="0">
                <a:solidFill>
                  <a:srgbClr val="212121"/>
                </a:solidFill>
                <a:latin typeface="Courier New"/>
              </a:rPr>
              <a:t>    # NN with spin-dependent anisotropy</a:t>
            </a:r>
          </a:p>
          <a:p>
            <a:pPr algn="l">
              <a:spcAft>
                <a:spcPts val="0"/>
              </a:spcAft>
            </a:pPr>
            <a:r>
              <a:rPr sz="850" b="0">
                <a:solidFill>
                  <a:srgbClr val="212121"/>
                </a:solidFill>
                <a:latin typeface="Courier New"/>
              </a:rPr>
              <a:t>    K_mat[i][down]  -= t - tA</a:t>
            </a:r>
          </a:p>
          <a:p>
            <a:pPr algn="l">
              <a:spcAft>
                <a:spcPts val="0"/>
              </a:spcAft>
            </a:pPr>
            <a:r>
              <a:rPr sz="850" b="0">
                <a:solidFill>
                  <a:srgbClr val="212121"/>
                </a:solidFill>
                <a:latin typeface="Courier New"/>
              </a:rPr>
              <a:t>    K_mat[i][right] -= t + tA</a:t>
            </a:r>
          </a:p>
          <a:p>
            <a:pPr algn="l">
              <a:spcAft>
                <a:spcPts val="0"/>
              </a:spcAft>
            </a:pPr>
            <a:r>
              <a:rPr sz="850" b="0">
                <a:solidFill>
                  <a:srgbClr val="212121"/>
                </a:solidFill>
                <a:latin typeface="Courier New"/>
              </a:rPr>
              <a:t/>
            </a:r>
          </a:p>
          <a:p>
            <a:pPr algn="l">
              <a:spcAft>
                <a:spcPts val="0"/>
              </a:spcAft>
            </a:pPr>
            <a:r>
              <a:rPr sz="850" b="0">
                <a:solidFill>
                  <a:srgbClr val="212121"/>
                </a:solidFill>
                <a:latin typeface="Courier New"/>
              </a:rPr>
              <a:t>    # NNN, uniform over the lattice</a:t>
            </a:r>
          </a:p>
          <a:p>
            <a:pPr algn="l">
              <a:spcAft>
                <a:spcPts val="0"/>
              </a:spcAft>
            </a:pPr>
            <a:r>
              <a:rPr sz="850" b="0">
                <a:solidFill>
                  <a:srgbClr val="212121"/>
                </a:solidFill>
                <a:latin typeface="Courier New"/>
              </a:rPr>
              <a:t>    K_mat[i][up_right]   += tt</a:t>
            </a:r>
          </a:p>
          <a:p>
            <a:pPr algn="l">
              <a:spcAft>
                <a:spcPts val="0"/>
              </a:spcAft>
            </a:pPr>
            <a:r>
              <a:rPr sz="850" b="0">
                <a:solidFill>
                  <a:srgbClr val="212121"/>
                </a:solidFill>
                <a:latin typeface="Courier New"/>
              </a:rPr>
              <a:t>    K_mat[i][down_right] -= tt</a:t>
            </a:r>
          </a:p>
          <a:p>
            <a:pPr algn="l">
              <a:spcAft>
                <a:spcPts val="0"/>
              </a:spcAft>
            </a:pPr>
            <a:r>
              <a:rPr sz="850" b="0">
                <a:solidFill>
                  <a:srgbClr val="212121"/>
                </a:solidFill>
                <a:latin typeface="Courier New"/>
              </a:rPr>
              <a:t/>
            </a:r>
          </a:p>
          <a:p>
            <a:pPr algn="l">
              <a:spcAft>
                <a:spcPts val="0"/>
              </a:spcAft>
            </a:pPr>
            <a:r>
              <a:rPr sz="850" b="0">
                <a:solidFill>
                  <a:srgbClr val="212121"/>
                </a:solidFill>
                <a:latin typeface="Courier New"/>
              </a:rPr>
              <a:t>    return K_mat</a:t>
            </a:r>
          </a:p>
        </p:txBody>
      </p:sp>
      <p:sp>
        <p:nvSpPr>
          <p:cNvPr id="7" name="TextBox 6"/>
          <p:cNvSpPr txBox="1"/>
          <p:nvPr/>
        </p:nvSpPr>
        <p:spPr>
          <a:xfrm>
            <a:off x="6199632" y="1481328"/>
            <a:ext cx="5577840" cy="2999232"/>
          </a:xfrm>
          <a:prstGeom prst="rect">
            <a:avLst/>
          </a:prstGeom>
          <a:solidFill>
            <a:srgbClr val="EAF3F9"/>
          </a:solidFill>
          <a:ln w="12700">
            <a:solidFill>
              <a:srgbClr val="0072B2"/>
            </a:solidFill>
          </a:ln>
        </p:spPr>
        <p:txBody>
          <a:bodyPr wrap="square" anchor="t" tIns="54864" bIns="54864">
            <a:spAutoFit/>
          </a:bodyPr>
          <a:lstStyle/>
          <a:p>
            <a:pPr algn="l">
              <a:spcAft>
                <a:spcPts val="0"/>
              </a:spcAft>
            </a:pPr>
            <a:r>
              <a:rPr sz="850" b="0">
                <a:solidFill>
                  <a:srgbClr val="212121"/>
                </a:solidFill>
                <a:latin typeface="Courier New"/>
              </a:rPr>
              <a:t>def GetK(Lx, Ly, t, tprime, delta):</a:t>
            </a:r>
          </a:p>
          <a:p>
            <a:pPr algn="l">
              <a:spcAft>
                <a:spcPts val="0"/>
              </a:spcAft>
            </a:pPr>
            <a:r>
              <a:rPr sz="850" b="0">
                <a:solidFill>
                  <a:srgbClr val="212121"/>
                </a:solidFill>
                <a:latin typeface="Courier New"/>
              </a:rPr>
              <a:t/>
            </a:r>
          </a:p>
          <a:p>
            <a:pPr algn="l">
              <a:spcAft>
                <a:spcPts val="0"/>
              </a:spcAft>
            </a:pPr>
            <a:r>
              <a:rPr sz="850" b="0">
                <a:solidFill>
                  <a:srgbClr val="212121"/>
                </a:solidFill>
                <a:latin typeface="Courier New"/>
              </a:rPr>
              <a:t>    tp = tprime + delta</a:t>
            </a:r>
          </a:p>
          <a:p>
            <a:pPr algn="l">
              <a:spcAft>
                <a:spcPts val="0"/>
              </a:spcAft>
            </a:pPr>
            <a:r>
              <a:rPr sz="850" b="0">
                <a:solidFill>
                  <a:srgbClr val="212121"/>
                </a:solidFill>
                <a:latin typeface="Courier New"/>
              </a:rPr>
              <a:t>    tm = tprime - delta</a:t>
            </a:r>
          </a:p>
          <a:p>
            <a:pPr algn="l">
              <a:spcAft>
                <a:spcPts val="0"/>
              </a:spcAft>
            </a:pPr>
            <a:r>
              <a:rPr sz="850" b="0">
                <a:solidFill>
                  <a:srgbClr val="212121"/>
                </a:solidFill>
                <a:latin typeface="Courier New"/>
              </a:rPr>
              <a:t/>
            </a:r>
          </a:p>
          <a:p>
            <a:pPr algn="l">
              <a:spcAft>
                <a:spcPts val="0"/>
              </a:spcAft>
            </a:pPr>
            <a:r>
              <a:rPr sz="850" b="0">
                <a:solidFill>
                  <a:srgbClr val="212121"/>
                </a:solidFill>
                <a:latin typeface="Courier New"/>
              </a:rPr>
              <a:t>    # NN uniform, spin independent</a:t>
            </a:r>
          </a:p>
          <a:p>
            <a:pPr algn="l">
              <a:spcAft>
                <a:spcPts val="0"/>
              </a:spcAft>
            </a:pPr>
            <a:r>
              <a:rPr sz="850" b="0">
                <a:solidFill>
                  <a:srgbClr val="212121"/>
                </a:solidFill>
                <a:latin typeface="Courier New"/>
              </a:rPr>
              <a:t>    K_mat[i][down]  -= t</a:t>
            </a:r>
          </a:p>
          <a:p>
            <a:pPr algn="l">
              <a:spcAft>
                <a:spcPts val="0"/>
              </a:spcAft>
            </a:pPr>
            <a:r>
              <a:rPr sz="850" b="0">
                <a:solidFill>
                  <a:srgbClr val="212121"/>
                </a:solidFill>
                <a:latin typeface="Courier New"/>
              </a:rPr>
              <a:t>    K_mat[i][right] -= t</a:t>
            </a:r>
          </a:p>
          <a:p>
            <a:pPr algn="l">
              <a:spcAft>
                <a:spcPts val="0"/>
              </a:spcAft>
            </a:pPr>
            <a:r>
              <a:rPr sz="850" b="0">
                <a:solidFill>
                  <a:srgbClr val="212121"/>
                </a:solidFill>
                <a:latin typeface="Courier New"/>
              </a:rPr>
              <a:t/>
            </a:r>
          </a:p>
          <a:p>
            <a:pPr algn="l">
              <a:spcAft>
                <a:spcPts val="0"/>
              </a:spcAft>
            </a:pPr>
            <a:r>
              <a:rPr sz="850" b="0">
                <a:solidFill>
                  <a:srgbClr val="212121"/>
                </a:solidFill>
                <a:latin typeface="Courier New"/>
              </a:rPr>
              <a:t>    # diagonals alternate by sublattice</a:t>
            </a:r>
          </a:p>
          <a:p>
            <a:pPr algn="l">
              <a:spcAft>
                <a:spcPts val="0"/>
              </a:spcAft>
            </a:pPr>
            <a:r>
              <a:rPr sz="850" b="0">
                <a:solidFill>
                  <a:srgbClr val="212121"/>
                </a:solidFill>
                <a:latin typeface="Courier New"/>
              </a:rPr>
              <a:t>    if (ix + iy) % 2 == 0:</a:t>
            </a:r>
          </a:p>
          <a:p>
            <a:pPr algn="l">
              <a:spcAft>
                <a:spcPts val="0"/>
              </a:spcAft>
            </a:pPr>
            <a:r>
              <a:rPr sz="850" b="0">
                <a:solidFill>
                  <a:srgbClr val="212121"/>
                </a:solidFill>
                <a:latin typeface="Courier New"/>
              </a:rPr>
              <a:t>        ep, em = tp, tm     # A site</a:t>
            </a:r>
          </a:p>
          <a:p>
            <a:pPr algn="l">
              <a:spcAft>
                <a:spcPts val="0"/>
              </a:spcAft>
            </a:pPr>
            <a:r>
              <a:rPr sz="850" b="0">
                <a:solidFill>
                  <a:srgbClr val="212121"/>
                </a:solidFill>
                <a:latin typeface="Courier New"/>
              </a:rPr>
              <a:t>    else:</a:t>
            </a:r>
          </a:p>
          <a:p>
            <a:pPr algn="l">
              <a:spcAft>
                <a:spcPts val="0"/>
              </a:spcAft>
            </a:pPr>
            <a:r>
              <a:rPr sz="850" b="0">
                <a:solidFill>
                  <a:srgbClr val="212121"/>
                </a:solidFill>
                <a:latin typeface="Courier New"/>
              </a:rPr>
              <a:t>        ep, em = tm, tp     # B site</a:t>
            </a:r>
          </a:p>
          <a:p>
            <a:pPr algn="l">
              <a:spcAft>
                <a:spcPts val="0"/>
              </a:spcAft>
            </a:pPr>
            <a:r>
              <a:rPr sz="850" b="0">
                <a:solidFill>
                  <a:srgbClr val="212121"/>
                </a:solidFill>
                <a:latin typeface="Courier New"/>
              </a:rPr>
              <a:t/>
            </a:r>
          </a:p>
          <a:p>
            <a:pPr algn="l">
              <a:spcAft>
                <a:spcPts val="0"/>
              </a:spcAft>
            </a:pPr>
            <a:r>
              <a:rPr sz="850" b="0">
                <a:solidFill>
                  <a:srgbClr val="212121"/>
                </a:solidFill>
                <a:latin typeface="Courier New"/>
              </a:rPr>
              <a:t>    return K_mat</a:t>
            </a:r>
          </a:p>
        </p:txBody>
      </p:sp>
      <p:sp>
        <p:nvSpPr>
          <p:cNvPr id="8" name="TextBox 7"/>
          <p:cNvSpPr txBox="1"/>
          <p:nvPr/>
        </p:nvSpPr>
        <p:spPr>
          <a:xfrm>
            <a:off x="411480" y="4626864"/>
            <a:ext cx="11365992" cy="1865376"/>
          </a:xfrm>
          <a:prstGeom prst="rect">
            <a:avLst/>
          </a:prstGeom>
          <a:solidFill>
            <a:srgbClr val="F4F5F7"/>
          </a:solidFill>
          <a:ln>
            <a:noFill/>
          </a:ln>
        </p:spPr>
        <p:txBody>
          <a:bodyPr wrap="square" anchor="t" tIns="54864" bIns="54864">
            <a:spAutoFit/>
          </a:bodyPr>
          <a:lstStyle/>
          <a:p>
            <a:pPr algn="l">
              <a:spcAft>
                <a:spcPts val="500"/>
              </a:spcAft>
            </a:pPr>
            <a:r>
              <a:rPr sz="1300" b="0">
                <a:solidFill>
                  <a:srgbClr val="212121"/>
                </a:solidFill>
                <a:latin typeface="Calibri"/>
              </a:rPr>
              <a:t>The trial wavefunction has to describe the same model as the Fortran, otherwise the constrained path would be defined by a Hamiltonian the simulation is not solving.</a:t>
            </a:r>
          </a:p>
          <a:p>
            <a:pPr algn="l">
              <a:spcAft>
                <a:spcPts val="500"/>
              </a:spcAft>
            </a:pPr>
            <a:r>
              <a:rPr sz="1300" b="0">
                <a:solidFill>
                  <a:srgbClr val="212121"/>
                </a:solidFill>
                <a:latin typeface="Calibri"/>
              </a:rPr>
              <a:t>The signature changed from (t, tA, tt) to (t, tprime, delta), the spin-dependent nearest-neighbour term t +/- tA became a uniform t, and the uniform diagonals became the same parity branch used in mc2duph.f90. The parity rule was matched element by element against the Fortran tk matrix.</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56032"/>
            <a:ext cx="11338560" cy="566928"/>
          </a:xfrm>
          <a:prstGeom prst="rect">
            <a:avLst/>
          </a:prstGeom>
          <a:noFill/>
          <a:ln>
            <a:noFill/>
          </a:ln>
        </p:spPr>
        <p:txBody>
          <a:bodyPr wrap="square" anchor="t" tIns="54864" bIns="54864">
            <a:spAutoFit/>
          </a:bodyPr>
          <a:lstStyle/>
          <a:p>
            <a:pPr algn="l">
              <a:spcAft>
                <a:spcPts val="0"/>
              </a:spcAft>
            </a:pPr>
            <a:r>
              <a:rPr sz="3000" b="1">
                <a:solidFill>
                  <a:srgbClr val="1E2761"/>
                </a:solidFill>
                <a:latin typeface="Calibri"/>
              </a:rPr>
              <a:t>wf_unified.py  —  new starting point for the iteration</a:t>
            </a:r>
          </a:p>
        </p:txBody>
      </p:sp>
      <p:sp>
        <p:nvSpPr>
          <p:cNvPr id="3" name="TextBox 2"/>
          <p:cNvSpPr txBox="1"/>
          <p:nvPr/>
        </p:nvSpPr>
        <p:spPr>
          <a:xfrm>
            <a:off x="411480" y="841248"/>
            <a:ext cx="11338560" cy="310896"/>
          </a:xfrm>
          <a:prstGeom prst="rect">
            <a:avLst/>
          </a:prstGeom>
          <a:noFill/>
          <a:ln>
            <a:noFill/>
          </a:ln>
        </p:spPr>
        <p:txBody>
          <a:bodyPr wrap="square" anchor="t" tIns="54864" bIns="54864">
            <a:spAutoFit/>
          </a:bodyPr>
          <a:lstStyle/>
          <a:p>
            <a:pPr algn="l">
              <a:spcAft>
                <a:spcPts val="0"/>
              </a:spcAft>
            </a:pPr>
            <a:r>
              <a:rPr sz="1200" b="0">
                <a:solidFill>
                  <a:srgbClr val="6B6B6B"/>
                </a:solidFill>
                <a:latin typeface="Courier New"/>
              </a:rPr>
              <a:t>def neel_seed(...)     new function, plus a seed argument on Iteration()</a:t>
            </a:r>
          </a:p>
        </p:txBody>
      </p:sp>
      <p:sp>
        <p:nvSpPr>
          <p:cNvPr id="4" name="TextBox 3"/>
          <p:cNvSpPr txBox="1"/>
          <p:nvPr/>
        </p:nvSpPr>
        <p:spPr>
          <a:xfrm>
            <a:off x="411480" y="1170432"/>
            <a:ext cx="5577840" cy="310896"/>
          </a:xfrm>
          <a:prstGeom prst="rect">
            <a:avLst/>
          </a:prstGeom>
          <a:noFill/>
          <a:ln>
            <a:noFill/>
          </a:ln>
        </p:spPr>
        <p:txBody>
          <a:bodyPr wrap="square" anchor="t" tIns="54864" bIns="54864">
            <a:spAutoFit/>
          </a:bodyPr>
          <a:lstStyle/>
          <a:p>
            <a:pPr algn="l">
              <a:spcAft>
                <a:spcPts val="0"/>
              </a:spcAft>
            </a:pPr>
            <a:r>
              <a:rPr sz="1200" b="1">
                <a:solidFill>
                  <a:srgbClr val="D55E00"/>
                </a:solidFill>
                <a:latin typeface="Calibri"/>
              </a:rPr>
              <a:t>BEFORE   Combined_Model</a:t>
            </a:r>
          </a:p>
        </p:txBody>
      </p:sp>
      <p:sp>
        <p:nvSpPr>
          <p:cNvPr id="5" name="TextBox 4"/>
          <p:cNvSpPr txBox="1"/>
          <p:nvPr/>
        </p:nvSpPr>
        <p:spPr>
          <a:xfrm>
            <a:off x="6199632" y="1170432"/>
            <a:ext cx="5577840" cy="310896"/>
          </a:xfrm>
          <a:prstGeom prst="rect">
            <a:avLst/>
          </a:prstGeom>
          <a:noFill/>
          <a:ln>
            <a:noFill/>
          </a:ln>
        </p:spPr>
        <p:txBody>
          <a:bodyPr wrap="square" anchor="t" tIns="54864" bIns="54864">
            <a:spAutoFit/>
          </a:bodyPr>
          <a:lstStyle/>
          <a:p>
            <a:pPr algn="l">
              <a:spcAft>
                <a:spcPts val="0"/>
              </a:spcAft>
            </a:pPr>
            <a:r>
              <a:rPr sz="1200" b="1">
                <a:solidFill>
                  <a:srgbClr val="0072B2"/>
                </a:solidFill>
                <a:latin typeface="Calibri"/>
              </a:rPr>
              <a:t>AFTER   Checkerboard_Model</a:t>
            </a:r>
          </a:p>
        </p:txBody>
      </p:sp>
      <p:sp>
        <p:nvSpPr>
          <p:cNvPr id="6" name="TextBox 5"/>
          <p:cNvSpPr txBox="1"/>
          <p:nvPr/>
        </p:nvSpPr>
        <p:spPr>
          <a:xfrm>
            <a:off x="411480" y="1481328"/>
            <a:ext cx="5577840" cy="2999232"/>
          </a:xfrm>
          <a:prstGeom prst="rect">
            <a:avLst/>
          </a:prstGeom>
          <a:solidFill>
            <a:srgbClr val="FDF1E8"/>
          </a:solidFill>
          <a:ln w="12700">
            <a:solidFill>
              <a:srgbClr val="D55E00"/>
            </a:solidFill>
          </a:ln>
        </p:spPr>
        <p:txBody>
          <a:bodyPr wrap="square" anchor="t" tIns="54864" bIns="54864">
            <a:spAutoFit/>
          </a:bodyPr>
          <a:lstStyle/>
          <a:p>
            <a:pPr algn="l">
              <a:spcAft>
                <a:spcPts val="0"/>
              </a:spcAft>
            </a:pPr>
            <a:r>
              <a:rPr sz="850" b="0">
                <a:solidFill>
                  <a:srgbClr val="212121"/>
                </a:solidFill>
                <a:latin typeface="Courier New"/>
              </a:rPr>
              <a:t>def Iteration(Lx, Ly, U, tA, tt,</a:t>
            </a:r>
          </a:p>
          <a:p>
            <a:pPr algn="l">
              <a:spcAft>
                <a:spcPts val="0"/>
              </a:spcAft>
            </a:pPr>
            <a:r>
              <a:rPr sz="850" b="0">
                <a:solidFill>
                  <a:srgbClr val="212121"/>
                </a:solidFill>
                <a:latin typeface="Courier New"/>
              </a:rPr>
              <a:t>              NUP=None, NDN=None):</a:t>
            </a:r>
          </a:p>
          <a:p>
            <a:pPr algn="l">
              <a:spcAft>
                <a:spcPts val="0"/>
              </a:spcAft>
            </a:pPr>
            <a:r>
              <a:rPr sz="850" b="0">
                <a:solidFill>
                  <a:srgbClr val="212121"/>
                </a:solidFill>
                <a:latin typeface="Courier New"/>
              </a:rPr>
              <a:t/>
            </a:r>
          </a:p>
          <a:p>
            <a:pPr algn="l">
              <a:spcAft>
                <a:spcPts val="0"/>
              </a:spcAft>
            </a:pPr>
            <a:r>
              <a:rPr sz="850" b="0">
                <a:solidFill>
                  <a:srgbClr val="212121"/>
                </a:solidFill>
                <a:latin typeface="Courier New"/>
              </a:rPr>
              <a:t>    # start from a random density</a:t>
            </a:r>
          </a:p>
          <a:p>
            <a:pPr algn="l">
              <a:spcAft>
                <a:spcPts val="0"/>
              </a:spcAft>
            </a:pPr>
            <a:r>
              <a:rPr sz="850" b="0">
                <a:solidFill>
                  <a:srgbClr val="212121"/>
                </a:solidFill>
                <a:latin typeface="Courier New"/>
              </a:rPr>
              <a:t>    # the spin-dependent hopping already</a:t>
            </a:r>
          </a:p>
          <a:p>
            <a:pPr algn="l">
              <a:spcAft>
                <a:spcPts val="0"/>
              </a:spcAft>
            </a:pPr>
            <a:r>
              <a:rPr sz="850" b="0">
                <a:solidFill>
                  <a:srgbClr val="212121"/>
                </a:solidFill>
                <a:latin typeface="Courier New"/>
              </a:rPr>
              <a:t>    # breaks the symmetry, so the</a:t>
            </a:r>
          </a:p>
          <a:p>
            <a:pPr algn="l">
              <a:spcAft>
                <a:spcPts val="0"/>
              </a:spcAft>
            </a:pPr>
            <a:r>
              <a:rPr sz="850" b="0">
                <a:solidFill>
                  <a:srgbClr val="212121"/>
                </a:solidFill>
                <a:latin typeface="Courier New"/>
              </a:rPr>
              <a:t>    # iteration has a direction to fall into</a:t>
            </a:r>
          </a:p>
        </p:txBody>
      </p:sp>
      <p:sp>
        <p:nvSpPr>
          <p:cNvPr id="7" name="TextBox 6"/>
          <p:cNvSpPr txBox="1"/>
          <p:nvPr/>
        </p:nvSpPr>
        <p:spPr>
          <a:xfrm>
            <a:off x="6199632" y="1481328"/>
            <a:ext cx="5577840" cy="2999232"/>
          </a:xfrm>
          <a:prstGeom prst="rect">
            <a:avLst/>
          </a:prstGeom>
          <a:solidFill>
            <a:srgbClr val="EAF3F9"/>
          </a:solidFill>
          <a:ln w="12700">
            <a:solidFill>
              <a:srgbClr val="0072B2"/>
            </a:solidFill>
          </a:ln>
        </p:spPr>
        <p:txBody>
          <a:bodyPr wrap="square" anchor="t" tIns="54864" bIns="54864">
            <a:spAutoFit/>
          </a:bodyPr>
          <a:lstStyle/>
          <a:p>
            <a:pPr algn="l">
              <a:spcAft>
                <a:spcPts val="0"/>
              </a:spcAft>
            </a:pPr>
            <a:r>
              <a:rPr sz="850" b="0">
                <a:solidFill>
                  <a:srgbClr val="212121"/>
                </a:solidFill>
                <a:latin typeface="Courier New"/>
              </a:rPr>
              <a:t>def neel_seed(Lx, Ly, NUP, NDN):</a:t>
            </a:r>
          </a:p>
          <a:p>
            <a:pPr algn="l">
              <a:spcAft>
                <a:spcPts val="0"/>
              </a:spcAft>
            </a:pPr>
            <a:r>
              <a:rPr sz="850" b="0">
                <a:solidFill>
                  <a:srgbClr val="212121"/>
                </a:solidFill>
                <a:latin typeface="Courier New"/>
              </a:rPr>
              <a:t>    for i in range(N):</a:t>
            </a:r>
          </a:p>
          <a:p>
            <a:pPr algn="l">
              <a:spcAft>
                <a:spcPts val="0"/>
              </a:spcAft>
            </a:pPr>
            <a:r>
              <a:rPr sz="850" b="0">
                <a:solidFill>
                  <a:srgbClr val="212121"/>
                </a:solidFill>
                <a:latin typeface="Courier New"/>
              </a:rPr>
              <a:t>        ix, iy = cart_coord(i + 1, Lx)</a:t>
            </a:r>
          </a:p>
          <a:p>
            <a:pPr algn="l">
              <a:spcAft>
                <a:spcPts val="0"/>
              </a:spcAft>
            </a:pPr>
            <a:r>
              <a:rPr sz="850" b="0">
                <a:solidFill>
                  <a:srgbClr val="212121"/>
                </a:solidFill>
                <a:latin typeface="Courier New"/>
              </a:rPr>
              <a:t>        if (ix + iy) % 2 == 0:</a:t>
            </a:r>
          </a:p>
          <a:p>
            <a:pPr algn="l">
              <a:spcAft>
                <a:spcPts val="0"/>
              </a:spcAft>
            </a:pPr>
            <a:r>
              <a:rPr sz="850" b="0">
                <a:solidFill>
                  <a:srgbClr val="212121"/>
                </a:solidFill>
                <a:latin typeface="Courier New"/>
              </a:rPr>
              <a:t>            nup[i], ndn[i] = 0.9, 0.1</a:t>
            </a:r>
          </a:p>
          <a:p>
            <a:pPr algn="l">
              <a:spcAft>
                <a:spcPts val="0"/>
              </a:spcAft>
            </a:pPr>
            <a:r>
              <a:rPr sz="850" b="0">
                <a:solidFill>
                  <a:srgbClr val="212121"/>
                </a:solidFill>
                <a:latin typeface="Courier New"/>
              </a:rPr>
              <a:t>        else:</a:t>
            </a:r>
          </a:p>
          <a:p>
            <a:pPr algn="l">
              <a:spcAft>
                <a:spcPts val="0"/>
              </a:spcAft>
            </a:pPr>
            <a:r>
              <a:rPr sz="850" b="0">
                <a:solidFill>
                  <a:srgbClr val="212121"/>
                </a:solidFill>
                <a:latin typeface="Courier New"/>
              </a:rPr>
              <a:t>            nup[i], ndn[i] = 0.1, 0.9</a:t>
            </a:r>
          </a:p>
          <a:p>
            <a:pPr algn="l">
              <a:spcAft>
                <a:spcPts val="0"/>
              </a:spcAft>
            </a:pPr>
            <a:r>
              <a:rPr sz="850" b="0">
                <a:solidFill>
                  <a:srgbClr val="212121"/>
                </a:solidFill>
                <a:latin typeface="Courier New"/>
              </a:rPr>
              <a:t>    return nup, ndn</a:t>
            </a:r>
          </a:p>
          <a:p>
            <a:pPr algn="l">
              <a:spcAft>
                <a:spcPts val="0"/>
              </a:spcAft>
            </a:pPr>
            <a:r>
              <a:rPr sz="850" b="0">
                <a:solidFill>
                  <a:srgbClr val="212121"/>
                </a:solidFill>
                <a:latin typeface="Courier New"/>
              </a:rPr>
              <a:t/>
            </a:r>
          </a:p>
          <a:p>
            <a:pPr algn="l">
              <a:spcAft>
                <a:spcPts val="0"/>
              </a:spcAft>
            </a:pPr>
            <a:r>
              <a:rPr sz="850" b="0">
                <a:solidFill>
                  <a:srgbClr val="212121"/>
                </a:solidFill>
                <a:latin typeface="Courier New"/>
              </a:rPr>
              <a:t>def Iteration(Lx, Ly, U, tA, tt,</a:t>
            </a:r>
          </a:p>
          <a:p>
            <a:pPr algn="l">
              <a:spcAft>
                <a:spcPts val="0"/>
              </a:spcAft>
            </a:pPr>
            <a:r>
              <a:rPr sz="850" b="0">
                <a:solidFill>
                  <a:srgbClr val="212121"/>
                </a:solidFill>
                <a:latin typeface="Courier New"/>
              </a:rPr>
              <a:t>              NUP=None, NDN=None,</a:t>
            </a:r>
          </a:p>
          <a:p>
            <a:pPr algn="l">
              <a:spcAft>
                <a:spcPts val="0"/>
              </a:spcAft>
            </a:pPr>
            <a:r>
              <a:rPr sz="850" b="0">
                <a:solidFill>
                  <a:srgbClr val="212121"/>
                </a:solidFill>
                <a:latin typeface="Courier New"/>
              </a:rPr>
              <a:t>              seed='random'):</a:t>
            </a:r>
          </a:p>
        </p:txBody>
      </p:sp>
      <p:sp>
        <p:nvSpPr>
          <p:cNvPr id="8" name="TextBox 7"/>
          <p:cNvSpPr txBox="1"/>
          <p:nvPr/>
        </p:nvSpPr>
        <p:spPr>
          <a:xfrm>
            <a:off x="411480" y="4626864"/>
            <a:ext cx="11365992" cy="1865376"/>
          </a:xfrm>
          <a:prstGeom prst="rect">
            <a:avLst/>
          </a:prstGeom>
          <a:solidFill>
            <a:srgbClr val="F4F5F7"/>
          </a:solidFill>
          <a:ln>
            <a:noFill/>
          </a:ln>
        </p:spPr>
        <p:txBody>
          <a:bodyPr wrap="square" anchor="t" tIns="54864" bIns="54864">
            <a:spAutoFit/>
          </a:bodyPr>
          <a:lstStyle/>
          <a:p>
            <a:pPr algn="l">
              <a:spcAft>
                <a:spcPts val="500"/>
              </a:spcAft>
            </a:pPr>
            <a:r>
              <a:rPr sz="1300" b="0">
                <a:solidFill>
                  <a:srgbClr val="212121"/>
                </a:solidFill>
                <a:latin typeface="Calibri"/>
              </a:rPr>
              <a:t>This addition follows directly from removing the spin dependence. In the old model the hopping itself broke the spin symmetry, so a random start would fall into the polarised solution on its own.</a:t>
            </a:r>
          </a:p>
          <a:p>
            <a:pPr algn="l">
              <a:spcAft>
                <a:spcPts val="500"/>
              </a:spcAft>
            </a:pPr>
            <a:r>
              <a:rPr sz="1300" b="0">
                <a:solidFill>
                  <a:srgbClr val="212121"/>
                </a:solidFill>
                <a:latin typeface="Calibri"/>
              </a:rPr>
              <a:t>In the new model the Hamiltonian is symmetric in spin, and a symmetric starting density stays symmetric under Hartree-Fock iteration. neel_seed puts 0.9 up on the A sublattice and 0.9 down on B, giving the iteration a broken configuration to converge from. The parity convention is the same one used in GetK.</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56032"/>
            <a:ext cx="11338560" cy="566928"/>
          </a:xfrm>
          <a:prstGeom prst="rect">
            <a:avLst/>
          </a:prstGeom>
          <a:noFill/>
          <a:ln>
            <a:noFill/>
          </a:ln>
        </p:spPr>
        <p:txBody>
          <a:bodyPr wrap="square" anchor="t" tIns="54864" bIns="54864">
            <a:spAutoFit/>
          </a:bodyPr>
          <a:lstStyle/>
          <a:p>
            <a:pPr algn="l">
              <a:spcAft>
                <a:spcPts val="0"/>
              </a:spcAft>
            </a:pPr>
            <a:r>
              <a:rPr sz="3000" b="1">
                <a:solidFill>
                  <a:srgbClr val="1E2761"/>
                </a:solidFill>
                <a:latin typeface="Calibri"/>
              </a:rPr>
              <a:t>Summary of the change</a:t>
            </a:r>
          </a:p>
        </p:txBody>
      </p:sp>
      <p:sp>
        <p:nvSpPr>
          <p:cNvPr id="3" name="TextBox 2"/>
          <p:cNvSpPr txBox="1"/>
          <p:nvPr/>
        </p:nvSpPr>
        <p:spPr>
          <a:xfrm>
            <a:off x="411480" y="1143000"/>
            <a:ext cx="2514600" cy="859536"/>
          </a:xfrm>
          <a:prstGeom prst="rect">
            <a:avLst/>
          </a:prstGeom>
          <a:solidFill>
            <a:srgbClr val="EAF3F9"/>
          </a:solidFill>
          <a:ln>
            <a:noFill/>
          </a:ln>
        </p:spPr>
        <p:txBody>
          <a:bodyPr wrap="square" anchor="ctr" tIns="54864" bIns="54864">
            <a:spAutoFit/>
          </a:bodyPr>
          <a:lstStyle/>
          <a:p>
            <a:pPr algn="l">
              <a:spcAft>
                <a:spcPts val="0"/>
              </a:spcAft>
            </a:pPr>
            <a:r>
              <a:rPr sz="1300" b="1">
                <a:solidFill>
                  <a:srgbClr val="0072B2"/>
                </a:solidFill>
                <a:latin typeface="Courier New"/>
              </a:rPr>
              <a:t>mc2duph.f90</a:t>
            </a:r>
          </a:p>
        </p:txBody>
      </p:sp>
      <p:sp>
        <p:nvSpPr>
          <p:cNvPr id="4" name="TextBox 3"/>
          <p:cNvSpPr txBox="1"/>
          <p:nvPr/>
        </p:nvSpPr>
        <p:spPr>
          <a:xfrm>
            <a:off x="3108960" y="1143000"/>
            <a:ext cx="8668512" cy="859536"/>
          </a:xfrm>
          <a:prstGeom prst="rect">
            <a:avLst/>
          </a:prstGeom>
          <a:noFill/>
          <a:ln>
            <a:noFill/>
          </a:ln>
        </p:spPr>
        <p:txBody>
          <a:bodyPr wrap="square" anchor="ctr" tIns="54864" bIns="54864">
            <a:spAutoFit/>
          </a:bodyPr>
          <a:lstStyle/>
          <a:p>
            <a:pPr algn="l">
              <a:spcAft>
                <a:spcPts val="0"/>
              </a:spcAft>
            </a:pPr>
            <a:r>
              <a:rPr sz="1300" b="0">
                <a:solidFill>
                  <a:srgbClr val="212121"/>
                </a:solidFill>
                <a:latin typeface="Calibri"/>
              </a:rPr>
              <a:t>Diagonal hopping made spin independent and alternated by sublattice parity. This is the physics change.</a:t>
            </a:r>
          </a:p>
        </p:txBody>
      </p:sp>
      <p:sp>
        <p:nvSpPr>
          <p:cNvPr id="5" name="TextBox 4"/>
          <p:cNvSpPr txBox="1"/>
          <p:nvPr/>
        </p:nvSpPr>
        <p:spPr>
          <a:xfrm>
            <a:off x="411480" y="2112264"/>
            <a:ext cx="2514600" cy="859536"/>
          </a:xfrm>
          <a:prstGeom prst="rect">
            <a:avLst/>
          </a:prstGeom>
          <a:solidFill>
            <a:srgbClr val="EAF3F9"/>
          </a:solidFill>
          <a:ln>
            <a:noFill/>
          </a:ln>
        </p:spPr>
        <p:txBody>
          <a:bodyPr wrap="square" anchor="ctr" tIns="54864" bIns="54864">
            <a:spAutoFit/>
          </a:bodyPr>
          <a:lstStyle/>
          <a:p>
            <a:pPr algn="l">
              <a:spcAft>
                <a:spcPts val="0"/>
              </a:spcAft>
            </a:pPr>
            <a:r>
              <a:rPr sz="1300" b="1">
                <a:solidFill>
                  <a:srgbClr val="0072B2"/>
                </a:solidFill>
                <a:latin typeface="Courier New"/>
              </a:rPr>
              <a:t>parameter.f90</a:t>
            </a:r>
          </a:p>
        </p:txBody>
      </p:sp>
      <p:sp>
        <p:nvSpPr>
          <p:cNvPr id="6" name="TextBox 5"/>
          <p:cNvSpPr txBox="1"/>
          <p:nvPr/>
        </p:nvSpPr>
        <p:spPr>
          <a:xfrm>
            <a:off x="3108960" y="2112264"/>
            <a:ext cx="8668512" cy="859536"/>
          </a:xfrm>
          <a:prstGeom prst="rect">
            <a:avLst/>
          </a:prstGeom>
          <a:noFill/>
          <a:ln>
            <a:noFill/>
          </a:ln>
        </p:spPr>
        <p:txBody>
          <a:bodyPr wrap="square" anchor="ctr" tIns="54864" bIns="54864">
            <a:spAutoFit/>
          </a:bodyPr>
          <a:lstStyle/>
          <a:p>
            <a:pPr algn="l">
              <a:spcAft>
                <a:spcPts val="0"/>
              </a:spcAft>
            </a:pPr>
            <a:r>
              <a:rPr sz="1300" b="0">
                <a:solidFill>
                  <a:srgbClr val="212121"/>
                </a:solidFill>
                <a:latin typeface="Calibri"/>
              </a:rPr>
              <a:t>Declares tp and tm. Bookkeeping only.</a:t>
            </a:r>
          </a:p>
        </p:txBody>
      </p:sp>
      <p:sp>
        <p:nvSpPr>
          <p:cNvPr id="7" name="TextBox 6"/>
          <p:cNvSpPr txBox="1"/>
          <p:nvPr/>
        </p:nvSpPr>
        <p:spPr>
          <a:xfrm>
            <a:off x="411480" y="3081528"/>
            <a:ext cx="2514600" cy="859536"/>
          </a:xfrm>
          <a:prstGeom prst="rect">
            <a:avLst/>
          </a:prstGeom>
          <a:solidFill>
            <a:srgbClr val="EAF3F9"/>
          </a:solidFill>
          <a:ln>
            <a:noFill/>
          </a:ln>
        </p:spPr>
        <p:txBody>
          <a:bodyPr wrap="square" anchor="ctr" tIns="54864" bIns="54864">
            <a:spAutoFit/>
          </a:bodyPr>
          <a:lstStyle/>
          <a:p>
            <a:pPr algn="l">
              <a:spcAft>
                <a:spcPts val="0"/>
              </a:spcAft>
            </a:pPr>
            <a:r>
              <a:rPr sz="1300" b="1">
                <a:solidFill>
                  <a:srgbClr val="0072B2"/>
                </a:solidFill>
                <a:latin typeface="Courier New"/>
              </a:rPr>
              <a:t>wf_unified.py</a:t>
            </a:r>
          </a:p>
        </p:txBody>
      </p:sp>
      <p:sp>
        <p:nvSpPr>
          <p:cNvPr id="8" name="TextBox 7"/>
          <p:cNvSpPr txBox="1"/>
          <p:nvPr/>
        </p:nvSpPr>
        <p:spPr>
          <a:xfrm>
            <a:off x="3108960" y="3081528"/>
            <a:ext cx="8668512" cy="859536"/>
          </a:xfrm>
          <a:prstGeom prst="rect">
            <a:avLst/>
          </a:prstGeom>
          <a:noFill/>
          <a:ln>
            <a:noFill/>
          </a:ln>
        </p:spPr>
        <p:txBody>
          <a:bodyPr wrap="square" anchor="ctr" tIns="54864" bIns="54864">
            <a:spAutoFit/>
          </a:bodyPr>
          <a:lstStyle/>
          <a:p>
            <a:pPr algn="l">
              <a:spcAft>
                <a:spcPts val="0"/>
              </a:spcAft>
            </a:pPr>
            <a:r>
              <a:rPr sz="1300" b="0">
                <a:solidFill>
                  <a:srgbClr val="212121"/>
                </a:solidFill>
                <a:latin typeface="Calibri"/>
              </a:rPr>
              <a:t>Trial wavefunction rebuilt for the same model, and a staggered seed added so the Hartree-Fock iteration can break the spin symmetry.</a:t>
            </a:r>
          </a:p>
        </p:txBody>
      </p:sp>
      <p:sp>
        <p:nvSpPr>
          <p:cNvPr id="9" name="TextBox 8"/>
          <p:cNvSpPr txBox="1"/>
          <p:nvPr/>
        </p:nvSpPr>
        <p:spPr>
          <a:xfrm>
            <a:off x="411480" y="4050791"/>
            <a:ext cx="2514600" cy="859536"/>
          </a:xfrm>
          <a:prstGeom prst="rect">
            <a:avLst/>
          </a:prstGeom>
          <a:solidFill>
            <a:srgbClr val="F4F5F7"/>
          </a:solidFill>
          <a:ln>
            <a:noFill/>
          </a:ln>
        </p:spPr>
        <p:txBody>
          <a:bodyPr wrap="square" anchor="ctr" tIns="54864" bIns="54864">
            <a:spAutoFit/>
          </a:bodyPr>
          <a:lstStyle/>
          <a:p>
            <a:pPr algn="l">
              <a:spcAft>
                <a:spcPts val="0"/>
              </a:spcAft>
            </a:pPr>
            <a:r>
              <a:rPr sz="1300" b="1">
                <a:solidFill>
                  <a:srgbClr val="6B6B6B"/>
                </a:solidFill>
                <a:latin typeface="Courier New"/>
              </a:rPr>
              <a:t>everything else</a:t>
            </a:r>
          </a:p>
        </p:txBody>
      </p:sp>
      <p:sp>
        <p:nvSpPr>
          <p:cNvPr id="10" name="TextBox 9"/>
          <p:cNvSpPr txBox="1"/>
          <p:nvPr/>
        </p:nvSpPr>
        <p:spPr>
          <a:xfrm>
            <a:off x="3108960" y="4050791"/>
            <a:ext cx="8668512" cy="859536"/>
          </a:xfrm>
          <a:prstGeom prst="rect">
            <a:avLst/>
          </a:prstGeom>
          <a:noFill/>
          <a:ln>
            <a:noFill/>
          </a:ln>
        </p:spPr>
        <p:txBody>
          <a:bodyPr wrap="square" anchor="ctr" tIns="54864" bIns="54864">
            <a:spAutoFit/>
          </a:bodyPr>
          <a:lstStyle/>
          <a:p>
            <a:pPr algn="l">
              <a:spcAft>
                <a:spcPts val="0"/>
              </a:spcAft>
            </a:pPr>
            <a:r>
              <a:rPr sz="1300" b="0">
                <a:solidFill>
                  <a:srgbClr val="212121"/>
                </a:solidFill>
                <a:latin typeface="Calibri"/>
              </a:rPr>
              <a:t>Untouched, including the 2699-line QMC engine libuph.f90.</a:t>
            </a:r>
          </a:p>
        </p:txBody>
      </p:sp>
      <p:sp>
        <p:nvSpPr>
          <p:cNvPr id="11" name="TextBox 10"/>
          <p:cNvSpPr txBox="1"/>
          <p:nvPr/>
        </p:nvSpPr>
        <p:spPr>
          <a:xfrm>
            <a:off x="411480" y="5120640"/>
            <a:ext cx="11365992" cy="1325880"/>
          </a:xfrm>
          <a:prstGeom prst="rect">
            <a:avLst/>
          </a:prstGeom>
          <a:solidFill>
            <a:srgbClr val="F4F5F7"/>
          </a:solidFill>
          <a:ln>
            <a:noFill/>
          </a:ln>
        </p:spPr>
        <p:txBody>
          <a:bodyPr wrap="square" anchor="t" tIns="54864" bIns="54864">
            <a:spAutoFit/>
          </a:bodyPr>
          <a:lstStyle/>
          <a:p>
            <a:pPr algn="l">
              <a:spcAft>
                <a:spcPts val="600"/>
              </a:spcAft>
            </a:pPr>
            <a:r>
              <a:rPr sz="1350" b="0">
                <a:solidFill>
                  <a:srgbClr val="212121"/>
                </a:solidFill>
                <a:latin typeface="Calibri"/>
              </a:rPr>
              <a:t>The result is that the old model imposes the altermagnetic splitting and the new one lets it emerge from U alone. Everything downstream of the Hamiltonian, including the sampling, the measurement and the analysis, is unchanged, so the two models can be compared directly.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56032"/>
            <a:ext cx="11338560" cy="566928"/>
          </a:xfrm>
          <a:prstGeom prst="rect">
            <a:avLst/>
          </a:prstGeom>
          <a:noFill/>
          <a:ln>
            <a:noFill/>
          </a:ln>
        </p:spPr>
        <p:txBody>
          <a:bodyPr wrap="square" anchor="t" tIns="54864" bIns="54864">
            <a:spAutoFit/>
          </a:bodyPr>
          <a:lstStyle/>
          <a:p>
            <a:pPr algn="l">
              <a:spcAft>
                <a:spcPts val="0"/>
              </a:spcAft>
            </a:pPr>
            <a:r>
              <a:rPr sz="3000" b="1">
                <a:solidFill>
                  <a:srgbClr val="1E2761"/>
                </a:solidFill>
                <a:latin typeface="Calibri"/>
              </a:rPr>
              <a:t>The Python side changed in the opposite way</a:t>
            </a:r>
          </a:p>
        </p:txBody>
      </p:sp>
      <p:sp>
        <p:nvSpPr>
          <p:cNvPr id="3" name="TextBox 2"/>
          <p:cNvSpPr txBox="1"/>
          <p:nvPr/>
        </p:nvSpPr>
        <p:spPr>
          <a:xfrm>
            <a:off x="411480" y="1115568"/>
            <a:ext cx="5577840" cy="292608"/>
          </a:xfrm>
          <a:prstGeom prst="rect">
            <a:avLst/>
          </a:prstGeom>
          <a:noFill/>
          <a:ln>
            <a:noFill/>
          </a:ln>
        </p:spPr>
        <p:txBody>
          <a:bodyPr wrap="square" anchor="t" tIns="54864" bIns="54864">
            <a:spAutoFit/>
          </a:bodyPr>
          <a:lstStyle/>
          <a:p>
            <a:pPr algn="l">
              <a:spcAft>
                <a:spcPts val="0"/>
              </a:spcAft>
            </a:pPr>
            <a:r>
              <a:rPr sz="1200" b="1">
                <a:solidFill>
                  <a:srgbClr val="D55E00"/>
                </a:solidFill>
                <a:latin typeface="Calibri"/>
              </a:rPr>
              <a:t>FORTRAN   modified in place</a:t>
            </a:r>
          </a:p>
        </p:txBody>
      </p:sp>
      <p:sp>
        <p:nvSpPr>
          <p:cNvPr id="4" name="TextBox 3"/>
          <p:cNvSpPr txBox="1"/>
          <p:nvPr/>
        </p:nvSpPr>
        <p:spPr>
          <a:xfrm>
            <a:off x="6199632" y="1115568"/>
            <a:ext cx="5577840" cy="292608"/>
          </a:xfrm>
          <a:prstGeom prst="rect">
            <a:avLst/>
          </a:prstGeom>
          <a:noFill/>
          <a:ln>
            <a:noFill/>
          </a:ln>
        </p:spPr>
        <p:txBody>
          <a:bodyPr wrap="square" anchor="t" tIns="54864" bIns="54864">
            <a:spAutoFit/>
          </a:bodyPr>
          <a:lstStyle/>
          <a:p>
            <a:pPr algn="l">
              <a:spcAft>
                <a:spcPts val="0"/>
              </a:spcAft>
            </a:pPr>
            <a:r>
              <a:rPr sz="1200" b="1">
                <a:solidFill>
                  <a:srgbClr val="0072B2"/>
                </a:solidFill>
                <a:latin typeface="Calibri"/>
              </a:rPr>
              <a:t>PYTHON   extended, never modified</a:t>
            </a:r>
          </a:p>
        </p:txBody>
      </p:sp>
      <p:sp>
        <p:nvSpPr>
          <p:cNvPr id="5" name="TextBox 4"/>
          <p:cNvSpPr txBox="1"/>
          <p:nvPr/>
        </p:nvSpPr>
        <p:spPr>
          <a:xfrm>
            <a:off x="411480" y="1444752"/>
            <a:ext cx="5577840" cy="1591056"/>
          </a:xfrm>
          <a:prstGeom prst="rect">
            <a:avLst/>
          </a:prstGeom>
          <a:solidFill>
            <a:srgbClr val="FDF1E8"/>
          </a:solidFill>
          <a:ln w="12700">
            <a:solidFill>
              <a:srgbClr val="D55E00"/>
            </a:solidFill>
          </a:ln>
        </p:spPr>
        <p:txBody>
          <a:bodyPr wrap="square" anchor="t" tIns="54864" bIns="54864">
            <a:spAutoFit/>
          </a:bodyPr>
          <a:lstStyle/>
          <a:p>
            <a:pPr algn="l">
              <a:spcAft>
                <a:spcPts val="300"/>
              </a:spcAft>
            </a:pPr>
            <a:r>
              <a:rPr sz="1300" b="0">
                <a:solidFill>
                  <a:srgbClr val="212121"/>
                </a:solidFill>
                <a:latin typeface="Calibri"/>
              </a:rPr>
              <a:t>3 files modified</a:t>
            </a:r>
          </a:p>
          <a:p>
            <a:pPr algn="l">
              <a:spcAft>
                <a:spcPts val="300"/>
              </a:spcAft>
            </a:pPr>
            <a:r>
              <a:rPr sz="1300" b="0">
                <a:solidFill>
                  <a:srgbClr val="212121"/>
                </a:solidFill>
                <a:latin typeface="Calibri"/>
              </a:rPr>
              <a:t>0 files added</a:t>
            </a:r>
          </a:p>
          <a:p>
            <a:pPr algn="l">
              <a:spcAft>
                <a:spcPts val="300"/>
              </a:spcAft>
            </a:pPr>
            <a:r>
              <a:rPr sz="1300" b="0">
                <a:solidFill>
                  <a:srgbClr val="212121"/>
                </a:solidFill>
                <a:latin typeface="Calibri"/>
              </a:rPr>
              <a:t>+144 / -40 lines</a:t>
            </a:r>
          </a:p>
          <a:p>
            <a:pPr algn="l">
              <a:spcAft>
                <a:spcPts val="300"/>
              </a:spcAft>
            </a:pPr>
            <a:r>
              <a:rPr sz="1300" b="0">
                <a:solidFill>
                  <a:srgbClr val="212121"/>
                </a:solidFill>
                <a:latin typeface="Calibri"/>
              </a:rPr>
              <a:t/>
            </a:r>
          </a:p>
          <a:p>
            <a:pPr algn="l">
              <a:spcAft>
                <a:spcPts val="300"/>
              </a:spcAft>
            </a:pPr>
            <a:r>
              <a:rPr sz="1300" b="0">
                <a:solidFill>
                  <a:srgbClr val="212121"/>
                </a:solidFill>
                <a:latin typeface="Calibri"/>
              </a:rPr>
              <a:t>mc2duph.f90 builds tk internally,</a:t>
            </a:r>
          </a:p>
          <a:p>
            <a:pPr algn="l">
              <a:spcAft>
                <a:spcPts val="300"/>
              </a:spcAft>
            </a:pPr>
            <a:r>
              <a:rPr sz="1300" b="0">
                <a:solidFill>
                  <a:srgbClr val="212121"/>
                </a:solidFill>
                <a:latin typeface="Calibri"/>
              </a:rPr>
              <a:t>so the lattice is hard-coded and the</a:t>
            </a:r>
          </a:p>
          <a:p>
            <a:pPr algn="l">
              <a:spcAft>
                <a:spcPts val="300"/>
              </a:spcAft>
            </a:pPr>
            <a:r>
              <a:rPr sz="1300" b="0">
                <a:solidFill>
                  <a:srgbClr val="212121"/>
                </a:solidFill>
                <a:latin typeface="Calibri"/>
              </a:rPr>
              <a:t>source had to be edited.</a:t>
            </a:r>
          </a:p>
        </p:txBody>
      </p:sp>
      <p:sp>
        <p:nvSpPr>
          <p:cNvPr id="6" name="TextBox 5"/>
          <p:cNvSpPr txBox="1"/>
          <p:nvPr/>
        </p:nvSpPr>
        <p:spPr>
          <a:xfrm>
            <a:off x="6199632" y="1444752"/>
            <a:ext cx="5577840" cy="1591056"/>
          </a:xfrm>
          <a:prstGeom prst="rect">
            <a:avLst/>
          </a:prstGeom>
          <a:solidFill>
            <a:srgbClr val="EAF3F9"/>
          </a:solidFill>
          <a:ln w="12700">
            <a:solidFill>
              <a:srgbClr val="0072B2"/>
            </a:solidFill>
          </a:ln>
        </p:spPr>
        <p:txBody>
          <a:bodyPr wrap="square" anchor="t" tIns="54864" bIns="54864">
            <a:spAutoFit/>
          </a:bodyPr>
          <a:lstStyle/>
          <a:p>
            <a:pPr algn="l">
              <a:spcAft>
                <a:spcPts val="300"/>
              </a:spcAft>
            </a:pPr>
            <a:r>
              <a:rPr sz="1300" b="0">
                <a:solidFill>
                  <a:srgbClr val="212121"/>
                </a:solidFill>
                <a:latin typeface="Calibri"/>
              </a:rPr>
              <a:t>0 files modified</a:t>
            </a:r>
          </a:p>
          <a:p>
            <a:pPr algn="l">
              <a:spcAft>
                <a:spcPts val="300"/>
              </a:spcAft>
            </a:pPr>
            <a:r>
              <a:rPr sz="1300" b="0">
                <a:solidFill>
                  <a:srgbClr val="212121"/>
                </a:solidFill>
                <a:latin typeface="Calibri"/>
              </a:rPr>
              <a:t>13 files added</a:t>
            </a:r>
          </a:p>
          <a:p>
            <a:pPr algn="l">
              <a:spcAft>
                <a:spcPts val="300"/>
              </a:spcAft>
            </a:pPr>
            <a:r>
              <a:rPr sz="1300" b="0">
                <a:solidFill>
                  <a:srgbClr val="212121"/>
                </a:solidFill>
                <a:latin typeface="Calibri"/>
              </a:rPr>
              <a:t>+939 / -0 lines</a:t>
            </a:r>
          </a:p>
          <a:p>
            <a:pPr algn="l">
              <a:spcAft>
                <a:spcPts val="300"/>
              </a:spcAft>
            </a:pPr>
            <a:r>
              <a:rPr sz="1300" b="0">
                <a:solidFill>
                  <a:srgbClr val="212121"/>
                </a:solidFill>
                <a:latin typeface="Calibri"/>
              </a:rPr>
              <a:t/>
            </a:r>
          </a:p>
          <a:p>
            <a:pPr algn="l">
              <a:spcAft>
                <a:spcPts val="300"/>
              </a:spcAft>
            </a:pPr>
            <a:r>
              <a:rPr sz="1300" b="0">
                <a:solidFill>
                  <a:srgbClr val="212121"/>
                </a:solidFill>
                <a:latin typeface="Calibri"/>
              </a:rPr>
              <a:t>CPMC(..., K=..., K_dn=None) takes the</a:t>
            </a:r>
          </a:p>
          <a:p>
            <a:pPr algn="l">
              <a:spcAft>
                <a:spcPts val="300"/>
              </a:spcAft>
            </a:pPr>
            <a:r>
              <a:rPr sz="1300" b="0">
                <a:solidFill>
                  <a:srgbClr val="212121"/>
                </a:solidFill>
                <a:latin typeface="Calibri"/>
              </a:rPr>
              <a:t>hopping as an argument, so a new</a:t>
            </a:r>
          </a:p>
          <a:p>
            <a:pPr algn="l">
              <a:spcAft>
                <a:spcPts val="300"/>
              </a:spcAft>
            </a:pPr>
            <a:r>
              <a:rPr sz="1300" b="0">
                <a:solidFill>
                  <a:srgbClr val="212121"/>
                </a:solidFill>
                <a:latin typeface="Calibri"/>
              </a:rPr>
              <a:t>lattice is only a new matrix.</a:t>
            </a:r>
          </a:p>
        </p:txBody>
      </p:sp>
      <p:sp>
        <p:nvSpPr>
          <p:cNvPr id="7" name="TextBox 6"/>
          <p:cNvSpPr txBox="1"/>
          <p:nvPr/>
        </p:nvSpPr>
        <p:spPr>
          <a:xfrm>
            <a:off x="411480" y="3200400"/>
            <a:ext cx="11365992" cy="1389888"/>
          </a:xfrm>
          <a:prstGeom prst="rect">
            <a:avLst/>
          </a:prstGeom>
          <a:solidFill>
            <a:srgbClr val="F4F5F7"/>
          </a:solidFill>
          <a:ln>
            <a:noFill/>
          </a:ln>
        </p:spPr>
        <p:txBody>
          <a:bodyPr wrap="square" anchor="t" tIns="54864" bIns="54864">
            <a:spAutoFit/>
          </a:bodyPr>
          <a:lstStyle/>
          <a:p>
            <a:pPr algn="l">
              <a:spcAft>
                <a:spcPts val="500"/>
              </a:spcAft>
            </a:pPr>
            <a:r>
              <a:rPr sz="1250" b="0">
                <a:solidFill>
                  <a:srgbClr val="212121"/>
                </a:solidFill>
                <a:latin typeface="Courier New"/>
              </a:rPr>
              <a:t>3304b77   checkerboard model + d_xy pairing channel        569 lines, 5 files</a:t>
            </a:r>
          </a:p>
          <a:p>
            <a:pPr algn="l">
              <a:spcAft>
                <a:spcPts val="500"/>
              </a:spcAft>
            </a:pPr>
            <a:r>
              <a:rPr sz="1250" b="0">
                <a:solidFill>
                  <a:srgbClr val="212121"/>
                </a:solidFill>
                <a:latin typeface="Courier New"/>
              </a:rPr>
              <a:t>f7656fc   chi_zz(q) driver and three plot scripts          146 lines, 4 files</a:t>
            </a:r>
          </a:p>
          <a:p>
            <a:pPr algn="l">
              <a:spcAft>
                <a:spcPts val="500"/>
              </a:spcAft>
            </a:pPr>
            <a:r>
              <a:rPr sz="1250" b="0">
                <a:solidFill>
                  <a:srgbClr val="212121"/>
                </a:solidFill>
                <a:latin typeface="Courier New"/>
              </a:rPr>
              <a:t>57c7c8b   U-scan grid, timing, two more plot scripts       224 lines, 4 files</a:t>
            </a:r>
          </a:p>
        </p:txBody>
      </p:sp>
      <p:sp>
        <p:nvSpPr>
          <p:cNvPr id="8" name="TextBox 7"/>
          <p:cNvSpPr txBox="1"/>
          <p:nvPr/>
        </p:nvSpPr>
        <p:spPr>
          <a:xfrm>
            <a:off x="411480" y="4718304"/>
            <a:ext cx="11365992" cy="1755648"/>
          </a:xfrm>
          <a:prstGeom prst="rect">
            <a:avLst/>
          </a:prstGeom>
          <a:solidFill>
            <a:srgbClr val="F4F5F7"/>
          </a:solidFill>
          <a:ln>
            <a:noFill/>
          </a:ln>
        </p:spPr>
        <p:txBody>
          <a:bodyPr wrap="square" anchor="t" tIns="54864" bIns="54864">
            <a:spAutoFit/>
          </a:bodyPr>
          <a:lstStyle/>
          <a:p>
            <a:pPr algn="l">
              <a:spcAft>
                <a:spcPts val="600"/>
              </a:spcAft>
            </a:pPr>
            <a:r>
              <a:rPr sz="1300" b="0">
                <a:solidFill>
                  <a:srgbClr val="212121"/>
                </a:solidFill>
                <a:latin typeface="Calibri"/>
              </a:rPr>
              <a:t>The susceptibility engine cpqmc.py was never touched by any of this work. Its last change is commit f37d541, which predates the checkerboard entirely.</a:t>
            </a:r>
          </a:p>
          <a:p>
            <a:pPr algn="l">
              <a:spcAft>
                <a:spcPts val="600"/>
              </a:spcAft>
            </a:pPr>
            <a:r>
              <a:rPr sz="1300" b="0">
                <a:solidFill>
                  <a:srgbClr val="212121"/>
                </a:solidFill>
                <a:latin typeface="Calibri"/>
              </a:rPr>
              <a:t>So the two codebases give the same guarantee by different routes. In Fortran the sampler was left alone and only the model edited. In Python nothing existing was edited at all, and the checkerboard was added alongside as new files. Either way, results from the two lattices are produced by identical machinery.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56032"/>
            <a:ext cx="11338560" cy="566928"/>
          </a:xfrm>
          <a:prstGeom prst="rect">
            <a:avLst/>
          </a:prstGeom>
          <a:noFill/>
          <a:ln>
            <a:noFill/>
          </a:ln>
        </p:spPr>
        <p:txBody>
          <a:bodyPr wrap="square" anchor="t" tIns="54864" bIns="54864">
            <a:spAutoFit/>
          </a:bodyPr>
          <a:lstStyle/>
          <a:p>
            <a:pPr algn="l">
              <a:spcAft>
                <a:spcPts val="0"/>
              </a:spcAft>
            </a:pPr>
            <a:r>
              <a:rPr sz="3000" b="1">
                <a:solidFill>
                  <a:srgbClr val="1E2761"/>
                </a:solidFill>
                <a:latin typeface="Calibri"/>
              </a:rPr>
              <a:t>checkerboard.py  —  the same model, in Python</a:t>
            </a:r>
          </a:p>
        </p:txBody>
      </p:sp>
      <p:sp>
        <p:nvSpPr>
          <p:cNvPr id="3" name="TextBox 2"/>
          <p:cNvSpPr txBox="1"/>
          <p:nvPr/>
        </p:nvSpPr>
        <p:spPr>
          <a:xfrm>
            <a:off x="411480" y="841248"/>
            <a:ext cx="11338560" cy="310896"/>
          </a:xfrm>
          <a:prstGeom prst="rect">
            <a:avLst/>
          </a:prstGeom>
          <a:noFill/>
          <a:ln>
            <a:noFill/>
          </a:ln>
        </p:spPr>
        <p:txBody>
          <a:bodyPr wrap="square" anchor="t" tIns="54864" bIns="54864">
            <a:spAutoFit/>
          </a:bodyPr>
          <a:lstStyle/>
          <a:p>
            <a:pPr algn="l">
              <a:spcAft>
                <a:spcPts val="0"/>
              </a:spcAft>
            </a:pPr>
            <a:r>
              <a:rPr sz="1200" b="0">
                <a:solidFill>
                  <a:srgbClr val="6B6B6B"/>
                </a:solidFill>
                <a:latin typeface="Courier New"/>
              </a:rPr>
              <a:t>pyqmc/checkerboard.py     new file, 166 lines     must agree with the Fortran exactly</a:t>
            </a:r>
          </a:p>
        </p:txBody>
      </p:sp>
      <p:sp>
        <p:nvSpPr>
          <p:cNvPr id="4" name="TextBox 3"/>
          <p:cNvSpPr txBox="1"/>
          <p:nvPr/>
        </p:nvSpPr>
        <p:spPr>
          <a:xfrm>
            <a:off x="411480" y="1170432"/>
            <a:ext cx="5577840" cy="310896"/>
          </a:xfrm>
          <a:prstGeom prst="rect">
            <a:avLst/>
          </a:prstGeom>
          <a:noFill/>
          <a:ln>
            <a:noFill/>
          </a:ln>
        </p:spPr>
        <p:txBody>
          <a:bodyPr wrap="square" anchor="t" tIns="54864" bIns="54864">
            <a:spAutoFit/>
          </a:bodyPr>
          <a:lstStyle/>
          <a:p>
            <a:pPr algn="l">
              <a:spcAft>
                <a:spcPts val="0"/>
              </a:spcAft>
            </a:pPr>
            <a:r>
              <a:rPr sz="1200" b="1">
                <a:solidFill>
                  <a:srgbClr val="D55E00"/>
                </a:solidFill>
                <a:latin typeface="Calibri"/>
              </a:rPr>
              <a:t>FORTRAN   mc2duph.f90 lines 155-178</a:t>
            </a:r>
          </a:p>
        </p:txBody>
      </p:sp>
      <p:sp>
        <p:nvSpPr>
          <p:cNvPr id="5" name="TextBox 4"/>
          <p:cNvSpPr txBox="1"/>
          <p:nvPr/>
        </p:nvSpPr>
        <p:spPr>
          <a:xfrm>
            <a:off x="6199632" y="1170432"/>
            <a:ext cx="5577840" cy="310896"/>
          </a:xfrm>
          <a:prstGeom prst="rect">
            <a:avLst/>
          </a:prstGeom>
          <a:noFill/>
          <a:ln>
            <a:noFill/>
          </a:ln>
        </p:spPr>
        <p:txBody>
          <a:bodyPr wrap="square" anchor="t" tIns="54864" bIns="54864">
            <a:spAutoFit/>
          </a:bodyPr>
          <a:lstStyle/>
          <a:p>
            <a:pPr algn="l">
              <a:spcAft>
                <a:spcPts val="0"/>
              </a:spcAft>
            </a:pPr>
            <a:r>
              <a:rPr sz="1200" b="1">
                <a:solidFill>
                  <a:srgbClr val="0072B2"/>
                </a:solidFill>
                <a:latin typeface="Calibri"/>
              </a:rPr>
              <a:t>PYTHON   checkerboard_hopping()</a:t>
            </a:r>
          </a:p>
        </p:txBody>
      </p:sp>
      <p:sp>
        <p:nvSpPr>
          <p:cNvPr id="6" name="TextBox 5"/>
          <p:cNvSpPr txBox="1"/>
          <p:nvPr/>
        </p:nvSpPr>
        <p:spPr>
          <a:xfrm>
            <a:off x="411480" y="1481328"/>
            <a:ext cx="5577840" cy="2999232"/>
          </a:xfrm>
          <a:prstGeom prst="rect">
            <a:avLst/>
          </a:prstGeom>
          <a:solidFill>
            <a:srgbClr val="FDF1E8"/>
          </a:solidFill>
          <a:ln w="12700">
            <a:solidFill>
              <a:srgbClr val="D55E00"/>
            </a:solidFill>
          </a:ln>
        </p:spPr>
        <p:txBody>
          <a:bodyPr wrap="square" anchor="t" tIns="54864" bIns="54864">
            <a:spAutoFit/>
          </a:bodyPr>
          <a:lstStyle/>
          <a:p>
            <a:pPr algn="l">
              <a:spcAft>
                <a:spcPts val="0"/>
              </a:spcAft>
            </a:pPr>
            <a:r>
              <a:rPr sz="850" b="0">
                <a:solidFill>
                  <a:srgbClr val="212121"/>
                </a:solidFill>
                <a:latin typeface="Courier New"/>
              </a:rPr>
              <a:t>tp = t1 + t2</a:t>
            </a:r>
          </a:p>
          <a:p>
            <a:pPr algn="l">
              <a:spcAft>
                <a:spcPts val="0"/>
              </a:spcAft>
            </a:pPr>
            <a:r>
              <a:rPr sz="850" b="0">
                <a:solidFill>
                  <a:srgbClr val="212121"/>
                </a:solidFill>
                <a:latin typeface="Courier New"/>
              </a:rPr>
              <a:t>tm = t1 - t2</a:t>
            </a:r>
          </a:p>
          <a:p>
            <a:pPr algn="l">
              <a:spcAft>
                <a:spcPts val="0"/>
              </a:spcAft>
            </a:pPr>
            <a:r>
              <a:rPr sz="850" b="0">
                <a:solidFill>
                  <a:srgbClr val="212121"/>
                </a:solidFill>
                <a:latin typeface="Courier New"/>
              </a:rPr>
              <a:t>do 121 i=1,nsites_cu</a:t>
            </a:r>
          </a:p>
          <a:p>
            <a:pPr algn="l">
              <a:spcAft>
                <a:spcPts val="0"/>
              </a:spcAft>
            </a:pPr>
            <a:r>
              <a:rPr sz="850" b="0">
                <a:solidFill>
                  <a:srgbClr val="212121"/>
                </a:solidFill>
                <a:latin typeface="Courier New"/>
              </a:rPr>
              <a:t> if ( mod( ixv(i)+iyv(i), 2 ) == 0 ) then</a:t>
            </a:r>
          </a:p>
          <a:p>
            <a:pPr algn="l">
              <a:spcAft>
                <a:spcPts val="0"/>
              </a:spcAft>
            </a:pPr>
            <a:r>
              <a:rPr sz="850" b="0">
                <a:solidFill>
                  <a:srgbClr val="212121"/>
                </a:solidFill>
                <a:latin typeface="Courier New"/>
              </a:rPr>
              <a:t>   ! A site</a:t>
            </a:r>
          </a:p>
          <a:p>
            <a:pPr algn="l">
              <a:spcAft>
                <a:spcPts val="0"/>
              </a:spcAft>
            </a:pPr>
            <a:r>
              <a:rPr sz="850" b="0">
                <a:solidFill>
                  <a:srgbClr val="212121"/>
                </a:solidFill>
                <a:latin typeface="Courier New"/>
              </a:rPr>
              <a:t>   tk(...,1)=tp     ! '/'</a:t>
            </a:r>
          </a:p>
          <a:p>
            <a:pPr algn="l">
              <a:spcAft>
                <a:spcPts val="0"/>
              </a:spcAft>
            </a:pPr>
            <a:r>
              <a:rPr sz="850" b="0">
                <a:solidFill>
                  <a:srgbClr val="212121"/>
                </a:solidFill>
                <a:latin typeface="Courier New"/>
              </a:rPr>
              <a:t>   tk(...,1)=tm     ! '\'</a:t>
            </a:r>
          </a:p>
          <a:p>
            <a:pPr algn="l">
              <a:spcAft>
                <a:spcPts val="0"/>
              </a:spcAft>
            </a:pPr>
            <a:r>
              <a:rPr sz="850" b="0">
                <a:solidFill>
                  <a:srgbClr val="212121"/>
                </a:solidFill>
                <a:latin typeface="Courier New"/>
              </a:rPr>
              <a:t> else</a:t>
            </a:r>
          </a:p>
          <a:p>
            <a:pPr algn="l">
              <a:spcAft>
                <a:spcPts val="0"/>
              </a:spcAft>
            </a:pPr>
            <a:r>
              <a:rPr sz="850" b="0">
                <a:solidFill>
                  <a:srgbClr val="212121"/>
                </a:solidFill>
                <a:latin typeface="Courier New"/>
              </a:rPr>
              <a:t>   ! B site: tp and tm swapped</a:t>
            </a:r>
          </a:p>
          <a:p>
            <a:pPr algn="l">
              <a:spcAft>
                <a:spcPts val="0"/>
              </a:spcAft>
            </a:pPr>
            <a:r>
              <a:rPr sz="850" b="0">
                <a:solidFill>
                  <a:srgbClr val="212121"/>
                </a:solidFill>
                <a:latin typeface="Courier New"/>
              </a:rPr>
              <a:t> end if</a:t>
            </a:r>
          </a:p>
          <a:p>
            <a:pPr algn="l">
              <a:spcAft>
                <a:spcPts val="0"/>
              </a:spcAft>
            </a:pPr>
            <a:r>
              <a:rPr sz="850" b="0">
                <a:solidFill>
                  <a:srgbClr val="212121"/>
                </a:solidFill>
                <a:latin typeface="Courier New"/>
              </a:rPr>
              <a:t>121 continue</a:t>
            </a:r>
          </a:p>
        </p:txBody>
      </p:sp>
      <p:sp>
        <p:nvSpPr>
          <p:cNvPr id="7" name="TextBox 6"/>
          <p:cNvSpPr txBox="1"/>
          <p:nvPr/>
        </p:nvSpPr>
        <p:spPr>
          <a:xfrm>
            <a:off x="6199632" y="1481328"/>
            <a:ext cx="5577840" cy="2999232"/>
          </a:xfrm>
          <a:prstGeom prst="rect">
            <a:avLst/>
          </a:prstGeom>
          <a:solidFill>
            <a:srgbClr val="EAF3F9"/>
          </a:solidFill>
          <a:ln w="12700">
            <a:solidFill>
              <a:srgbClr val="0072B2"/>
            </a:solidFill>
          </a:ln>
        </p:spPr>
        <p:txBody>
          <a:bodyPr wrap="square" anchor="t" tIns="54864" bIns="54864">
            <a:spAutoFit/>
          </a:bodyPr>
          <a:lstStyle/>
          <a:p>
            <a:pPr algn="l">
              <a:spcAft>
                <a:spcPts val="0"/>
              </a:spcAft>
            </a:pPr>
            <a:r>
              <a:rPr sz="850" b="0">
                <a:solidFill>
                  <a:srgbClr val="212121"/>
                </a:solidFill>
                <a:latin typeface="Courier New"/>
              </a:rPr>
              <a:t>def checkerboard_hopping(lx, ly, t0=-1.0,</a:t>
            </a:r>
          </a:p>
          <a:p>
            <a:pPr algn="l">
              <a:spcAft>
                <a:spcPts val="0"/>
              </a:spcAft>
            </a:pPr>
            <a:r>
              <a:rPr sz="850" b="0">
                <a:solidFill>
                  <a:srgbClr val="212121"/>
                </a:solidFill>
                <a:latin typeface="Courier New"/>
              </a:rPr>
              <a:t>                         t1=0.3, t2=0.0):</a:t>
            </a:r>
          </a:p>
          <a:p>
            <a:pPr algn="l">
              <a:spcAft>
                <a:spcPts val="0"/>
              </a:spcAft>
            </a:pPr>
            <a:r>
              <a:rPr sz="850" b="0">
                <a:solidFill>
                  <a:srgbClr val="212121"/>
                </a:solidFill>
                <a:latin typeface="Courier New"/>
              </a:rPr>
              <a:t>    tp = t1 + t2</a:t>
            </a:r>
          </a:p>
          <a:p>
            <a:pPr algn="l">
              <a:spcAft>
                <a:spcPts val="0"/>
              </a:spcAft>
            </a:pPr>
            <a:r>
              <a:rPr sz="850" b="0">
                <a:solidFill>
                  <a:srgbClr val="212121"/>
                </a:solidFill>
                <a:latin typeface="Courier New"/>
              </a:rPr>
              <a:t>    tm = t1 - t2</a:t>
            </a:r>
          </a:p>
          <a:p>
            <a:pPr algn="l">
              <a:spcAft>
                <a:spcPts val="0"/>
              </a:spcAft>
            </a:pPr>
            <a:r>
              <a:rPr sz="850" b="0">
                <a:solidFill>
                  <a:srgbClr val="212121"/>
                </a:solidFill>
                <a:latin typeface="Courier New"/>
              </a:rPr>
              <a:t>    for x in range(lx):</a:t>
            </a:r>
          </a:p>
          <a:p>
            <a:pPr algn="l">
              <a:spcAft>
                <a:spcPts val="0"/>
              </a:spcAft>
            </a:pPr>
            <a:r>
              <a:rPr sz="850" b="0">
                <a:solidFill>
                  <a:srgbClr val="212121"/>
                </a:solidFill>
                <a:latin typeface="Courier New"/>
              </a:rPr>
              <a:t>      for y in range(ly):</a:t>
            </a:r>
          </a:p>
          <a:p>
            <a:pPr algn="l">
              <a:spcAft>
                <a:spcPts val="0"/>
              </a:spcAft>
            </a:pPr>
            <a:r>
              <a:rPr sz="850" b="0">
                <a:solidFill>
                  <a:srgbClr val="212121"/>
                </a:solidFill>
                <a:latin typeface="Courier New"/>
              </a:rPr>
              <a:t>        i = idx(x, y)</a:t>
            </a:r>
          </a:p>
          <a:p>
            <a:pPr algn="l">
              <a:spcAft>
                <a:spcPts val="0"/>
              </a:spcAft>
            </a:pPr>
            <a:r>
              <a:rPr sz="850" b="0">
                <a:solidFill>
                  <a:srgbClr val="212121"/>
                </a:solidFill>
                <a:latin typeface="Courier New"/>
              </a:rPr>
              <a:t>        K[i, idx(x+1, y)] = t0     # NN</a:t>
            </a:r>
          </a:p>
          <a:p>
            <a:pPr algn="l">
              <a:spcAft>
                <a:spcPts val="0"/>
              </a:spcAft>
            </a:pPr>
            <a:r>
              <a:rPr sz="850" b="0">
                <a:solidFill>
                  <a:srgbClr val="212121"/>
                </a:solidFill>
                <a:latin typeface="Courier New"/>
              </a:rPr>
              <a:t>        ...</a:t>
            </a:r>
          </a:p>
          <a:p>
            <a:pPr algn="l">
              <a:spcAft>
                <a:spcPts val="0"/>
              </a:spcAft>
            </a:pPr>
            <a:r>
              <a:rPr sz="850" b="0">
                <a:solidFill>
                  <a:srgbClr val="212121"/>
                </a:solidFill>
                <a:latin typeface="Courier New"/>
              </a:rPr>
              <a:t>        a, b = (tp, tm) if (x+y) % 2 == 0 \</a:t>
            </a:r>
          </a:p>
          <a:p>
            <a:pPr algn="l">
              <a:spcAft>
                <a:spcPts val="0"/>
              </a:spcAft>
            </a:pPr>
            <a:r>
              <a:rPr sz="850" b="0">
                <a:solidFill>
                  <a:srgbClr val="212121"/>
                </a:solidFill>
                <a:latin typeface="Courier New"/>
              </a:rPr>
              <a:t>               else (tm, tp)</a:t>
            </a:r>
          </a:p>
          <a:p>
            <a:pPr algn="l">
              <a:spcAft>
                <a:spcPts val="0"/>
              </a:spcAft>
            </a:pPr>
            <a:r>
              <a:rPr sz="850" b="0">
                <a:solidFill>
                  <a:srgbClr val="212121"/>
                </a:solidFill>
                <a:latin typeface="Courier New"/>
              </a:rPr>
              <a:t>        K[i, idx(x+1, y+1)] = a    # '/'</a:t>
            </a:r>
          </a:p>
          <a:p>
            <a:pPr algn="l">
              <a:spcAft>
                <a:spcPts val="0"/>
              </a:spcAft>
            </a:pPr>
            <a:r>
              <a:rPr sz="850" b="0">
                <a:solidFill>
                  <a:srgbClr val="212121"/>
                </a:solidFill>
                <a:latin typeface="Courier New"/>
              </a:rPr>
              <a:t>        K[i, idx(x-1, y+1)] = b    # '\'</a:t>
            </a:r>
          </a:p>
          <a:p>
            <a:pPr algn="l">
              <a:spcAft>
                <a:spcPts val="0"/>
              </a:spcAft>
            </a:pPr>
            <a:r>
              <a:rPr sz="850" b="0">
                <a:solidFill>
                  <a:srgbClr val="212121"/>
                </a:solidFill>
                <a:latin typeface="Courier New"/>
              </a:rPr>
              <a:t>    return 0.5 * (K + K.T)</a:t>
            </a:r>
          </a:p>
        </p:txBody>
      </p:sp>
      <p:sp>
        <p:nvSpPr>
          <p:cNvPr id="8" name="TextBox 7"/>
          <p:cNvSpPr txBox="1"/>
          <p:nvPr/>
        </p:nvSpPr>
        <p:spPr>
          <a:xfrm>
            <a:off x="411480" y="4626864"/>
            <a:ext cx="11365992" cy="1865376"/>
          </a:xfrm>
          <a:prstGeom prst="rect">
            <a:avLst/>
          </a:prstGeom>
          <a:solidFill>
            <a:srgbClr val="F4F5F7"/>
          </a:solidFill>
          <a:ln>
            <a:noFill/>
          </a:ln>
        </p:spPr>
        <p:txBody>
          <a:bodyPr wrap="square" anchor="t" tIns="54864" bIns="54864">
            <a:spAutoFit/>
          </a:bodyPr>
          <a:lstStyle/>
          <a:p>
            <a:pPr algn="l">
              <a:spcAft>
                <a:spcPts val="500"/>
              </a:spcAft>
            </a:pPr>
            <a:r>
              <a:rPr sz="1300" b="0">
                <a:solidFill>
                  <a:srgbClr val="212121"/>
                </a:solidFill>
                <a:latin typeface="Calibri"/>
              </a:rPr>
              <a:t>The Python model has to be the same Hamiltonian as the Fortran, otherwise the two sets of results could not be compared and the trial wavefunction would not match the simulation.</a:t>
            </a:r>
          </a:p>
          <a:p>
            <a:pPr algn="l">
              <a:spcAft>
                <a:spcPts val="500"/>
              </a:spcAft>
            </a:pPr>
            <a:r>
              <a:rPr sz="1300" b="0">
                <a:solidFill>
                  <a:srgbClr val="212121"/>
                </a:solidFill>
                <a:latin typeface="Calibri"/>
              </a:rPr>
              <a:t>The parity test is identical: mod(ixv+iyv,2) in Fortran, (x+y) % 2 in Python, with the same tp and tm. This is not left to inspection. Gate 1 of the validation checks the two matrices element by element and requires max|diff| = 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56032"/>
            <a:ext cx="11338560" cy="566928"/>
          </a:xfrm>
          <a:prstGeom prst="rect">
            <a:avLst/>
          </a:prstGeom>
          <a:noFill/>
          <a:ln>
            <a:noFill/>
          </a:ln>
        </p:spPr>
        <p:txBody>
          <a:bodyPr wrap="square" anchor="t" tIns="54864" bIns="54864">
            <a:spAutoFit/>
          </a:bodyPr>
          <a:lstStyle/>
          <a:p>
            <a:pPr algn="l">
              <a:spcAft>
                <a:spcPts val="0"/>
              </a:spcAft>
            </a:pPr>
            <a:r>
              <a:rPr sz="3000" b="1">
                <a:solidFill>
                  <a:srgbClr val="1E2761"/>
                </a:solidFill>
                <a:latin typeface="Calibri"/>
              </a:rPr>
              <a:t>diag_bond_factors()  —  the new pairing channel</a:t>
            </a:r>
          </a:p>
        </p:txBody>
      </p:sp>
      <p:sp>
        <p:nvSpPr>
          <p:cNvPr id="3" name="TextBox 2"/>
          <p:cNvSpPr txBox="1"/>
          <p:nvPr/>
        </p:nvSpPr>
        <p:spPr>
          <a:xfrm>
            <a:off x="411480" y="841248"/>
            <a:ext cx="11338560" cy="310896"/>
          </a:xfrm>
          <a:prstGeom prst="rect">
            <a:avLst/>
          </a:prstGeom>
          <a:noFill/>
          <a:ln>
            <a:noFill/>
          </a:ln>
        </p:spPr>
        <p:txBody>
          <a:bodyPr wrap="square" anchor="t" tIns="54864" bIns="54864">
            <a:spAutoFit/>
          </a:bodyPr>
          <a:lstStyle/>
          <a:p>
            <a:pPr algn="l">
              <a:spcAft>
                <a:spcPts val="0"/>
              </a:spcAft>
            </a:pPr>
            <a:r>
              <a:rPr sz="1200" b="0">
                <a:solidFill>
                  <a:srgbClr val="6B6B6B"/>
                </a:solidFill>
                <a:latin typeface="Courier New"/>
              </a:rPr>
              <a:t>pyqmc/checkerboard.py     the d_xy form factor, which did not exist before</a:t>
            </a:r>
          </a:p>
        </p:txBody>
      </p:sp>
      <p:sp>
        <p:nvSpPr>
          <p:cNvPr id="4" name="TextBox 3"/>
          <p:cNvSpPr txBox="1"/>
          <p:nvPr/>
        </p:nvSpPr>
        <p:spPr>
          <a:xfrm>
            <a:off x="411480" y="1170432"/>
            <a:ext cx="5577840" cy="310896"/>
          </a:xfrm>
          <a:prstGeom prst="rect">
            <a:avLst/>
          </a:prstGeom>
          <a:noFill/>
          <a:ln>
            <a:noFill/>
          </a:ln>
        </p:spPr>
        <p:txBody>
          <a:bodyPr wrap="square" anchor="t" tIns="54864" bIns="54864">
            <a:spAutoFit/>
          </a:bodyPr>
          <a:lstStyle/>
          <a:p>
            <a:pPr algn="l">
              <a:spcAft>
                <a:spcPts val="0"/>
              </a:spcAft>
            </a:pPr>
            <a:r>
              <a:rPr sz="1200" b="1">
                <a:solidFill>
                  <a:srgbClr val="D55E00"/>
                </a:solidFill>
                <a:latin typeface="Calibri"/>
              </a:rPr>
              <a:t>BEFORE   square-lattice code</a:t>
            </a:r>
          </a:p>
        </p:txBody>
      </p:sp>
      <p:sp>
        <p:nvSpPr>
          <p:cNvPr id="5" name="TextBox 4"/>
          <p:cNvSpPr txBox="1"/>
          <p:nvPr/>
        </p:nvSpPr>
        <p:spPr>
          <a:xfrm>
            <a:off x="6199632" y="1170432"/>
            <a:ext cx="5577840" cy="310896"/>
          </a:xfrm>
          <a:prstGeom prst="rect">
            <a:avLst/>
          </a:prstGeom>
          <a:noFill/>
          <a:ln>
            <a:noFill/>
          </a:ln>
        </p:spPr>
        <p:txBody>
          <a:bodyPr wrap="square" anchor="t" tIns="54864" bIns="54864">
            <a:spAutoFit/>
          </a:bodyPr>
          <a:lstStyle/>
          <a:p>
            <a:pPr algn="l">
              <a:spcAft>
                <a:spcPts val="0"/>
              </a:spcAft>
            </a:pPr>
            <a:r>
              <a:rPr sz="1200" b="1">
                <a:solidFill>
                  <a:srgbClr val="0072B2"/>
                </a:solidFill>
                <a:latin typeface="Calibri"/>
              </a:rPr>
              <a:t>AFTER   checkerboard code</a:t>
            </a:r>
          </a:p>
        </p:txBody>
      </p:sp>
      <p:sp>
        <p:nvSpPr>
          <p:cNvPr id="6" name="TextBox 5"/>
          <p:cNvSpPr txBox="1"/>
          <p:nvPr/>
        </p:nvSpPr>
        <p:spPr>
          <a:xfrm>
            <a:off x="411480" y="1481328"/>
            <a:ext cx="5577840" cy="2999232"/>
          </a:xfrm>
          <a:prstGeom prst="rect">
            <a:avLst/>
          </a:prstGeom>
          <a:solidFill>
            <a:srgbClr val="FDF1E8"/>
          </a:solidFill>
          <a:ln w="12700">
            <a:solidFill>
              <a:srgbClr val="D55E00"/>
            </a:solidFill>
          </a:ln>
        </p:spPr>
        <p:txBody>
          <a:bodyPr wrap="square" anchor="t" tIns="54864" bIns="54864">
            <a:spAutoFit/>
          </a:bodyPr>
          <a:lstStyle/>
          <a:p>
            <a:pPr algn="l">
              <a:spcAft>
                <a:spcPts val="0"/>
              </a:spcAft>
            </a:pPr>
            <a:r>
              <a:rPr sz="850" b="0">
                <a:solidFill>
                  <a:srgbClr val="212121"/>
                </a:solidFill>
                <a:latin typeface="Courier New"/>
              </a:rPr>
              <a:t># available pairing channels:</a:t>
            </a:r>
          </a:p>
          <a:p>
            <a:pPr algn="l">
              <a:spcAft>
                <a:spcPts val="0"/>
              </a:spcAft>
            </a:pPr>
            <a:r>
              <a:rPr sz="850" b="0">
                <a:solidFill>
                  <a:srgbClr val="212121"/>
                </a:solidFill>
                <a:latin typeface="Courier New"/>
              </a:rPr>
              <a:t>#</a:t>
            </a:r>
          </a:p>
          <a:p>
            <a:pPr algn="l">
              <a:spcAft>
                <a:spcPts val="0"/>
              </a:spcAft>
            </a:pPr>
            <a:r>
              <a:rPr sz="850" b="0">
                <a:solidFill>
                  <a:srgbClr val="212121"/>
                </a:solidFill>
                <a:latin typeface="Courier New"/>
              </a:rPr>
              <a:t>#   on-site s      (i == j)</a:t>
            </a:r>
          </a:p>
          <a:p>
            <a:pPr algn="l">
              <a:spcAft>
                <a:spcPts val="0"/>
              </a:spcAft>
            </a:pPr>
            <a:r>
              <a:rPr sz="850" b="0">
                <a:solidFill>
                  <a:srgbClr val="212121"/>
                </a:solidFill>
                <a:latin typeface="Courier New"/>
              </a:rPr>
              <a:t>#   extended s     NN bonds, all +1</a:t>
            </a:r>
          </a:p>
          <a:p>
            <a:pPr algn="l">
              <a:spcAft>
                <a:spcPts val="0"/>
              </a:spcAft>
            </a:pPr>
            <a:r>
              <a:rPr sz="850" b="0">
                <a:solidFill>
                  <a:srgbClr val="212121"/>
                </a:solidFill>
                <a:latin typeface="Courier New"/>
              </a:rPr>
              <a:t>#   d_x2-y2        NN bonds, +1 on x</a:t>
            </a:r>
          </a:p>
          <a:p>
            <a:pPr algn="l">
              <a:spcAft>
                <a:spcPts val="0"/>
              </a:spcAft>
            </a:pPr>
            <a:r>
              <a:rPr sz="850" b="0">
                <a:solidFill>
                  <a:srgbClr val="212121"/>
                </a:solidFill>
                <a:latin typeface="Courier New"/>
              </a:rPr>
              <a:t>#                            -1 on y</a:t>
            </a:r>
          </a:p>
          <a:p>
            <a:pPr algn="l">
              <a:spcAft>
                <a:spcPts val="0"/>
              </a:spcAft>
            </a:pPr>
            <a:r>
              <a:rPr sz="850" b="0">
                <a:solidFill>
                  <a:srgbClr val="212121"/>
                </a:solidFill>
                <a:latin typeface="Courier New"/>
              </a:rPr>
              <a:t>#</a:t>
            </a:r>
          </a:p>
          <a:p>
            <a:pPr algn="l">
              <a:spcAft>
                <a:spcPts val="0"/>
              </a:spcAft>
            </a:pPr>
            <a:r>
              <a:rPr sz="850" b="0">
                <a:solidFill>
                  <a:srgbClr val="212121"/>
                </a:solidFill>
                <a:latin typeface="Courier New"/>
              </a:rPr>
              <a:t># all three live on NEAREST</a:t>
            </a:r>
          </a:p>
          <a:p>
            <a:pPr algn="l">
              <a:spcAft>
                <a:spcPts val="0"/>
              </a:spcAft>
            </a:pPr>
            <a:r>
              <a:rPr sz="850" b="0">
                <a:solidFill>
                  <a:srgbClr val="212121"/>
                </a:solidFill>
                <a:latin typeface="Courier New"/>
              </a:rPr>
              <a:t># NEIGHBOUR bonds only.</a:t>
            </a:r>
          </a:p>
          <a:p>
            <a:pPr algn="l">
              <a:spcAft>
                <a:spcPts val="0"/>
              </a:spcAft>
            </a:pPr>
            <a:r>
              <a:rPr sz="850" b="0">
                <a:solidFill>
                  <a:srgbClr val="212121"/>
                </a:solidFill>
                <a:latin typeface="Courier New"/>
              </a:rPr>
              <a:t>#</a:t>
            </a:r>
          </a:p>
          <a:p>
            <a:pPr algn="l">
              <a:spcAft>
                <a:spcPts val="0"/>
              </a:spcAft>
            </a:pPr>
            <a:r>
              <a:rPr sz="850" b="0">
                <a:solidFill>
                  <a:srgbClr val="212121"/>
                </a:solidFill>
                <a:latin typeface="Courier New"/>
              </a:rPr>
              <a:t># there is no form factor on the</a:t>
            </a:r>
          </a:p>
          <a:p>
            <a:pPr algn="l">
              <a:spcAft>
                <a:spcPts val="0"/>
              </a:spcAft>
            </a:pPr>
            <a:r>
              <a:rPr sz="850" b="0">
                <a:solidFill>
                  <a:srgbClr val="212121"/>
                </a:solidFill>
                <a:latin typeface="Courier New"/>
              </a:rPr>
              <a:t># diagonal bonds, so d_xy cannot</a:t>
            </a:r>
          </a:p>
          <a:p>
            <a:pPr algn="l">
              <a:spcAft>
                <a:spcPts val="0"/>
              </a:spcAft>
            </a:pPr>
            <a:r>
              <a:rPr sz="850" b="0">
                <a:solidFill>
                  <a:srgbClr val="212121"/>
                </a:solidFill>
                <a:latin typeface="Courier New"/>
              </a:rPr>
              <a:t># be measured at all.</a:t>
            </a:r>
          </a:p>
        </p:txBody>
      </p:sp>
      <p:sp>
        <p:nvSpPr>
          <p:cNvPr id="7" name="TextBox 6"/>
          <p:cNvSpPr txBox="1"/>
          <p:nvPr/>
        </p:nvSpPr>
        <p:spPr>
          <a:xfrm>
            <a:off x="6199632" y="1481328"/>
            <a:ext cx="5577840" cy="2999232"/>
          </a:xfrm>
          <a:prstGeom prst="rect">
            <a:avLst/>
          </a:prstGeom>
          <a:solidFill>
            <a:srgbClr val="EAF3F9"/>
          </a:solidFill>
          <a:ln w="12700">
            <a:solidFill>
              <a:srgbClr val="0072B2"/>
            </a:solidFill>
          </a:ln>
        </p:spPr>
        <p:txBody>
          <a:bodyPr wrap="square" anchor="t" tIns="54864" bIns="54864">
            <a:spAutoFit/>
          </a:bodyPr>
          <a:lstStyle/>
          <a:p>
            <a:pPr algn="l">
              <a:spcAft>
                <a:spcPts val="0"/>
              </a:spcAft>
            </a:pPr>
            <a:r>
              <a:rPr sz="850" b="0">
                <a:solidFill>
                  <a:srgbClr val="212121"/>
                </a:solidFill>
                <a:latin typeface="Courier New"/>
              </a:rPr>
              <a:t>def diag_bond_factors(lx, ly):</a:t>
            </a:r>
          </a:p>
          <a:p>
            <a:pPr algn="l">
              <a:spcAft>
                <a:spcPts val="0"/>
              </a:spcAft>
            </a:pPr>
            <a:r>
              <a:rPr sz="850" b="0">
                <a:solidFill>
                  <a:srgbClr val="212121"/>
                </a:solidFill>
                <a:latin typeface="Courier New"/>
              </a:rPr>
              <a:t>    """dxy form factor on the DIAGONAL</a:t>
            </a:r>
          </a:p>
          <a:p>
            <a:pPr algn="l">
              <a:spcAft>
                <a:spcPts val="0"/>
              </a:spcAft>
            </a:pPr>
            <a:r>
              <a:rPr sz="850" b="0">
                <a:solidFill>
                  <a:srgbClr val="212121"/>
                </a:solidFill>
                <a:latin typeface="Courier New"/>
              </a:rPr>
              <a:t>    bonds: +1 on '/', -1 on '\'</a:t>
            </a:r>
          </a:p>
          <a:p>
            <a:pPr algn="l">
              <a:spcAft>
                <a:spcPts val="0"/>
              </a:spcAft>
            </a:pPr>
            <a:r>
              <a:rPr sz="850" b="0">
                <a:solidFill>
                  <a:srgbClr val="212121"/>
                </a:solidFill>
                <a:latin typeface="Courier New"/>
              </a:rPr>
              <a:t>    -&gt; f(k) ~ sin kx sin ky"""</a:t>
            </a:r>
          </a:p>
          <a:p>
            <a:pPr algn="l">
              <a:spcAft>
                <a:spcPts val="0"/>
              </a:spcAft>
            </a:pPr>
            <a:r>
              <a:rPr sz="850" b="0">
                <a:solidFill>
                  <a:srgbClr val="212121"/>
                </a:solidFill>
                <a:latin typeface="Courier New"/>
              </a:rPr>
              <a:t>    for x in range(lx):</a:t>
            </a:r>
          </a:p>
          <a:p>
            <a:pPr algn="l">
              <a:spcAft>
                <a:spcPts val="0"/>
              </a:spcAft>
            </a:pPr>
            <a:r>
              <a:rPr sz="850" b="0">
                <a:solidFill>
                  <a:srgbClr val="212121"/>
                </a:solidFill>
                <a:latin typeface="Courier New"/>
              </a:rPr>
              <a:t>      for y in range(ly):</a:t>
            </a:r>
          </a:p>
          <a:p>
            <a:pPr algn="l">
              <a:spcAft>
                <a:spcPts val="0"/>
              </a:spcAft>
            </a:pPr>
            <a:r>
              <a:rPr sz="850" b="0">
                <a:solidFill>
                  <a:srgbClr val="212121"/>
                </a:solidFill>
                <a:latin typeface="Courier New"/>
              </a:rPr>
              <a:t>        m = idx(x, y)</a:t>
            </a:r>
          </a:p>
          <a:p>
            <a:pPr algn="l">
              <a:spcAft>
                <a:spcPts val="0"/>
              </a:spcAft>
            </a:pPr>
            <a:r>
              <a:rPr sz="850" b="0">
                <a:solidFill>
                  <a:srgbClr val="212121"/>
                </a:solidFill>
                <a:latin typeface="Courier New"/>
              </a:rPr>
              <a:t>        for (j, f) in [</a:t>
            </a:r>
          </a:p>
          <a:p>
            <a:pPr algn="l">
              <a:spcAft>
                <a:spcPts val="0"/>
              </a:spcAft>
            </a:pPr>
            <a:r>
              <a:rPr sz="850" b="0">
                <a:solidFill>
                  <a:srgbClr val="212121"/>
                </a:solidFill>
                <a:latin typeface="Courier New"/>
              </a:rPr>
              <a:t>          (idx(x+1, y+1), +1.0),</a:t>
            </a:r>
          </a:p>
          <a:p>
            <a:pPr algn="l">
              <a:spcAft>
                <a:spcPts val="0"/>
              </a:spcAft>
            </a:pPr>
            <a:r>
              <a:rPr sz="850" b="0">
                <a:solidFill>
                  <a:srgbClr val="212121"/>
                </a:solidFill>
                <a:latin typeface="Courier New"/>
              </a:rPr>
              <a:t>          (idx(x-1, y-1), +1.0),</a:t>
            </a:r>
          </a:p>
          <a:p>
            <a:pPr algn="l">
              <a:spcAft>
                <a:spcPts val="0"/>
              </a:spcAft>
            </a:pPr>
            <a:r>
              <a:rPr sz="850" b="0">
                <a:solidFill>
                  <a:srgbClr val="212121"/>
                </a:solidFill>
                <a:latin typeface="Courier New"/>
              </a:rPr>
              <a:t>          (idx(x-1, y+1), -1.0),</a:t>
            </a:r>
          </a:p>
          <a:p>
            <a:pPr algn="l">
              <a:spcAft>
                <a:spcPts val="0"/>
              </a:spcAft>
            </a:pPr>
            <a:r>
              <a:rPr sz="850" b="0">
                <a:solidFill>
                  <a:srgbClr val="212121"/>
                </a:solidFill>
                <a:latin typeface="Courier New"/>
              </a:rPr>
              <a:t>          (idx(x+1, y-1), -1.0)]:</a:t>
            </a:r>
          </a:p>
          <a:p>
            <a:pPr algn="l">
              <a:spcAft>
                <a:spcPts val="0"/>
              </a:spcAft>
            </a:pPr>
            <a:r>
              <a:rPr sz="850" b="0">
                <a:solidFill>
                  <a:srgbClr val="212121"/>
                </a:solidFill>
                <a:latin typeface="Courier New"/>
              </a:rPr>
              <a:t>            Fdxy[m, j] += f</a:t>
            </a:r>
          </a:p>
          <a:p>
            <a:pPr algn="l">
              <a:spcAft>
                <a:spcPts val="0"/>
              </a:spcAft>
            </a:pPr>
            <a:r>
              <a:rPr sz="850" b="0">
                <a:solidFill>
                  <a:srgbClr val="212121"/>
                </a:solidFill>
                <a:latin typeface="Courier New"/>
              </a:rPr>
              <a:t>    return Fdxy</a:t>
            </a:r>
          </a:p>
        </p:txBody>
      </p:sp>
      <p:sp>
        <p:nvSpPr>
          <p:cNvPr id="8" name="TextBox 7"/>
          <p:cNvSpPr txBox="1"/>
          <p:nvPr/>
        </p:nvSpPr>
        <p:spPr>
          <a:xfrm>
            <a:off x="411480" y="4626864"/>
            <a:ext cx="11365992" cy="1865376"/>
          </a:xfrm>
          <a:prstGeom prst="rect">
            <a:avLst/>
          </a:prstGeom>
          <a:solidFill>
            <a:srgbClr val="F4F5F7"/>
          </a:solidFill>
          <a:ln>
            <a:noFill/>
          </a:ln>
        </p:spPr>
        <p:txBody>
          <a:bodyPr wrap="square" anchor="t" tIns="54864" bIns="54864">
            <a:spAutoFit/>
          </a:bodyPr>
          <a:lstStyle/>
          <a:p>
            <a:pPr algn="l">
              <a:spcAft>
                <a:spcPts val="500"/>
              </a:spcAft>
            </a:pPr>
            <a:r>
              <a:rPr sz="1300" b="0">
                <a:solidFill>
                  <a:srgbClr val="212121"/>
                </a:solidFill>
                <a:latin typeface="Calibri"/>
              </a:rPr>
              <a:t>This is new physics rather than a port. The square-lattice code carried s, extended s and d_x2-y2, all defined on nearest-neighbour bonds. d_xy has the form sin(kx)sin(ky), which is supported on the DIAGONAL bonds, so it had no form factor in the old code and simply could not be measured.</a:t>
            </a:r>
          </a:p>
          <a:p>
            <a:pPr algn="l">
              <a:spcAft>
                <a:spcPts val="500"/>
              </a:spcAft>
            </a:pPr>
            <a:r>
              <a:rPr sz="1300" b="0">
                <a:solidFill>
                  <a:srgbClr val="212121"/>
                </a:solidFill>
                <a:latin typeface="Calibri"/>
              </a:rPr>
              <a:t>Since d_xy pairing is the main result of the paper, the new lattice alone would not have been enough. The observable had to be added as well.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56032"/>
            <a:ext cx="11338560" cy="566928"/>
          </a:xfrm>
          <a:prstGeom prst="rect">
            <a:avLst/>
          </a:prstGeom>
          <a:noFill/>
          <a:ln>
            <a:noFill/>
          </a:ln>
        </p:spPr>
        <p:txBody>
          <a:bodyPr wrap="square" anchor="t" tIns="54864" bIns="54864">
            <a:spAutoFit/>
          </a:bodyPr>
          <a:lstStyle/>
          <a:p>
            <a:pPr algn="l">
              <a:spcAft>
                <a:spcPts val="0"/>
              </a:spcAft>
            </a:pPr>
            <a:r>
              <a:rPr sz="3000" b="1">
                <a:solidFill>
                  <a:srgbClr val="1E2761"/>
                </a:solidFill>
                <a:latin typeface="Calibri"/>
              </a:rPr>
              <a:t>The new code was gated before it was used</a:t>
            </a:r>
          </a:p>
        </p:txBody>
      </p:sp>
      <p:sp>
        <p:nvSpPr>
          <p:cNvPr id="3" name="TextBox 2"/>
          <p:cNvSpPr txBox="1"/>
          <p:nvPr/>
        </p:nvSpPr>
        <p:spPr>
          <a:xfrm>
            <a:off x="411480" y="841248"/>
            <a:ext cx="11338560" cy="310896"/>
          </a:xfrm>
          <a:prstGeom prst="rect">
            <a:avLst/>
          </a:prstGeom>
          <a:noFill/>
          <a:ln>
            <a:noFill/>
          </a:ln>
        </p:spPr>
        <p:txBody>
          <a:bodyPr wrap="square" anchor="t" tIns="54864" bIns="54864">
            <a:spAutoFit/>
          </a:bodyPr>
          <a:lstStyle/>
          <a:p>
            <a:pPr algn="l">
              <a:spcAft>
                <a:spcPts val="0"/>
              </a:spcAft>
            </a:pPr>
            <a:r>
              <a:rPr sz="1200" b="0">
                <a:solidFill>
                  <a:srgbClr val="6B6B6B"/>
                </a:solidFill>
                <a:latin typeface="Courier New"/>
              </a:rPr>
              <a:t>pyqmc/validate_checkerboard*.py     342 lines across three scripts</a:t>
            </a:r>
          </a:p>
        </p:txBody>
      </p:sp>
      <p:sp>
        <p:nvSpPr>
          <p:cNvPr id="4" name="TextBox 3"/>
          <p:cNvSpPr txBox="1"/>
          <p:nvPr/>
        </p:nvSpPr>
        <p:spPr>
          <a:xfrm>
            <a:off x="411480" y="1298448"/>
            <a:ext cx="1417320" cy="841248"/>
          </a:xfrm>
          <a:prstGeom prst="rect">
            <a:avLst/>
          </a:prstGeom>
          <a:solidFill>
            <a:srgbClr val="EAF3F9"/>
          </a:solidFill>
          <a:ln>
            <a:noFill/>
          </a:ln>
        </p:spPr>
        <p:txBody>
          <a:bodyPr wrap="square" anchor="ctr" tIns="54864" bIns="54864">
            <a:spAutoFit/>
          </a:bodyPr>
          <a:lstStyle/>
          <a:p>
            <a:pPr algn="ctr">
              <a:spcAft>
                <a:spcPts val="0"/>
              </a:spcAft>
            </a:pPr>
            <a:r>
              <a:rPr sz="1300" b="1">
                <a:solidFill>
                  <a:srgbClr val="0072B2"/>
                </a:solidFill>
                <a:latin typeface="Courier New"/>
              </a:rPr>
              <a:t>GATE 1</a:t>
            </a:r>
          </a:p>
        </p:txBody>
      </p:sp>
      <p:sp>
        <p:nvSpPr>
          <p:cNvPr id="5" name="TextBox 4"/>
          <p:cNvSpPr txBox="1"/>
          <p:nvPr/>
        </p:nvSpPr>
        <p:spPr>
          <a:xfrm>
            <a:off x="2011680" y="1298448"/>
            <a:ext cx="6446520" cy="841248"/>
          </a:xfrm>
          <a:prstGeom prst="rect">
            <a:avLst/>
          </a:prstGeom>
          <a:noFill/>
          <a:ln>
            <a:noFill/>
          </a:ln>
        </p:spPr>
        <p:txBody>
          <a:bodyPr wrap="square" anchor="ctr" tIns="54864" bIns="54864">
            <a:spAutoFit/>
          </a:bodyPr>
          <a:lstStyle/>
          <a:p>
            <a:pPr algn="l">
              <a:spcAft>
                <a:spcPts val="0"/>
              </a:spcAft>
            </a:pPr>
            <a:r>
              <a:rPr sz="1300" b="0">
                <a:solidFill>
                  <a:srgbClr val="212121"/>
                </a:solidFill>
                <a:latin typeface="Calibri"/>
              </a:rPr>
              <a:t>hopping bit-for-bit against the Fortran tk and against the independent ED builder</a:t>
            </a:r>
          </a:p>
        </p:txBody>
      </p:sp>
      <p:sp>
        <p:nvSpPr>
          <p:cNvPr id="6" name="TextBox 5"/>
          <p:cNvSpPr txBox="1"/>
          <p:nvPr/>
        </p:nvSpPr>
        <p:spPr>
          <a:xfrm>
            <a:off x="8595360" y="1298448"/>
            <a:ext cx="3182112" cy="841248"/>
          </a:xfrm>
          <a:prstGeom prst="rect">
            <a:avLst/>
          </a:prstGeom>
          <a:noFill/>
          <a:ln>
            <a:noFill/>
          </a:ln>
        </p:spPr>
        <p:txBody>
          <a:bodyPr wrap="square" anchor="ctr" tIns="54864" bIns="54864">
            <a:spAutoFit/>
          </a:bodyPr>
          <a:lstStyle/>
          <a:p>
            <a:pPr algn="l">
              <a:spcAft>
                <a:spcPts val="0"/>
              </a:spcAft>
            </a:pPr>
            <a:r>
              <a:rPr sz="1150" b="0">
                <a:solidFill>
                  <a:srgbClr val="6B6B6B"/>
                </a:solidFill>
                <a:latin typeface="Calibri"/>
              </a:rPr>
              <a:t>max|diff| = 0 required</a:t>
            </a:r>
          </a:p>
        </p:txBody>
      </p:sp>
      <p:sp>
        <p:nvSpPr>
          <p:cNvPr id="7" name="TextBox 6"/>
          <p:cNvSpPr txBox="1"/>
          <p:nvPr/>
        </p:nvSpPr>
        <p:spPr>
          <a:xfrm>
            <a:off x="411480" y="2231136"/>
            <a:ext cx="1417320" cy="841248"/>
          </a:xfrm>
          <a:prstGeom prst="rect">
            <a:avLst/>
          </a:prstGeom>
          <a:solidFill>
            <a:srgbClr val="EAF3F9"/>
          </a:solidFill>
          <a:ln>
            <a:noFill/>
          </a:ln>
        </p:spPr>
        <p:txBody>
          <a:bodyPr wrap="square" anchor="ctr" tIns="54864" bIns="54864">
            <a:spAutoFit/>
          </a:bodyPr>
          <a:lstStyle/>
          <a:p>
            <a:pPr algn="ctr">
              <a:spcAft>
                <a:spcPts val="0"/>
              </a:spcAft>
            </a:pPr>
            <a:r>
              <a:rPr sz="1300" b="1">
                <a:solidFill>
                  <a:srgbClr val="0072B2"/>
                </a:solidFill>
                <a:latin typeface="Courier New"/>
              </a:rPr>
              <a:t>GATE 2</a:t>
            </a:r>
          </a:p>
        </p:txBody>
      </p:sp>
      <p:sp>
        <p:nvSpPr>
          <p:cNvPr id="8" name="TextBox 7"/>
          <p:cNvSpPr txBox="1"/>
          <p:nvPr/>
        </p:nvSpPr>
        <p:spPr>
          <a:xfrm>
            <a:off x="2011680" y="2231136"/>
            <a:ext cx="6446520" cy="841248"/>
          </a:xfrm>
          <a:prstGeom prst="rect">
            <a:avLst/>
          </a:prstGeom>
          <a:noFill/>
          <a:ln>
            <a:noFill/>
          </a:ln>
        </p:spPr>
        <p:txBody>
          <a:bodyPr wrap="square" anchor="ctr" tIns="54864" bIns="54864">
            <a:spAutoFit/>
          </a:bodyPr>
          <a:lstStyle/>
          <a:p>
            <a:pPr algn="l">
              <a:spcAft>
                <a:spcPts val="0"/>
              </a:spcAft>
            </a:pPr>
            <a:r>
              <a:rPr sz="1300" b="0">
                <a:solidFill>
                  <a:srgbClr val="212121"/>
                </a:solidFill>
                <a:latin typeface="Calibri"/>
              </a:rPr>
              <a:t>U = 0 CPMC energy against the free-fermion result</a:t>
            </a:r>
          </a:p>
        </p:txBody>
      </p:sp>
      <p:sp>
        <p:nvSpPr>
          <p:cNvPr id="9" name="TextBox 8"/>
          <p:cNvSpPr txBox="1"/>
          <p:nvPr/>
        </p:nvSpPr>
        <p:spPr>
          <a:xfrm>
            <a:off x="8595360" y="2231136"/>
            <a:ext cx="3182112" cy="841248"/>
          </a:xfrm>
          <a:prstGeom prst="rect">
            <a:avLst/>
          </a:prstGeom>
          <a:noFill/>
          <a:ln>
            <a:noFill/>
          </a:ln>
        </p:spPr>
        <p:txBody>
          <a:bodyPr wrap="square" anchor="ctr" tIns="54864" bIns="54864">
            <a:spAutoFit/>
          </a:bodyPr>
          <a:lstStyle/>
          <a:p>
            <a:pPr algn="l">
              <a:spcAft>
                <a:spcPts val="0"/>
              </a:spcAft>
            </a:pPr>
            <a:r>
              <a:rPr sz="1150" b="0">
                <a:solidFill>
                  <a:srgbClr val="6B6B6B"/>
                </a:solidFill>
                <a:latin typeface="Calibri"/>
              </a:rPr>
              <a:t>checks the engine, not the model</a:t>
            </a:r>
          </a:p>
        </p:txBody>
      </p:sp>
      <p:sp>
        <p:nvSpPr>
          <p:cNvPr id="10" name="TextBox 9"/>
          <p:cNvSpPr txBox="1"/>
          <p:nvPr/>
        </p:nvSpPr>
        <p:spPr>
          <a:xfrm>
            <a:off x="411480" y="3163824"/>
            <a:ext cx="1417320" cy="841248"/>
          </a:xfrm>
          <a:prstGeom prst="rect">
            <a:avLst/>
          </a:prstGeom>
          <a:solidFill>
            <a:srgbClr val="EAF3F9"/>
          </a:solidFill>
          <a:ln>
            <a:noFill/>
          </a:ln>
        </p:spPr>
        <p:txBody>
          <a:bodyPr wrap="square" anchor="ctr" tIns="54864" bIns="54864">
            <a:spAutoFit/>
          </a:bodyPr>
          <a:lstStyle/>
          <a:p>
            <a:pPr algn="ctr">
              <a:spcAft>
                <a:spcPts val="0"/>
              </a:spcAft>
            </a:pPr>
            <a:r>
              <a:rPr sz="1300" b="1">
                <a:solidFill>
                  <a:srgbClr val="0072B2"/>
                </a:solidFill>
                <a:latin typeface="Courier New"/>
              </a:rPr>
              <a:t>GATE 3</a:t>
            </a:r>
          </a:p>
        </p:txBody>
      </p:sp>
      <p:sp>
        <p:nvSpPr>
          <p:cNvPr id="11" name="TextBox 10"/>
          <p:cNvSpPr txBox="1"/>
          <p:nvPr/>
        </p:nvSpPr>
        <p:spPr>
          <a:xfrm>
            <a:off x="2011680" y="3163824"/>
            <a:ext cx="6446520" cy="841248"/>
          </a:xfrm>
          <a:prstGeom prst="rect">
            <a:avLst/>
          </a:prstGeom>
          <a:noFill/>
          <a:ln>
            <a:noFill/>
          </a:ln>
        </p:spPr>
        <p:txBody>
          <a:bodyPr wrap="square" anchor="ctr" tIns="54864" bIns="54864">
            <a:spAutoFit/>
          </a:bodyPr>
          <a:lstStyle/>
          <a:p>
            <a:pPr algn="l">
              <a:spcAft>
                <a:spcPts val="0"/>
              </a:spcAft>
            </a:pPr>
            <a:r>
              <a:rPr sz="1300" b="0">
                <a:solidFill>
                  <a:srgbClr val="212121"/>
                </a:solidFill>
                <a:latin typeface="Calibri"/>
              </a:rPr>
              <a:t>U = 0 connected vertex is zero in every channel: s, d_x2-y2, d_xy</a:t>
            </a:r>
          </a:p>
        </p:txBody>
      </p:sp>
      <p:sp>
        <p:nvSpPr>
          <p:cNvPr id="12" name="TextBox 11"/>
          <p:cNvSpPr txBox="1"/>
          <p:nvPr/>
        </p:nvSpPr>
        <p:spPr>
          <a:xfrm>
            <a:off x="8595360" y="3163824"/>
            <a:ext cx="3182112" cy="841248"/>
          </a:xfrm>
          <a:prstGeom prst="rect">
            <a:avLst/>
          </a:prstGeom>
          <a:noFill/>
          <a:ln>
            <a:noFill/>
          </a:ln>
        </p:spPr>
        <p:txBody>
          <a:bodyPr wrap="square" anchor="ctr" tIns="54864" bIns="54864">
            <a:spAutoFit/>
          </a:bodyPr>
          <a:lstStyle/>
          <a:p>
            <a:pPr algn="l">
              <a:spcAft>
                <a:spcPts val="0"/>
              </a:spcAft>
            </a:pPr>
            <a:r>
              <a:rPr sz="1150" b="0">
                <a:solidFill>
                  <a:srgbClr val="6B6B6B"/>
                </a:solidFill>
                <a:latin typeface="Calibri"/>
              </a:rPr>
              <a:t>the machinery gate for the new channel</a:t>
            </a:r>
          </a:p>
        </p:txBody>
      </p:sp>
      <p:sp>
        <p:nvSpPr>
          <p:cNvPr id="13" name="TextBox 12"/>
          <p:cNvSpPr txBox="1"/>
          <p:nvPr/>
        </p:nvSpPr>
        <p:spPr>
          <a:xfrm>
            <a:off x="411480" y="4096512"/>
            <a:ext cx="1417320" cy="841248"/>
          </a:xfrm>
          <a:prstGeom prst="rect">
            <a:avLst/>
          </a:prstGeom>
          <a:solidFill>
            <a:srgbClr val="EAF3F9"/>
          </a:solidFill>
          <a:ln>
            <a:noFill/>
          </a:ln>
        </p:spPr>
        <p:txBody>
          <a:bodyPr wrap="square" anchor="ctr" tIns="54864" bIns="54864">
            <a:spAutoFit/>
          </a:bodyPr>
          <a:lstStyle/>
          <a:p>
            <a:pPr algn="ctr">
              <a:spcAft>
                <a:spcPts val="0"/>
              </a:spcAft>
            </a:pPr>
            <a:r>
              <a:rPr sz="1300" b="1">
                <a:solidFill>
                  <a:srgbClr val="0072B2"/>
                </a:solidFill>
                <a:latin typeface="Courier New"/>
              </a:rPr>
              <a:t>GATE 4</a:t>
            </a:r>
          </a:p>
        </p:txBody>
      </p:sp>
      <p:sp>
        <p:nvSpPr>
          <p:cNvPr id="14" name="TextBox 13"/>
          <p:cNvSpPr txBox="1"/>
          <p:nvPr/>
        </p:nvSpPr>
        <p:spPr>
          <a:xfrm>
            <a:off x="2011680" y="4096512"/>
            <a:ext cx="6446520" cy="841248"/>
          </a:xfrm>
          <a:prstGeom prst="rect">
            <a:avLst/>
          </a:prstGeom>
          <a:noFill/>
          <a:ln>
            <a:noFill/>
          </a:ln>
        </p:spPr>
        <p:txBody>
          <a:bodyPr wrap="square" anchor="ctr" tIns="54864" bIns="54864">
            <a:spAutoFit/>
          </a:bodyPr>
          <a:lstStyle/>
          <a:p>
            <a:pPr algn="l">
              <a:spcAft>
                <a:spcPts val="0"/>
              </a:spcAft>
            </a:pPr>
            <a:r>
              <a:rPr sz="1300" b="0">
                <a:solidFill>
                  <a:srgbClr val="212121"/>
                </a:solidFill>
                <a:latin typeface="Calibri"/>
              </a:rPr>
              <a:t>interacting energy against QuSpin exact diagonalization on a small cluster</a:t>
            </a:r>
          </a:p>
        </p:txBody>
      </p:sp>
      <p:sp>
        <p:nvSpPr>
          <p:cNvPr id="15" name="TextBox 14"/>
          <p:cNvSpPr txBox="1"/>
          <p:nvPr/>
        </p:nvSpPr>
        <p:spPr>
          <a:xfrm>
            <a:off x="8595360" y="4096512"/>
            <a:ext cx="3182112" cy="841248"/>
          </a:xfrm>
          <a:prstGeom prst="rect">
            <a:avLst/>
          </a:prstGeom>
          <a:noFill/>
          <a:ln>
            <a:noFill/>
          </a:ln>
        </p:spPr>
        <p:txBody>
          <a:bodyPr wrap="square" anchor="ctr" tIns="54864" bIns="54864">
            <a:spAutoFit/>
          </a:bodyPr>
          <a:lstStyle/>
          <a:p>
            <a:pPr algn="l">
              <a:spcAft>
                <a:spcPts val="0"/>
              </a:spcAft>
            </a:pPr>
            <a:r>
              <a:rPr sz="1150" b="0">
                <a:solidFill>
                  <a:srgbClr val="6B6B6B"/>
                </a:solidFill>
                <a:latin typeface="Calibri"/>
              </a:rPr>
              <a:t>optional, run with --ed</a:t>
            </a:r>
          </a:p>
        </p:txBody>
      </p:sp>
      <p:sp>
        <p:nvSpPr>
          <p:cNvPr id="16" name="TextBox 15"/>
          <p:cNvSpPr txBox="1"/>
          <p:nvPr/>
        </p:nvSpPr>
        <p:spPr>
          <a:xfrm>
            <a:off x="411480" y="5138928"/>
            <a:ext cx="11365992" cy="1298448"/>
          </a:xfrm>
          <a:prstGeom prst="rect">
            <a:avLst/>
          </a:prstGeom>
          <a:solidFill>
            <a:srgbClr val="F4F5F7"/>
          </a:solidFill>
          <a:ln>
            <a:noFill/>
          </a:ln>
        </p:spPr>
        <p:txBody>
          <a:bodyPr wrap="square" anchor="t" tIns="54864" bIns="54864">
            <a:spAutoFit/>
          </a:bodyPr>
          <a:lstStyle/>
          <a:p>
            <a:pPr algn="l">
              <a:spcAft>
                <a:spcPts val="600"/>
              </a:spcAft>
            </a:pPr>
            <a:r>
              <a:rPr sz="1300" b="0">
                <a:solidFill>
                  <a:srgbClr val="212121"/>
                </a:solidFill>
                <a:latin typeface="Calibri"/>
              </a:rPr>
              <a:t>Gate 3 is the one that matters for the new channel. A connected vertex must vanish at U = 0 by construction, so a nonzero value there would mean the d_xy form factor or the contraction was wrong rather than that pairing had been found. Passing it means the channel measures what it claims to measure.</a:t>
            </a:r>
          </a:p>
          <a:p>
            <a:pPr algn="l">
              <a:spcAft>
                <a:spcPts val="600"/>
              </a:spcAft>
            </a:pPr>
            <a:r>
              <a:rPr sz="1300" b="0">
                <a:solidFill>
                  <a:srgbClr val="212121"/>
                </a:solidFill>
                <a:latin typeface="Calibri"/>
              </a:rPr>
              <a:t>A second validator repeats the gates without QuSpin, so the checks can be run on machines where that library is not installed.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56032"/>
            <a:ext cx="11338560" cy="566928"/>
          </a:xfrm>
          <a:prstGeom prst="rect">
            <a:avLst/>
          </a:prstGeom>
          <a:noFill/>
          <a:ln>
            <a:noFill/>
          </a:ln>
        </p:spPr>
        <p:txBody>
          <a:bodyPr wrap="square" anchor="t" tIns="54864" bIns="54864">
            <a:spAutoFit/>
          </a:bodyPr>
          <a:lstStyle/>
          <a:p>
            <a:pPr algn="l">
              <a:spcAft>
                <a:spcPts val="0"/>
              </a:spcAft>
            </a:pPr>
            <a:r>
              <a:rPr sz="3000" b="1">
                <a:solidFill>
                  <a:srgbClr val="1E2761"/>
                </a:solidFill>
                <a:latin typeface="Calibri"/>
              </a:rPr>
              <a:t>Summary</a:t>
            </a:r>
          </a:p>
        </p:txBody>
      </p:sp>
      <p:sp>
        <p:nvSpPr>
          <p:cNvPr id="3" name="TextBox 2"/>
          <p:cNvSpPr txBox="1"/>
          <p:nvPr/>
        </p:nvSpPr>
        <p:spPr>
          <a:xfrm>
            <a:off x="411480" y="1024128"/>
            <a:ext cx="11365992" cy="329184"/>
          </a:xfrm>
          <a:prstGeom prst="rect">
            <a:avLst/>
          </a:prstGeom>
          <a:noFill/>
          <a:ln>
            <a:noFill/>
          </a:ln>
        </p:spPr>
        <p:txBody>
          <a:bodyPr wrap="square" anchor="t" tIns="54864" bIns="54864">
            <a:spAutoFit/>
          </a:bodyPr>
          <a:lstStyle/>
          <a:p>
            <a:pPr algn="l">
              <a:spcAft>
                <a:spcPts val="0"/>
              </a:spcAft>
            </a:pPr>
            <a:r>
              <a:rPr sz="1400" b="1">
                <a:solidFill>
                  <a:srgbClr val="1E2761"/>
                </a:solidFill>
                <a:latin typeface="Calibri"/>
              </a:rPr>
              <a:t>Emergent altermagnetism in a spin-independent model.</a:t>
            </a:r>
          </a:p>
        </p:txBody>
      </p:sp>
      <p:sp>
        <p:nvSpPr>
          <p:cNvPr id="4" name="TextBox 3"/>
          <p:cNvSpPr txBox="1"/>
          <p:nvPr/>
        </p:nvSpPr>
        <p:spPr>
          <a:xfrm>
            <a:off x="685800" y="1362456"/>
            <a:ext cx="11091672" cy="512064"/>
          </a:xfrm>
          <a:prstGeom prst="rect">
            <a:avLst/>
          </a:prstGeom>
          <a:noFill/>
          <a:ln>
            <a:noFill/>
          </a:ln>
        </p:spPr>
        <p:txBody>
          <a:bodyPr wrap="square" anchor="t" tIns="54864" bIns="54864">
            <a:spAutoFit/>
          </a:bodyPr>
          <a:lstStyle/>
          <a:p>
            <a:pPr algn="l">
              <a:spcAft>
                <a:spcPts val="0"/>
              </a:spcAft>
            </a:pPr>
            <a:r>
              <a:rPr sz="1200" b="0">
                <a:solidFill>
                  <a:srgbClr val="6B6B6B"/>
                </a:solidFill>
                <a:latin typeface="Calibri"/>
              </a:rPr>
              <a:t>The hopping carries no spin index, so the splitting is exactly zero at U = 0 and everything above it comes from the interaction.</a:t>
            </a:r>
          </a:p>
        </p:txBody>
      </p:sp>
      <p:sp>
        <p:nvSpPr>
          <p:cNvPr id="5" name="TextBox 4"/>
          <p:cNvSpPr txBox="1"/>
          <p:nvPr/>
        </p:nvSpPr>
        <p:spPr>
          <a:xfrm>
            <a:off x="411480" y="1901952"/>
            <a:ext cx="11365992" cy="329184"/>
          </a:xfrm>
          <a:prstGeom prst="rect">
            <a:avLst/>
          </a:prstGeom>
          <a:noFill/>
          <a:ln>
            <a:noFill/>
          </a:ln>
        </p:spPr>
        <p:txBody>
          <a:bodyPr wrap="square" anchor="t" tIns="54864" bIns="54864">
            <a:spAutoFit/>
          </a:bodyPr>
          <a:lstStyle/>
          <a:p>
            <a:pPr algn="l">
              <a:spcAft>
                <a:spcPts val="0"/>
              </a:spcAft>
            </a:pPr>
            <a:r>
              <a:rPr sz="1400" b="1">
                <a:solidFill>
                  <a:srgbClr val="1E2761"/>
                </a:solidFill>
                <a:latin typeface="Calibri"/>
              </a:rPr>
              <a:t>The splitting is d_xy at every parameter set examined.</a:t>
            </a:r>
          </a:p>
        </p:txBody>
      </p:sp>
      <p:sp>
        <p:nvSpPr>
          <p:cNvPr id="6" name="TextBox 5"/>
          <p:cNvSpPr txBox="1"/>
          <p:nvPr/>
        </p:nvSpPr>
        <p:spPr>
          <a:xfrm>
            <a:off x="685800" y="2240280"/>
            <a:ext cx="11091672" cy="512064"/>
          </a:xfrm>
          <a:prstGeom prst="rect">
            <a:avLst/>
          </a:prstGeom>
          <a:noFill/>
          <a:ln>
            <a:noFill/>
          </a:ln>
        </p:spPr>
        <p:txBody>
          <a:bodyPr wrap="square" anchor="t" tIns="54864" bIns="54864">
            <a:spAutoFit/>
          </a:bodyPr>
          <a:lstStyle/>
          <a:p>
            <a:pPr algn="l">
              <a:spcAft>
                <a:spcPts val="0"/>
              </a:spcAft>
            </a:pPr>
            <a:r>
              <a:rPr sz="1200" b="0">
                <a:solidFill>
                  <a:srgbClr val="6B6B6B"/>
                </a:solidFill>
                <a:latin typeface="Calibri"/>
              </a:rPr>
              <a:t>126 of 126 interacting cells across L = 8, 10 and 12, classified by symmetry alone rather than by projection onto one harmonic.</a:t>
            </a:r>
          </a:p>
        </p:txBody>
      </p:sp>
      <p:sp>
        <p:nvSpPr>
          <p:cNvPr id="7" name="TextBox 6"/>
          <p:cNvSpPr txBox="1"/>
          <p:nvPr/>
        </p:nvSpPr>
        <p:spPr>
          <a:xfrm>
            <a:off x="411480" y="2779776"/>
            <a:ext cx="11365992" cy="329184"/>
          </a:xfrm>
          <a:prstGeom prst="rect">
            <a:avLst/>
          </a:prstGeom>
          <a:noFill/>
          <a:ln>
            <a:noFill/>
          </a:ln>
        </p:spPr>
        <p:txBody>
          <a:bodyPr wrap="square" anchor="t" tIns="54864" bIns="54864">
            <a:spAutoFit/>
          </a:bodyPr>
          <a:lstStyle/>
          <a:p>
            <a:pPr algn="l">
              <a:spcAft>
                <a:spcPts val="0"/>
              </a:spcAft>
            </a:pPr>
            <a:r>
              <a:rPr sz="1400" b="1">
                <a:solidFill>
                  <a:srgbClr val="1E2761"/>
                </a:solidFill>
                <a:latin typeface="Calibri"/>
              </a:rPr>
              <a:t>Anisotropy ENHANCES d_xy pairing and suppresses d_x2-y2.</a:t>
            </a:r>
          </a:p>
        </p:txBody>
      </p:sp>
      <p:sp>
        <p:nvSpPr>
          <p:cNvPr id="8" name="TextBox 7"/>
          <p:cNvSpPr txBox="1"/>
          <p:nvPr/>
        </p:nvSpPr>
        <p:spPr>
          <a:xfrm>
            <a:off x="685800" y="3118104"/>
            <a:ext cx="11091672" cy="512064"/>
          </a:xfrm>
          <a:prstGeom prst="rect">
            <a:avLst/>
          </a:prstGeom>
          <a:noFill/>
          <a:ln>
            <a:noFill/>
          </a:ln>
        </p:spPr>
        <p:txBody>
          <a:bodyPr wrap="square" anchor="t" tIns="54864" bIns="54864">
            <a:spAutoFit/>
          </a:bodyPr>
          <a:lstStyle/>
          <a:p>
            <a:pPr algn="l">
              <a:spcAft>
                <a:spcPts val="0"/>
              </a:spcAft>
            </a:pPr>
            <a:r>
              <a:rPr sz="1200" b="0">
                <a:solidFill>
                  <a:srgbClr val="6B6B6B"/>
                </a:solidFill>
                <a:latin typeface="Calibri"/>
              </a:rPr>
              <a:t>The d_xy vertex leads for delta &gt;= 0.3 at every U and grows by 2.3 to 3.2 times between L = 8 and L = 12. The earlier opposite conclusion came from L = 6.</a:t>
            </a:r>
          </a:p>
        </p:txBody>
      </p:sp>
      <p:sp>
        <p:nvSpPr>
          <p:cNvPr id="9" name="TextBox 8"/>
          <p:cNvSpPr txBox="1"/>
          <p:nvPr/>
        </p:nvSpPr>
        <p:spPr>
          <a:xfrm>
            <a:off x="411480" y="3657600"/>
            <a:ext cx="11365992" cy="329184"/>
          </a:xfrm>
          <a:prstGeom prst="rect">
            <a:avLst/>
          </a:prstGeom>
          <a:noFill/>
          <a:ln>
            <a:noFill/>
          </a:ln>
        </p:spPr>
        <p:txBody>
          <a:bodyPr wrap="square" anchor="t" tIns="54864" bIns="54864">
            <a:spAutoFit/>
          </a:bodyPr>
          <a:lstStyle/>
          <a:p>
            <a:pPr algn="l">
              <a:spcAft>
                <a:spcPts val="0"/>
              </a:spcAft>
            </a:pPr>
            <a:r>
              <a:rPr sz="1400" b="1">
                <a:solidFill>
                  <a:srgbClr val="1E2761"/>
                </a:solidFill>
                <a:latin typeface="Calibri"/>
              </a:rPr>
              <a:t>Magnetism and pairing select the SAME representation.</a:t>
            </a:r>
          </a:p>
        </p:txBody>
      </p:sp>
      <p:sp>
        <p:nvSpPr>
          <p:cNvPr id="10" name="TextBox 9"/>
          <p:cNvSpPr txBox="1"/>
          <p:nvPr/>
        </p:nvSpPr>
        <p:spPr>
          <a:xfrm>
            <a:off x="685800" y="3995928"/>
            <a:ext cx="11091672" cy="512064"/>
          </a:xfrm>
          <a:prstGeom prst="rect">
            <a:avLst/>
          </a:prstGeom>
          <a:noFill/>
          <a:ln>
            <a:noFill/>
          </a:ln>
        </p:spPr>
        <p:txBody>
          <a:bodyPr wrap="square" anchor="t" tIns="54864" bIns="54864">
            <a:spAutoFit/>
          </a:bodyPr>
          <a:lstStyle/>
          <a:p>
            <a:pPr algn="l">
              <a:spcAft>
                <a:spcPts val="0"/>
              </a:spcAft>
            </a:pPr>
            <a:r>
              <a:rPr sz="1200" b="0">
                <a:solidFill>
                  <a:srgbClr val="6B6B6B"/>
                </a:solidFill>
                <a:latin typeface="Calibri"/>
              </a:rPr>
              <a:t>Both land in d_xy, and the channel is fixed by the lattice geometry rather than by the interaction.</a:t>
            </a:r>
          </a:p>
        </p:txBody>
      </p:sp>
      <p:sp>
        <p:nvSpPr>
          <p:cNvPr id="11" name="TextBox 10"/>
          <p:cNvSpPr txBox="1"/>
          <p:nvPr/>
        </p:nvSpPr>
        <p:spPr>
          <a:xfrm>
            <a:off x="411480" y="4535424"/>
            <a:ext cx="11365992" cy="329184"/>
          </a:xfrm>
          <a:prstGeom prst="rect">
            <a:avLst/>
          </a:prstGeom>
          <a:noFill/>
          <a:ln>
            <a:noFill/>
          </a:ln>
        </p:spPr>
        <p:txBody>
          <a:bodyPr wrap="square" anchor="t" tIns="54864" bIns="54864">
            <a:spAutoFit/>
          </a:bodyPr>
          <a:lstStyle/>
          <a:p>
            <a:pPr algn="l">
              <a:spcAft>
                <a:spcPts val="0"/>
              </a:spcAft>
            </a:pPr>
            <a:r>
              <a:rPr sz="1400" b="1">
                <a:solidFill>
                  <a:srgbClr val="1E2761"/>
                </a:solidFill>
                <a:latin typeface="Calibri"/>
              </a:rPr>
              <a:t>Long-range order is not established at these sizes.</a:t>
            </a:r>
          </a:p>
        </p:txBody>
      </p:sp>
      <p:sp>
        <p:nvSpPr>
          <p:cNvPr id="12" name="TextBox 11"/>
          <p:cNvSpPr txBox="1"/>
          <p:nvPr/>
        </p:nvSpPr>
        <p:spPr>
          <a:xfrm>
            <a:off x="685800" y="4873752"/>
            <a:ext cx="11091672" cy="512064"/>
          </a:xfrm>
          <a:prstGeom prst="rect">
            <a:avLst/>
          </a:prstGeom>
          <a:noFill/>
          <a:ln>
            <a:noFill/>
          </a:ln>
        </p:spPr>
        <p:txBody>
          <a:bodyPr wrap="square" anchor="t" tIns="54864" bIns="54864">
            <a:spAutoFit/>
          </a:bodyPr>
          <a:lstStyle/>
          <a:p>
            <a:pPr algn="l">
              <a:spcAft>
                <a:spcPts val="0"/>
              </a:spcAft>
            </a:pPr>
            <a:r>
              <a:rPr sz="1200" b="0">
                <a:solidFill>
                  <a:srgbClr val="6B6B6B"/>
                </a:solidFill>
                <a:latin typeface="Calibri"/>
              </a:rPr>
              <a:t>S(pi,pi)/N falls as 1/N at every filling. The h -&gt; 0 intercept is finite at each L but decreases with L, and L = 16 is running to settle the extrapolation.</a:t>
            </a:r>
          </a:p>
        </p:txBody>
      </p:sp>
      <p:sp>
        <p:nvSpPr>
          <p:cNvPr id="13" name="TextBox 12"/>
          <p:cNvSpPr txBox="1"/>
          <p:nvPr/>
        </p:nvSpPr>
        <p:spPr>
          <a:xfrm>
            <a:off x="411480" y="5440680"/>
            <a:ext cx="5577840" cy="1115568"/>
          </a:xfrm>
          <a:prstGeom prst="rect">
            <a:avLst/>
          </a:prstGeom>
          <a:solidFill>
            <a:srgbClr val="EAF3F9"/>
          </a:solidFill>
          <a:ln w="12700">
            <a:solidFill>
              <a:srgbClr val="0072B2"/>
            </a:solidFill>
          </a:ln>
        </p:spPr>
        <p:txBody>
          <a:bodyPr wrap="square" anchor="t" tIns="54864" bIns="54864">
            <a:spAutoFit/>
          </a:bodyPr>
          <a:lstStyle/>
          <a:p>
            <a:pPr algn="l">
              <a:spcAft>
                <a:spcPts val="600"/>
              </a:spcAft>
            </a:pPr>
            <a:r>
              <a:rPr sz="1500" b="1">
                <a:solidFill>
                  <a:srgbClr val="0072B2"/>
                </a:solidFill>
                <a:latin typeface="Calibri"/>
              </a:rPr>
              <a:t>NEXT WEEK</a:t>
            </a:r>
          </a:p>
          <a:p>
            <a:pPr algn="l">
              <a:spcAft>
                <a:spcPts val="600"/>
              </a:spcAft>
            </a:pPr>
            <a:r>
              <a:rPr sz="1500" b="1">
                <a:solidFill>
                  <a:srgbClr val="0072B2"/>
                </a:solidFill>
                <a:latin typeface="Calibri"/>
              </a:rPr>
              <a:t/>
            </a:r>
          </a:p>
          <a:p>
            <a:pPr algn="l">
              <a:spcAft>
                <a:spcPts val="600"/>
              </a:spcAft>
            </a:pPr>
            <a:r>
              <a:rPr sz="1500" b="1">
                <a:solidFill>
                  <a:srgbClr val="0072B2"/>
                </a:solidFill>
                <a:latin typeface="Calibri"/>
              </a:rPr>
              <a:t>Finish writing the manuscript.</a:t>
            </a:r>
          </a:p>
        </p:txBody>
      </p:sp>
      <p:sp>
        <p:nvSpPr>
          <p:cNvPr id="14" name="TextBox 13"/>
          <p:cNvSpPr txBox="1"/>
          <p:nvPr/>
        </p:nvSpPr>
        <p:spPr>
          <a:xfrm>
            <a:off x="6199632" y="5440680"/>
            <a:ext cx="5577840" cy="1115568"/>
          </a:xfrm>
          <a:prstGeom prst="rect">
            <a:avLst/>
          </a:prstGeom>
          <a:solidFill>
            <a:srgbClr val="F4F5F7"/>
          </a:solidFill>
          <a:ln>
            <a:noFill/>
          </a:ln>
        </p:spPr>
        <p:txBody>
          <a:bodyPr wrap="square" anchor="t" tIns="54864" bIns="54864">
            <a:spAutoFit/>
          </a:bodyPr>
          <a:lstStyle/>
          <a:p>
            <a:pPr algn="l">
              <a:spcAft>
                <a:spcPts val="500"/>
              </a:spcAft>
            </a:pPr>
            <a:r>
              <a:rPr sz="1250" b="0">
                <a:solidFill>
                  <a:srgbClr val="212121"/>
                </a:solidFill>
                <a:latin typeface="Calibri"/>
              </a:rPr>
              <a:t>Title and abstract are settled and the introduction is drafted.</a:t>
            </a:r>
          </a:p>
          <a:p>
            <a:pPr algn="l">
              <a:spcAft>
                <a:spcPts val="500"/>
              </a:spcAft>
            </a:pPr>
            <a:r>
              <a:rPr sz="1250" b="0">
                <a:solidFill>
                  <a:srgbClr val="212121"/>
                </a:solidFill>
                <a:latin typeface="Calibri"/>
              </a:rPr>
              <a:t>Remaining: results and discussion sections, and Fig. 6 once L = 16 lands.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