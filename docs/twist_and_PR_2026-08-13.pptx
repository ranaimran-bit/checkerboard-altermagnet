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the supervisor asked for: check the open-shell trial state is not producing the result, and do the Huang local-versus-long-range decomposition. Both done.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full twist averaging: a continuous theta grid needs complex hoppings, and cpqmc.py is real-only. That is a one-to-two week rewrite. This four-point version removes the worst artefacts without touching the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detail: at U = 2, delta = 0.2 the sign actually flips under averaging, from +0.014 to -0.011, moving the crossing from 0.15 to 0.25 at weak coupling. Everywhere else the crossing location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sum rule. It is an exact internal check: the R-resolved code must reproduce the old routine when the bins are added back, and it does to every digit.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resolves the apparent disagreement with White completely, and it is a stronger statement than the q=0 result: the handover is in the piece that actually matters for ordering.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(c) shows V(R) decaying into the noise past R about 3.5 in every channel. That is the honest limit on any ordering claim - short-range correlations, no long-range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limitation. Huang reach the same conclusion for t-t'-U: no tendency for the correlations to grow with system size. Saying it first makes the positive claims credible.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doped twist check is the obvious next validation - the channel swap is claimed to be a half-filling effect, and the twist test so far only covers half filling.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502920" y="2011680"/>
            <a:ext cx="11185855" cy="822960"/>
          </a:xfrm>
          <a:prstGeom prst="rect">
            <a:avLst/>
          </a:prstGeom>
          <a:noFill/>
        </p:spPr>
        <p:txBody>
          <a:bodyPr wrap="square" lIns="0" rIns="0" tIns="0" bIns="0">
            <a:spAutoFit/>
          </a:bodyPr>
          <a:lstStyle/>
          <a:p>
            <a:pPr algn="l"/>
            <a:r>
              <a:rPr sz="4000" b="1" i="0">
                <a:solidFill>
                  <a:srgbClr val="FFFFFF"/>
                </a:solidFill>
                <a:latin typeface="Cambria"/>
              </a:rPr>
              <a:t>Two validation results</a:t>
            </a:r>
          </a:p>
        </p:txBody>
      </p:sp>
      <p:sp>
        <p:nvSpPr>
          <p:cNvPr id="3" name="TextBox 2"/>
          <p:cNvSpPr txBox="1"/>
          <p:nvPr/>
        </p:nvSpPr>
        <p:spPr>
          <a:xfrm>
            <a:off x="502920" y="2834640"/>
            <a:ext cx="11185855" cy="640080"/>
          </a:xfrm>
          <a:prstGeom prst="rect">
            <a:avLst/>
          </a:prstGeom>
          <a:noFill/>
        </p:spPr>
        <p:txBody>
          <a:bodyPr wrap="square" lIns="0" rIns="0" tIns="0" bIns="0">
            <a:spAutoFit/>
          </a:bodyPr>
          <a:lstStyle/>
          <a:p>
            <a:pPr algn="l"/>
            <a:r>
              <a:rPr sz="2400" b="0" i="0">
                <a:solidFill>
                  <a:srgbClr val="CADCFC"/>
                </a:solidFill>
                <a:latin typeface="Cambria"/>
              </a:rPr>
              <a:t>twist-averaged boundary conditions  ·  real-space pairing P(R)</a:t>
            </a:r>
          </a:p>
        </p:txBody>
      </p:sp>
      <p:sp>
        <p:nvSpPr>
          <p:cNvPr id="4" name="TextBox 3"/>
          <p:cNvSpPr txBox="1"/>
          <p:nvPr/>
        </p:nvSpPr>
        <p:spPr>
          <a:xfrm>
            <a:off x="502920" y="3840480"/>
            <a:ext cx="11185855" cy="365760"/>
          </a:xfrm>
          <a:prstGeom prst="rect">
            <a:avLst/>
          </a:prstGeom>
          <a:noFill/>
        </p:spPr>
        <p:txBody>
          <a:bodyPr wrap="square" lIns="0" rIns="0" tIns="0" bIns="0">
            <a:spAutoFit/>
          </a:bodyPr>
          <a:lstStyle/>
          <a:p>
            <a:pPr algn="l"/>
            <a:r>
              <a:rPr sz="1500" b="0" i="0">
                <a:solidFill>
                  <a:srgbClr val="CADCFC"/>
                </a:solidFill>
                <a:latin typeface="Calibri"/>
              </a:rPr>
              <a:t>Checkerboard Hubbard, CPQMC at T = 0, L = 12</a:t>
            </a:r>
          </a:p>
        </p:txBody>
      </p:sp>
      <p:sp>
        <p:nvSpPr>
          <p:cNvPr id="5" name="TextBox 4"/>
          <p:cNvSpPr txBox="1"/>
          <p:nvPr/>
        </p:nvSpPr>
        <p:spPr>
          <a:xfrm>
            <a:off x="502920" y="4261104"/>
            <a:ext cx="11185855" cy="320040"/>
          </a:xfrm>
          <a:prstGeom prst="rect">
            <a:avLst/>
          </a:prstGeom>
          <a:noFill/>
        </p:spPr>
        <p:txBody>
          <a:bodyPr wrap="square" lIns="0" rIns="0" tIns="0" bIns="0">
            <a:spAutoFit/>
          </a:bodyPr>
          <a:lstStyle/>
          <a:p>
            <a:pPr algn="l"/>
            <a:r>
              <a:rPr sz="1300" b="0" i="0">
                <a:solidFill>
                  <a:srgbClr val="8FA3D9"/>
                </a:solidFill>
                <a:latin typeface="Calibri"/>
              </a:rPr>
              <a:t>13 August 2026</a:t>
            </a:r>
          </a:p>
        </p:txBody>
      </p:sp>
      <p:sp>
        <p:nvSpPr>
          <p:cNvPr id="6" name="TextBox 5"/>
          <p:cNvSpPr txBox="1"/>
          <p:nvPr/>
        </p:nvSpPr>
        <p:spPr>
          <a:xfrm>
            <a:off x="502920" y="5212080"/>
            <a:ext cx="10515600" cy="457200"/>
          </a:xfrm>
          <a:prstGeom prst="rect">
            <a:avLst/>
          </a:prstGeom>
          <a:noFill/>
        </p:spPr>
        <p:txBody>
          <a:bodyPr wrap="square" lIns="0" rIns="0" tIns="0" bIns="0">
            <a:spAutoFit/>
          </a:bodyPr>
          <a:lstStyle/>
          <a:p>
            <a:pPr algn="l"/>
            <a:r>
              <a:rPr sz="1500" b="0" i="1">
                <a:solidFill>
                  <a:srgbClr val="FFFFFF"/>
                </a:solidFill>
                <a:latin typeface="Calibri"/>
              </a:rPr>
              <a:t>Both were open questions last week. Both are now answered.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Why twist averaging was needed</a:t>
            </a:r>
          </a:p>
        </p:txBody>
      </p:sp>
      <p:sp>
        <p:nvSpPr>
          <p:cNvPr id="3" name="TextBox 2"/>
          <p:cNvSpPr txBox="1"/>
          <p:nvPr/>
        </p:nvSpPr>
        <p:spPr>
          <a:xfrm>
            <a:off x="502920" y="932688"/>
            <a:ext cx="11185855" cy="310896"/>
          </a:xfrm>
          <a:prstGeom prst="rect">
            <a:avLst/>
          </a:prstGeom>
          <a:noFill/>
        </p:spPr>
        <p:txBody>
          <a:bodyPr wrap="square" lIns="0" rIns="0" tIns="0" bIns="0">
            <a:spAutoFit/>
          </a:bodyPr>
          <a:lstStyle/>
          <a:p>
            <a:pPr algn="l"/>
            <a:r>
              <a:rPr sz="1300" b="0" i="1">
                <a:solidFill>
                  <a:srgbClr val="5A6484"/>
                </a:solidFill>
                <a:latin typeface="Calibri"/>
              </a:rPr>
              <a:t>under periodic boundaries every filling at L = 12 is open shell</a:t>
            </a:r>
          </a:p>
        </p:txBody>
      </p:sp>
      <p:sp>
        <p:nvSpPr>
          <p:cNvPr id="4" name="TextBox 3"/>
          <p:cNvSpPr txBox="1"/>
          <p:nvPr/>
        </p:nvSpPr>
        <p:spPr>
          <a:xfrm>
            <a:off x="502920" y="1463040"/>
            <a:ext cx="11185855" cy="2377440"/>
          </a:xfrm>
          <a:prstGeom prst="rect">
            <a:avLst/>
          </a:prstGeom>
          <a:noFill/>
        </p:spPr>
        <p:txBody>
          <a:bodyPr wrap="square" lIns="0" rIns="0" tIns="0" bIns="0">
            <a:spAutoFit/>
          </a:bodyPr>
          <a:lstStyle/>
          <a:p>
            <a:pPr>
              <a:spcAft>
                <a:spcPts val="600"/>
              </a:spcAft>
            </a:pPr>
            <a:r>
              <a:rPr sz="1350">
                <a:solidFill>
                  <a:srgbClr val="13182F"/>
                </a:solidFill>
                <a:latin typeface="Calibri"/>
              </a:rPr>
              <a:t>•  A twist is a boundary phase ψ(r + L x̂) = e^{iθx} ψ(r), shifting the k grid from 2πm/L to (2πm + θ)/L. Shell effects come from that discrete grid landing awkwardly on the Fermi surface; averaging over θ fills the zone and washes them out.</a:t>
            </a:r>
          </a:p>
          <a:p>
            <a:pPr>
              <a:spcAft>
                <a:spcPts val="600"/>
              </a:spcAft>
            </a:pPr>
            <a:r>
              <a:rPr sz="1350">
                <a:solidFill>
                  <a:srgbClr val="13182F"/>
                </a:solidFill>
                <a:latin typeface="Calibri"/>
              </a:rPr>
              <a:t>•  Only θ = 0 and π keep the hopping matrix real, which the engine requires — so no rewrite was needed.</a:t>
            </a:r>
          </a:p>
          <a:p>
            <a:pPr>
              <a:spcAft>
                <a:spcPts val="600"/>
              </a:spcAft>
            </a:pPr>
            <a:r>
              <a:rPr sz="1350">
                <a:solidFill>
                  <a:srgbClr val="13182F"/>
                </a:solidFill>
                <a:latin typeface="Calibri"/>
              </a:rPr>
              <a:t>•  The two mixed twists are exactly degenerate by the lattice's x ↔ y symmetry (eigenvalues agree to 1e-14), so three runs with weights 1 : 2 : 1 give the four-point average.</a:t>
            </a:r>
          </a:p>
          <a:p>
            <a:pPr>
              <a:spcAft>
                <a:spcPts val="600"/>
              </a:spcAft>
            </a:pPr>
            <a:r>
              <a:rPr sz="1350">
                <a:solidFill>
                  <a:srgbClr val="13182F"/>
                </a:solidFill>
                <a:latin typeface="Calibri"/>
              </a:rPr>
              <a:t>•  Shell effects are real, not hypothetical: at L = 8, n = 0.781 the extended-s vertex jumps sixteen times its typical step exactly where the shell character flips.</a:t>
            </a:r>
          </a:p>
        </p:txBody>
      </p:sp>
      <p:sp>
        <p:nvSpPr>
          <p:cNvPr id="5" name="Rounded Rectangle 4"/>
          <p:cNvSpPr/>
          <p:nvPr/>
        </p:nvSpPr>
        <p:spPr>
          <a:xfrm>
            <a:off x="502920" y="3977639"/>
            <a:ext cx="5532120" cy="137160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4114800"/>
            <a:ext cx="5120640" cy="274320"/>
          </a:xfrm>
          <a:prstGeom prst="rect">
            <a:avLst/>
          </a:prstGeom>
          <a:noFill/>
        </p:spPr>
        <p:txBody>
          <a:bodyPr wrap="square" lIns="0" rIns="0" tIns="0" bIns="0">
            <a:spAutoFit/>
          </a:bodyPr>
          <a:lstStyle/>
          <a:p>
            <a:pPr algn="l"/>
            <a:r>
              <a:rPr sz="1350" b="1" i="0">
                <a:solidFill>
                  <a:srgbClr val="1C7293"/>
                </a:solidFill>
                <a:latin typeface="Calibri"/>
              </a:rPr>
              <a:t>The three runs</a:t>
            </a:r>
          </a:p>
        </p:txBody>
      </p:sp>
      <p:sp>
        <p:nvSpPr>
          <p:cNvPr id="7" name="TextBox 6"/>
          <p:cNvSpPr txBox="1"/>
          <p:nvPr/>
        </p:nvSpPr>
        <p:spPr>
          <a:xfrm>
            <a:off x="722376" y="4434840"/>
            <a:ext cx="5120640" cy="822960"/>
          </a:xfrm>
          <a:prstGeom prst="rect">
            <a:avLst/>
          </a:prstGeom>
          <a:noFill/>
        </p:spPr>
        <p:txBody>
          <a:bodyPr wrap="square" lIns="0" rIns="0" tIns="0" bIns="0">
            <a:spAutoFit/>
          </a:bodyPr>
          <a:lstStyle/>
          <a:p>
            <a:pPr algn="l"/>
            <a:r>
              <a:rPr sz="1250" b="0" i="0">
                <a:solidFill>
                  <a:srgbClr val="13182F"/>
                </a:solidFill>
                <a:latin typeface="Calibri"/>
              </a:rPr>
              <a:t>(+1,+1) periodic, weight 1  —  already had it</a:t>
            </a:r>
          </a:p>
          <a:p>
            <a:pPr algn="l"/>
            <a:r>
              <a:rPr sz="1250" b="0" i="0">
                <a:solidFill>
                  <a:srgbClr val="13182F"/>
                </a:solidFill>
                <a:latin typeface="Calibri"/>
              </a:rPr>
              <a:t>(−1,+1) half twist, weight 2  —  stands for (+1,−1) too</a:t>
            </a:r>
          </a:p>
          <a:p>
            <a:pPr algn="l"/>
            <a:r>
              <a:rPr sz="1250" b="0" i="0">
                <a:solidFill>
                  <a:srgbClr val="13182F"/>
                </a:solidFill>
                <a:latin typeface="Calibri"/>
              </a:rPr>
              <a:t>(−1,−1) both antiperiodic, weight 1</a:t>
            </a:r>
          </a:p>
        </p:txBody>
      </p:sp>
      <p:sp>
        <p:nvSpPr>
          <p:cNvPr id="8" name="Rounded Rectangle 7"/>
          <p:cNvSpPr/>
          <p:nvPr/>
        </p:nvSpPr>
        <p:spPr>
          <a:xfrm>
            <a:off x="6263640" y="3977639"/>
            <a:ext cx="5532120" cy="13716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4114800"/>
            <a:ext cx="5120640" cy="274320"/>
          </a:xfrm>
          <a:prstGeom prst="rect">
            <a:avLst/>
          </a:prstGeom>
          <a:noFill/>
        </p:spPr>
        <p:txBody>
          <a:bodyPr wrap="square" lIns="0" rIns="0" tIns="0" bIns="0">
            <a:spAutoFit/>
          </a:bodyPr>
          <a:lstStyle/>
          <a:p>
            <a:pPr algn="l"/>
            <a:r>
              <a:rPr sz="1350" b="1" i="0">
                <a:solidFill>
                  <a:srgbClr val="C0392B"/>
                </a:solidFill>
                <a:latin typeface="Calibri"/>
              </a:rPr>
              <a:t>Free validation</a:t>
            </a:r>
          </a:p>
        </p:txBody>
      </p:sp>
      <p:sp>
        <p:nvSpPr>
          <p:cNvPr id="10" name="TextBox 9"/>
          <p:cNvSpPr txBox="1"/>
          <p:nvPr/>
        </p:nvSpPr>
        <p:spPr>
          <a:xfrm>
            <a:off x="6483096" y="4434840"/>
            <a:ext cx="5120640" cy="822960"/>
          </a:xfrm>
          <a:prstGeom prst="rect">
            <a:avLst/>
          </a:prstGeom>
          <a:noFill/>
        </p:spPr>
        <p:txBody>
          <a:bodyPr wrap="square" lIns="0" rIns="0" tIns="0" bIns="0">
            <a:spAutoFit/>
          </a:bodyPr>
          <a:lstStyle/>
          <a:p>
            <a:pPr algn="l"/>
            <a:r>
              <a:rPr sz="1250" b="0" i="0">
                <a:solidFill>
                  <a:srgbClr val="13182F"/>
                </a:solidFill>
                <a:latin typeface="Calibri"/>
              </a:rPr>
              <a:t>The U = 0 null test still passes under both twists — max |vertex| = 8.6e-13 and 8.1e-13. Twisted boundaries do not break the full-minus-bubble decomposition.</a:t>
            </a:r>
          </a:p>
        </p:txBody>
      </p:sp>
      <p:sp>
        <p:nvSpPr>
          <p:cNvPr id="11" name="TextBox 10"/>
          <p:cNvSpPr txBox="1"/>
          <p:nvPr/>
        </p:nvSpPr>
        <p:spPr>
          <a:xfrm>
            <a:off x="502920" y="5577840"/>
            <a:ext cx="11185855" cy="640080"/>
          </a:xfrm>
          <a:prstGeom prst="rect">
            <a:avLst/>
          </a:prstGeom>
          <a:noFill/>
        </p:spPr>
        <p:txBody>
          <a:bodyPr wrap="square" lIns="0" rIns="0" tIns="0" bIns="0">
            <a:spAutoFit/>
          </a:bodyPr>
          <a:lstStyle/>
          <a:p>
            <a:pPr algn="l"/>
            <a:r>
              <a:rPr sz="1250" b="0" i="1">
                <a:solidFill>
                  <a:srgbClr val="5A6484"/>
                </a:solidFill>
                <a:latin typeface="Calibri"/>
              </a:rPr>
              <a:t>Scope: L = 12, half filling, U = 2, 4, 6, 8, all eight anisotropies, six seeds. Both twist legs complete.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The channel swap survives at every interaction strength</a:t>
            </a:r>
          </a:p>
        </p:txBody>
      </p:sp>
      <p:sp>
        <p:nvSpPr>
          <p:cNvPr id="3" name="TextBox 2"/>
          <p:cNvSpPr txBox="1"/>
          <p:nvPr/>
        </p:nvSpPr>
        <p:spPr>
          <a:xfrm>
            <a:off x="502920" y="932688"/>
            <a:ext cx="11185855" cy="310896"/>
          </a:xfrm>
          <a:prstGeom prst="rect">
            <a:avLst/>
          </a:prstGeom>
          <a:noFill/>
        </p:spPr>
        <p:txBody>
          <a:bodyPr wrap="square" lIns="0" rIns="0" tIns="0" bIns="0">
            <a:spAutoFit/>
          </a:bodyPr>
          <a:lstStyle/>
          <a:p>
            <a:pPr algn="l"/>
            <a:r>
              <a:rPr sz="1300" b="0" i="1">
                <a:solidFill>
                  <a:srgbClr val="5A6484"/>
                </a:solidFill>
                <a:latin typeface="Calibri"/>
              </a:rPr>
              <a:t>d_xy pairing vertex, periodic against twist-averaged</a:t>
            </a:r>
          </a:p>
        </p:txBody>
      </p:sp>
      <p:pic>
        <p:nvPicPr>
          <p:cNvPr id="4" name="Picture 3" descr="twist.png"/>
          <p:cNvPicPr>
            <a:picLocks noChangeAspect="1"/>
          </p:cNvPicPr>
          <p:nvPr/>
        </p:nvPicPr>
        <p:blipFill>
          <a:blip r:embed="rId2"/>
          <a:stretch>
            <a:fillRect/>
          </a:stretch>
        </p:blipFill>
        <p:spPr>
          <a:xfrm>
            <a:off x="484632" y="1353312"/>
            <a:ext cx="11353046" cy="2743200"/>
          </a:xfrm>
          <a:prstGeom prst="rect">
            <a:avLst/>
          </a:prstGeom>
        </p:spPr>
      </p:pic>
      <p:graphicFrame>
        <p:nvGraphicFramePr>
          <p:cNvPr id="5" name="Table 4"/>
          <p:cNvGraphicFramePr>
            <a:graphicFrameLocks noGrp="1"/>
          </p:cNvGraphicFramePr>
          <p:nvPr/>
        </p:nvGraphicFramePr>
        <p:xfrm>
          <a:off x="502920" y="4572000"/>
          <a:ext cx="4846320" cy="1737360"/>
        </p:xfrm>
        <a:graphic>
          <a:graphicData uri="http://schemas.openxmlformats.org/drawingml/2006/table">
            <a:tbl>
              <a:tblPr firstRow="1" bandRow="1">
                <a:tableStyleId>{5C22544A-7EE6-4342-B048-85BDC9FD1C3A}</a:tableStyleId>
              </a:tblPr>
              <a:tblGrid>
                <a:gridCol w="1005840"/>
                <a:gridCol w="1371600"/>
                <a:gridCol w="1371600"/>
                <a:gridCol w="1097280"/>
              </a:tblGrid>
              <a:tr h="347472">
                <a:tc>
                  <a:txBody>
                    <a:bodyPr/>
                    <a:lstStyle/>
                    <a:p>
                      <a:pPr algn="ctr"/>
                      <a:r>
                        <a:rPr sz="1150" b="1">
                          <a:solidFill>
                            <a:srgbClr val="FFFFFF"/>
                          </a:solidFill>
                          <a:latin typeface="Calibri"/>
                        </a:rPr>
                        <a:t>U</a:t>
                      </a:r>
                    </a:p>
                  </a:txBody>
                  <a:tcPr anchor="ctr" marL="45720" marR="45720">
                    <a:solidFill>
                      <a:srgbClr val="1E2761"/>
                    </a:solidFill>
                  </a:tcPr>
                </a:tc>
                <a:tc>
                  <a:txBody>
                    <a:bodyPr/>
                    <a:lstStyle/>
                    <a:p>
                      <a:pPr algn="ctr"/>
                      <a:r>
                        <a:rPr sz="1150" b="1">
                          <a:solidFill>
                            <a:srgbClr val="FFFFFF"/>
                          </a:solidFill>
                          <a:latin typeface="Calibri"/>
                        </a:rPr>
                        <a:t>crossing δ</a:t>
                      </a:r>
                    </a:p>
                  </a:txBody>
                  <a:tcPr anchor="ctr" marL="45720" marR="45720">
                    <a:solidFill>
                      <a:srgbClr val="1E2761"/>
                    </a:solidFill>
                  </a:tcPr>
                </a:tc>
                <a:tc>
                  <a:txBody>
                    <a:bodyPr/>
                    <a:lstStyle/>
                    <a:p>
                      <a:pPr algn="ctr"/>
                      <a:r>
                        <a:rPr sz="1150" b="1">
                          <a:solidFill>
                            <a:srgbClr val="FFFFFF"/>
                          </a:solidFill>
                          <a:latin typeface="Calibri"/>
                        </a:rPr>
                        <a:t>peak χ/N</a:t>
                      </a:r>
                    </a:p>
                  </a:txBody>
                  <a:tcPr anchor="ctr" marL="45720" marR="45720">
                    <a:solidFill>
                      <a:srgbClr val="1E2761"/>
                    </a:solidFill>
                  </a:tcPr>
                </a:tc>
                <a:tc>
                  <a:txBody>
                    <a:bodyPr/>
                    <a:lstStyle/>
                    <a:p>
                      <a:pPr algn="ctr"/>
                      <a:r>
                        <a:rPr sz="1150" b="1">
                          <a:solidFill>
                            <a:srgbClr val="FFFFFF"/>
                          </a:solidFill>
                          <a:latin typeface="Calibri"/>
                        </a:rPr>
                        <a:t>vs periodic</a:t>
                      </a:r>
                    </a:p>
                  </a:txBody>
                  <a:tcPr anchor="ctr" marL="45720" marR="45720">
                    <a:solidFill>
                      <a:srgbClr val="1E2761"/>
                    </a:solidFill>
                  </a:tcPr>
                </a:tc>
              </a:tr>
              <a:tr h="347472">
                <a:tc>
                  <a:txBody>
                    <a:bodyPr/>
                    <a:lstStyle/>
                    <a:p>
                      <a:pPr algn="ctr"/>
                      <a:r>
                        <a:rPr sz="1150" b="0">
                          <a:solidFill>
                            <a:srgbClr val="13182F"/>
                          </a:solidFill>
                          <a:latin typeface="Calibri"/>
                        </a:rPr>
                        <a:t>2</a:t>
                      </a:r>
                    </a:p>
                  </a:txBody>
                  <a:tcPr anchor="ctr" marL="45720" marR="45720">
                    <a:solidFill>
                      <a:srgbClr val="FFFFFF"/>
                    </a:solidFill>
                  </a:tcPr>
                </a:tc>
                <a:tc>
                  <a:txBody>
                    <a:bodyPr/>
                    <a:lstStyle/>
                    <a:p>
                      <a:pPr algn="ctr"/>
                      <a:r>
                        <a:rPr sz="1150" b="0">
                          <a:solidFill>
                            <a:srgbClr val="13182F"/>
                          </a:solidFill>
                          <a:latin typeface="Calibri"/>
                        </a:rPr>
                        <a:t>0.3</a:t>
                      </a:r>
                    </a:p>
                  </a:txBody>
                  <a:tcPr anchor="ctr" marL="45720" marR="45720">
                    <a:solidFill>
                      <a:srgbClr val="FFFFFF"/>
                    </a:solidFill>
                  </a:tcPr>
                </a:tc>
                <a:tc>
                  <a:txBody>
                    <a:bodyPr/>
                    <a:lstStyle/>
                    <a:p>
                      <a:pPr algn="ctr"/>
                      <a:r>
                        <a:rPr sz="1150" b="0">
                          <a:solidFill>
                            <a:srgbClr val="13182F"/>
                          </a:solidFill>
                          <a:latin typeface="Calibri"/>
                        </a:rPr>
                        <a:t>+0.0200</a:t>
                      </a:r>
                    </a:p>
                  </a:txBody>
                  <a:tcPr anchor="ctr" marL="45720" marR="45720">
                    <a:solidFill>
                      <a:srgbClr val="FFFFFF"/>
                    </a:solidFill>
                  </a:tcPr>
                </a:tc>
                <a:tc>
                  <a:txBody>
                    <a:bodyPr/>
                    <a:lstStyle/>
                    <a:p>
                      <a:pPr algn="ctr"/>
                      <a:r>
                        <a:rPr sz="1150" b="0">
                          <a:solidFill>
                            <a:srgbClr val="8A6D1F"/>
                          </a:solidFill>
                          <a:latin typeface="Calibri"/>
                        </a:rPr>
                        <a:t>−21%</a:t>
                      </a:r>
                    </a:p>
                  </a:txBody>
                  <a:tcPr anchor="ctr" marL="45720" marR="45720">
                    <a:solidFill>
                      <a:srgbClr val="FFFFFF"/>
                    </a:solidFill>
                  </a:tcPr>
                </a:tc>
              </a:tr>
              <a:tr h="347472">
                <a:tc>
                  <a:txBody>
                    <a:bodyPr/>
                    <a:lstStyle/>
                    <a:p>
                      <a:pPr algn="ctr"/>
                      <a:r>
                        <a:rPr sz="1150" b="0">
                          <a:solidFill>
                            <a:srgbClr val="13182F"/>
                          </a:solidFill>
                          <a:latin typeface="Calibri"/>
                        </a:rPr>
                        <a:t>4</a:t>
                      </a:r>
                    </a:p>
                  </a:txBody>
                  <a:tcPr anchor="ctr" marL="45720" marR="45720">
                    <a:solidFill>
                      <a:srgbClr val="F7F9FD"/>
                    </a:solidFill>
                  </a:tcPr>
                </a:tc>
                <a:tc>
                  <a:txBody>
                    <a:bodyPr/>
                    <a:lstStyle/>
                    <a:p>
                      <a:pPr algn="ctr"/>
                      <a:r>
                        <a:rPr sz="1150" b="0">
                          <a:solidFill>
                            <a:srgbClr val="13182F"/>
                          </a:solidFill>
                          <a:latin typeface="Calibri"/>
                        </a:rPr>
                        <a:t>0.2</a:t>
                      </a:r>
                    </a:p>
                  </a:txBody>
                  <a:tcPr anchor="ctr" marL="45720" marR="45720">
                    <a:solidFill>
                      <a:srgbClr val="F7F9FD"/>
                    </a:solidFill>
                  </a:tcPr>
                </a:tc>
                <a:tc>
                  <a:txBody>
                    <a:bodyPr/>
                    <a:lstStyle/>
                    <a:p>
                      <a:pPr algn="ctr"/>
                      <a:r>
                        <a:rPr sz="1150" b="0">
                          <a:solidFill>
                            <a:srgbClr val="13182F"/>
                          </a:solidFill>
                          <a:latin typeface="Calibri"/>
                        </a:rPr>
                        <a:t>+0.0308</a:t>
                      </a:r>
                    </a:p>
                  </a:txBody>
                  <a:tcPr anchor="ctr" marL="45720" marR="45720">
                    <a:solidFill>
                      <a:srgbClr val="F7F9FD"/>
                    </a:solidFill>
                  </a:tcPr>
                </a:tc>
                <a:tc>
                  <a:txBody>
                    <a:bodyPr/>
                    <a:lstStyle/>
                    <a:p>
                      <a:pPr algn="ctr"/>
                      <a:r>
                        <a:rPr sz="1150" b="0">
                          <a:solidFill>
                            <a:srgbClr val="8A6D1F"/>
                          </a:solidFill>
                          <a:latin typeface="Calibri"/>
                        </a:rPr>
                        <a:t>−21%</a:t>
                      </a:r>
                    </a:p>
                  </a:txBody>
                  <a:tcPr anchor="ctr" marL="45720" marR="45720">
                    <a:solidFill>
                      <a:srgbClr val="F7F9FD"/>
                    </a:solidFill>
                  </a:tcPr>
                </a:tc>
              </a:tr>
              <a:tr h="347472">
                <a:tc>
                  <a:txBody>
                    <a:bodyPr/>
                    <a:lstStyle/>
                    <a:p>
                      <a:pPr algn="ctr"/>
                      <a:r>
                        <a:rPr sz="1150" b="0">
                          <a:solidFill>
                            <a:srgbClr val="13182F"/>
                          </a:solidFill>
                          <a:latin typeface="Calibri"/>
                        </a:rPr>
                        <a:t>6</a:t>
                      </a:r>
                    </a:p>
                  </a:txBody>
                  <a:tcPr anchor="ctr" marL="45720" marR="45720">
                    <a:solidFill>
                      <a:srgbClr val="FFFFFF"/>
                    </a:solidFill>
                  </a:tcPr>
                </a:tc>
                <a:tc>
                  <a:txBody>
                    <a:bodyPr/>
                    <a:lstStyle/>
                    <a:p>
                      <a:pPr algn="ctr"/>
                      <a:r>
                        <a:rPr sz="1150" b="0">
                          <a:solidFill>
                            <a:srgbClr val="13182F"/>
                          </a:solidFill>
                          <a:latin typeface="Calibri"/>
                        </a:rPr>
                        <a:t>0.2</a:t>
                      </a:r>
                    </a:p>
                  </a:txBody>
                  <a:tcPr anchor="ctr" marL="45720" marR="45720">
                    <a:solidFill>
                      <a:srgbClr val="FFFFFF"/>
                    </a:solidFill>
                  </a:tcPr>
                </a:tc>
                <a:tc>
                  <a:txBody>
                    <a:bodyPr/>
                    <a:lstStyle/>
                    <a:p>
                      <a:pPr algn="ctr"/>
                      <a:r>
                        <a:rPr sz="1150" b="0">
                          <a:solidFill>
                            <a:srgbClr val="13182F"/>
                          </a:solidFill>
                          <a:latin typeface="Calibri"/>
                        </a:rPr>
                        <a:t>+0.0304</a:t>
                      </a:r>
                    </a:p>
                  </a:txBody>
                  <a:tcPr anchor="ctr" marL="45720" marR="45720">
                    <a:solidFill>
                      <a:srgbClr val="FFFFFF"/>
                    </a:solidFill>
                  </a:tcPr>
                </a:tc>
                <a:tc>
                  <a:txBody>
                    <a:bodyPr/>
                    <a:lstStyle/>
                    <a:p>
                      <a:pPr algn="ctr"/>
                      <a:r>
                        <a:rPr sz="1150" b="0">
                          <a:solidFill>
                            <a:srgbClr val="8A6D1F"/>
                          </a:solidFill>
                          <a:latin typeface="Calibri"/>
                        </a:rPr>
                        <a:t>−17%</a:t>
                      </a:r>
                    </a:p>
                  </a:txBody>
                  <a:tcPr anchor="ctr" marL="45720" marR="45720">
                    <a:solidFill>
                      <a:srgbClr val="FFFFFF"/>
                    </a:solidFill>
                  </a:tcPr>
                </a:tc>
              </a:tr>
              <a:tr h="347472">
                <a:tc>
                  <a:txBody>
                    <a:bodyPr/>
                    <a:lstStyle/>
                    <a:p>
                      <a:pPr algn="ctr"/>
                      <a:r>
                        <a:rPr sz="1150" b="0">
                          <a:solidFill>
                            <a:srgbClr val="13182F"/>
                          </a:solidFill>
                          <a:latin typeface="Calibri"/>
                        </a:rPr>
                        <a:t>8</a:t>
                      </a:r>
                    </a:p>
                  </a:txBody>
                  <a:tcPr anchor="ctr" marL="45720" marR="45720">
                    <a:solidFill>
                      <a:srgbClr val="F7F9FD"/>
                    </a:solidFill>
                  </a:tcPr>
                </a:tc>
                <a:tc>
                  <a:txBody>
                    <a:bodyPr/>
                    <a:lstStyle/>
                    <a:p>
                      <a:pPr algn="ctr"/>
                      <a:r>
                        <a:rPr sz="1150" b="0">
                          <a:solidFill>
                            <a:srgbClr val="13182F"/>
                          </a:solidFill>
                          <a:latin typeface="Calibri"/>
                        </a:rPr>
                        <a:t>0.2</a:t>
                      </a:r>
                    </a:p>
                  </a:txBody>
                  <a:tcPr anchor="ctr" marL="45720" marR="45720">
                    <a:solidFill>
                      <a:srgbClr val="F7F9FD"/>
                    </a:solidFill>
                  </a:tcPr>
                </a:tc>
                <a:tc>
                  <a:txBody>
                    <a:bodyPr/>
                    <a:lstStyle/>
                    <a:p>
                      <a:pPr algn="ctr"/>
                      <a:r>
                        <a:rPr sz="1150" b="0">
                          <a:solidFill>
                            <a:srgbClr val="13182F"/>
                          </a:solidFill>
                          <a:latin typeface="Calibri"/>
                        </a:rPr>
                        <a:t>+0.0245</a:t>
                      </a:r>
                    </a:p>
                  </a:txBody>
                  <a:tcPr anchor="ctr" marL="45720" marR="45720">
                    <a:solidFill>
                      <a:srgbClr val="F7F9FD"/>
                    </a:solidFill>
                  </a:tcPr>
                </a:tc>
                <a:tc>
                  <a:txBody>
                    <a:bodyPr/>
                    <a:lstStyle/>
                    <a:p>
                      <a:pPr algn="ctr"/>
                      <a:r>
                        <a:rPr sz="1150" b="0">
                          <a:solidFill>
                            <a:srgbClr val="8A6D1F"/>
                          </a:solidFill>
                          <a:latin typeface="Calibri"/>
                        </a:rPr>
                        <a:t>−17%</a:t>
                      </a:r>
                    </a:p>
                  </a:txBody>
                  <a:tcPr anchor="ctr" marL="45720" marR="45720">
                    <a:solidFill>
                      <a:srgbClr val="F7F9FD"/>
                    </a:solidFill>
                  </a:tcPr>
                </a:tc>
              </a:tr>
            </a:tbl>
          </a:graphicData>
        </a:graphic>
      </p:graphicFrame>
      <p:sp>
        <p:nvSpPr>
          <p:cNvPr id="6" name="Rounded Rectangle 5"/>
          <p:cNvSpPr/>
          <p:nvPr/>
        </p:nvSpPr>
        <p:spPr>
          <a:xfrm>
            <a:off x="5852160" y="4572000"/>
            <a:ext cx="5833872" cy="173736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071616" y="4700016"/>
            <a:ext cx="5394960" cy="274320"/>
          </a:xfrm>
          <a:prstGeom prst="rect">
            <a:avLst/>
          </a:prstGeom>
          <a:noFill/>
        </p:spPr>
        <p:txBody>
          <a:bodyPr wrap="square" lIns="0" rIns="0" tIns="0" bIns="0">
            <a:spAutoFit/>
          </a:bodyPr>
          <a:lstStyle/>
          <a:p>
            <a:pPr algn="l"/>
            <a:r>
              <a:rPr sz="1350" b="1" i="0">
                <a:solidFill>
                  <a:srgbClr val="C0392B"/>
                </a:solidFill>
                <a:latin typeface="Calibri"/>
              </a:rPr>
              <a:t>What it confirms, and what it costs</a:t>
            </a:r>
          </a:p>
        </p:txBody>
      </p:sp>
      <p:sp>
        <p:nvSpPr>
          <p:cNvPr id="8" name="TextBox 7"/>
          <p:cNvSpPr txBox="1"/>
          <p:nvPr/>
        </p:nvSpPr>
        <p:spPr>
          <a:xfrm>
            <a:off x="6071616" y="5029200"/>
            <a:ext cx="5394960" cy="1188720"/>
          </a:xfrm>
          <a:prstGeom prst="rect">
            <a:avLst/>
          </a:prstGeom>
          <a:noFill/>
        </p:spPr>
        <p:txBody>
          <a:bodyPr wrap="square" lIns="0" rIns="0" tIns="0" bIns="0">
            <a:spAutoFit/>
          </a:bodyPr>
          <a:lstStyle/>
          <a:p>
            <a:pPr algn="l"/>
            <a:r>
              <a:rPr sz="1250" b="0" i="0">
                <a:solidFill>
                  <a:srgbClr val="13182F"/>
                </a:solidFill>
                <a:latin typeface="Calibri"/>
              </a:rPr>
              <a:t>d_xy is repulsive at δ = 0 and 0.1 and attractive from δ = 0.2 at every U. The open-shell trial state is NOT producing the swap.</a:t>
            </a:r>
          </a:p>
          <a:p>
            <a:pPr algn="l"/>
            <a:r>
              <a:rPr sz="1250" b="0" i="0">
                <a:solidFill>
                  <a:srgbClr val="13182F"/>
                </a:solidFill>
                <a:latin typeface="Calibri"/>
              </a:rPr>
              <a:t>But magnitudes fall 17–21% under averaging, so the periodic numbers were inflated. Quote the twist-averaged values.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Real-space pairing P(R)</a:t>
            </a:r>
          </a:p>
        </p:txBody>
      </p:sp>
      <p:sp>
        <p:nvSpPr>
          <p:cNvPr id="3" name="TextBox 2"/>
          <p:cNvSpPr txBox="1"/>
          <p:nvPr/>
        </p:nvSpPr>
        <p:spPr>
          <a:xfrm>
            <a:off x="502920" y="932688"/>
            <a:ext cx="11185855" cy="310896"/>
          </a:xfrm>
          <a:prstGeom prst="rect">
            <a:avLst/>
          </a:prstGeom>
          <a:noFill/>
        </p:spPr>
        <p:txBody>
          <a:bodyPr wrap="square" lIns="0" rIns="0" tIns="0" bIns="0">
            <a:spAutoFit/>
          </a:bodyPr>
          <a:lstStyle/>
          <a:p>
            <a:pPr algn="l"/>
            <a:r>
              <a:rPr sz="1300" b="0" i="1">
                <a:solidFill>
                  <a:srgbClr val="5A6484"/>
                </a:solidFill>
                <a:latin typeface="Calibri"/>
              </a:rPr>
              <a:t>the decomposition Huang, Lin and Gubernatis use (PRB 64, 205101)</a:t>
            </a:r>
          </a:p>
        </p:txBody>
      </p:sp>
      <p:sp>
        <p:nvSpPr>
          <p:cNvPr id="4" name="Rounded Rectangle 3"/>
          <p:cNvSpPr/>
          <p:nvPr/>
        </p:nvSpPr>
        <p:spPr>
          <a:xfrm>
            <a:off x="502920" y="1417320"/>
            <a:ext cx="11185855" cy="73152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572768"/>
            <a:ext cx="10789920" cy="457200"/>
          </a:xfrm>
          <a:prstGeom prst="rect">
            <a:avLst/>
          </a:prstGeom>
          <a:noFill/>
        </p:spPr>
        <p:txBody>
          <a:bodyPr wrap="square" lIns="0" rIns="0" tIns="0" bIns="0">
            <a:spAutoFit/>
          </a:bodyPr>
          <a:lstStyle/>
          <a:p>
            <a:pPr algn="ctr"/>
            <a:r>
              <a:rPr sz="1700" b="1" i="0">
                <a:solidFill>
                  <a:srgbClr val="1C7293"/>
                </a:solidFill>
                <a:latin typeface="Cambria"/>
              </a:rPr>
              <a:t>V_α(R)  =  P_α(R)  −  P̄_α(R)        local = V(R = 0)        long range = mean V(R &gt; 2)</a:t>
            </a:r>
          </a:p>
        </p:txBody>
      </p:sp>
      <p:sp>
        <p:nvSpPr>
          <p:cNvPr id="6" name="TextBox 5"/>
          <p:cNvSpPr txBox="1"/>
          <p:nvPr/>
        </p:nvSpPr>
        <p:spPr>
          <a:xfrm>
            <a:off x="502920" y="2377440"/>
            <a:ext cx="11185855" cy="2377440"/>
          </a:xfrm>
          <a:prstGeom prst="rect">
            <a:avLst/>
          </a:prstGeom>
          <a:noFill/>
        </p:spPr>
        <p:txBody>
          <a:bodyPr wrap="square" lIns="0" rIns="0" tIns="0" bIns="0">
            <a:spAutoFit/>
          </a:bodyPr>
          <a:lstStyle/>
          <a:p>
            <a:pPr>
              <a:spcAft>
                <a:spcPts val="600"/>
              </a:spcAft>
            </a:pPr>
            <a:r>
              <a:rPr sz="1300">
                <a:solidFill>
                  <a:srgbClr val="13182F"/>
                </a:solidFill>
                <a:latin typeface="Calibri"/>
              </a:rPr>
              <a:t>•  The existing routine sums the pair matrix over ALL site pairs and discards the structure. Keeping that matrix and binning each entry by the separation between the two sites gives P(R) instead.</a:t>
            </a:r>
          </a:p>
          <a:p>
            <a:pPr>
              <a:spcAft>
                <a:spcPts val="600"/>
              </a:spcAft>
            </a:pPr>
            <a:r>
              <a:rPr sz="1300">
                <a:solidFill>
                  <a:srgbClr val="13182F"/>
                </a:solidFill>
                <a:latin typeface="Calibri"/>
              </a:rPr>
              <a:t>•  Summing P(R) back over R must return the original susceptibility. That sum rule is the validation — it reproduces both the full susceptibility and the vertex to 0.00% in every channel and every seed.</a:t>
            </a:r>
          </a:p>
          <a:p>
            <a:pPr>
              <a:spcAft>
                <a:spcPts val="600"/>
              </a:spcAft>
            </a:pPr>
            <a:r>
              <a:rPr sz="1300">
                <a:solidFill>
                  <a:srgbClr val="13182F"/>
                </a:solidFill>
                <a:latin typeface="Calibri"/>
              </a:rPr>
              <a:t>•  The sum rule caught two bugs before any production run: a call to a method that does not exist (guarded by hasattr, so equilibration was silently skipped — 400% error), and a missing per-block reorthogonalisation.</a:t>
            </a:r>
          </a:p>
          <a:p>
            <a:pPr>
              <a:spcAft>
                <a:spcPts val="600"/>
              </a:spcAft>
            </a:pPr>
            <a:r>
              <a:rPr sz="1300">
                <a:solidFill>
                  <a:srgbClr val="13182F"/>
                </a:solidFill>
                <a:latin typeface="Calibri"/>
              </a:rPr>
              <a:t>•  Distances use the minimum-image convention; 27 distinct separations at L = 12.</a:t>
            </a:r>
          </a:p>
        </p:txBody>
      </p:sp>
      <p:sp>
        <p:nvSpPr>
          <p:cNvPr id="7" name="Rounded Rectangle 6"/>
          <p:cNvSpPr/>
          <p:nvPr/>
        </p:nvSpPr>
        <p:spPr>
          <a:xfrm>
            <a:off x="502920" y="4892040"/>
            <a:ext cx="11185855" cy="1371600"/>
          </a:xfrm>
          <a:prstGeom prst="roundRect">
            <a:avLst/>
          </a:prstGeom>
          <a:solidFill>
            <a:srgbClr val="FFF8E6"/>
          </a:solidFill>
          <a:ln w="12700">
            <a:solidFill>
              <a:srgbClr val="EFE0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58952" y="5029200"/>
            <a:ext cx="7315200" cy="274320"/>
          </a:xfrm>
          <a:prstGeom prst="rect">
            <a:avLst/>
          </a:prstGeom>
          <a:noFill/>
        </p:spPr>
        <p:txBody>
          <a:bodyPr wrap="square" lIns="0" rIns="0" tIns="0" bIns="0">
            <a:spAutoFit/>
          </a:bodyPr>
          <a:lstStyle/>
          <a:p>
            <a:pPr algn="l"/>
            <a:r>
              <a:rPr sz="1400" b="1" i="0">
                <a:solidFill>
                  <a:srgbClr val="8A6D1F"/>
                </a:solidFill>
                <a:latin typeface="Calibri"/>
              </a:rPr>
              <a:t>Why this matters for the White comparison</a:t>
            </a:r>
          </a:p>
        </p:txBody>
      </p:sp>
      <p:sp>
        <p:nvSpPr>
          <p:cNvPr id="9" name="TextBox 8"/>
          <p:cNvSpPr txBox="1"/>
          <p:nvPr/>
        </p:nvSpPr>
        <p:spPr>
          <a:xfrm>
            <a:off x="758952" y="5349240"/>
            <a:ext cx="10673791" cy="822960"/>
          </a:xfrm>
          <a:prstGeom prst="rect">
            <a:avLst/>
          </a:prstGeom>
          <a:noFill/>
        </p:spPr>
        <p:txBody>
          <a:bodyPr wrap="square" lIns="0" rIns="0" tIns="0" bIns="0">
            <a:spAutoFit/>
          </a:bodyPr>
          <a:lstStyle/>
          <a:p>
            <a:pPr algn="l"/>
            <a:r>
              <a:rPr sz="1250" b="0" i="0">
                <a:solidFill>
                  <a:srgbClr val="13182F"/>
                </a:solidFill>
                <a:latin typeface="Calibri"/>
              </a:rPr>
              <a:t>Our q = 0 susceptibility adds the local and long-range pieces together. If they favour different channels — which is exactly what Huang finds — then the sum can name the wrong winner. That is the suspected reason our δ = 0 ordering put extended s ahead of d_x²−y², where White has d_x²−y²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Huang's result reproduced — then reversed by anisotropy</a:t>
            </a:r>
          </a:p>
        </p:txBody>
      </p:sp>
      <p:sp>
        <p:nvSpPr>
          <p:cNvPr id="3" name="TextBox 2"/>
          <p:cNvSpPr txBox="1"/>
          <p:nvPr/>
        </p:nvSpPr>
        <p:spPr>
          <a:xfrm>
            <a:off x="502920" y="932688"/>
            <a:ext cx="11185855" cy="310896"/>
          </a:xfrm>
          <a:prstGeom prst="rect">
            <a:avLst/>
          </a:prstGeom>
          <a:noFill/>
        </p:spPr>
        <p:txBody>
          <a:bodyPr wrap="square" lIns="0" rIns="0" tIns="0" bIns="0">
            <a:spAutoFit/>
          </a:bodyPr>
          <a:lstStyle/>
          <a:p>
            <a:pPr algn="l"/>
            <a:r>
              <a:rPr sz="1300" b="0" i="1">
                <a:solidFill>
                  <a:srgbClr val="5A6484"/>
                </a:solidFill>
                <a:latin typeface="Calibri"/>
              </a:rPr>
              <a:t>L = 12, U = 4, half filling</a:t>
            </a:r>
          </a:p>
        </p:txBody>
      </p:sp>
      <p:pic>
        <p:nvPicPr>
          <p:cNvPr id="4" name="Picture 3" descr="prbar.png"/>
          <p:cNvPicPr>
            <a:picLocks noChangeAspect="1"/>
          </p:cNvPicPr>
          <p:nvPr/>
        </p:nvPicPr>
        <p:blipFill>
          <a:blip r:embed="rId2"/>
          <a:stretch>
            <a:fillRect/>
          </a:stretch>
        </p:blipFill>
        <p:spPr>
          <a:xfrm>
            <a:off x="640080" y="1325880"/>
            <a:ext cx="9515475" cy="3383280"/>
          </a:xfrm>
          <a:prstGeom prst="rect">
            <a:avLst/>
          </a:prstGeom>
        </p:spPr>
      </p:pic>
      <p:sp>
        <p:nvSpPr>
          <p:cNvPr id="5" name="Rounded Rectangle 4"/>
          <p:cNvSpPr/>
          <p:nvPr/>
        </p:nvSpPr>
        <p:spPr>
          <a:xfrm>
            <a:off x="502920" y="4892040"/>
            <a:ext cx="5532120" cy="141732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5029200"/>
            <a:ext cx="5120640" cy="274320"/>
          </a:xfrm>
          <a:prstGeom prst="rect">
            <a:avLst/>
          </a:prstGeom>
          <a:noFill/>
        </p:spPr>
        <p:txBody>
          <a:bodyPr wrap="square" lIns="0" rIns="0" tIns="0" bIns="0">
            <a:spAutoFit/>
          </a:bodyPr>
          <a:lstStyle/>
          <a:p>
            <a:pPr algn="l"/>
            <a:r>
              <a:rPr sz="1350" b="1" i="0">
                <a:solidFill>
                  <a:srgbClr val="1C7293"/>
                </a:solidFill>
                <a:latin typeface="Calibri"/>
              </a:rPr>
              <a:t>At δ = 0: exactly Huang's finding</a:t>
            </a:r>
          </a:p>
        </p:txBody>
      </p:sp>
      <p:sp>
        <p:nvSpPr>
          <p:cNvPr id="7" name="TextBox 6"/>
          <p:cNvSpPr txBox="1"/>
          <p:nvPr/>
        </p:nvSpPr>
        <p:spPr>
          <a:xfrm>
            <a:off x="722376" y="5349240"/>
            <a:ext cx="5120640" cy="868680"/>
          </a:xfrm>
          <a:prstGeom prst="rect">
            <a:avLst/>
          </a:prstGeom>
          <a:noFill/>
        </p:spPr>
        <p:txBody>
          <a:bodyPr wrap="square" lIns="0" rIns="0" tIns="0" bIns="0">
            <a:spAutoFit/>
          </a:bodyPr>
          <a:lstStyle/>
          <a:p>
            <a:pPr algn="l"/>
            <a:r>
              <a:rPr sz="1200" b="0" i="0">
                <a:solidFill>
                  <a:srgbClr val="13182F"/>
                </a:solidFill>
                <a:latin typeface="Calibri"/>
              </a:rPr>
              <a:t>LOCAL: extended s (+1.59) beats d_x²−y² (+0.92).</a:t>
            </a:r>
          </a:p>
          <a:p>
            <a:pPr algn="l"/>
            <a:r>
              <a:rPr sz="1200" b="0" i="0">
                <a:solidFill>
                  <a:srgbClr val="13182F"/>
                </a:solidFill>
                <a:latin typeface="Calibri"/>
              </a:rPr>
              <a:t>LONG RANGE: d_x²−y² (+0.080) beats extended s (+0.017) by 4.8×.</a:t>
            </a:r>
          </a:p>
          <a:p>
            <a:pPr algn="l"/>
            <a:r>
              <a:rPr sz="1200" b="0" i="0">
                <a:solidFill>
                  <a:srgbClr val="13182F"/>
                </a:solidFill>
                <a:latin typeface="Calibri"/>
              </a:rPr>
              <a:t>The local piece is ~20× larger, so the q = 0 sum names extended s.</a:t>
            </a:r>
          </a:p>
        </p:txBody>
      </p:sp>
      <p:sp>
        <p:nvSpPr>
          <p:cNvPr id="8" name="Rounded Rectangle 7"/>
          <p:cNvSpPr/>
          <p:nvPr/>
        </p:nvSpPr>
        <p:spPr>
          <a:xfrm>
            <a:off x="6263640" y="4892040"/>
            <a:ext cx="5532120" cy="141732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5029200"/>
            <a:ext cx="5120640" cy="274320"/>
          </a:xfrm>
          <a:prstGeom prst="rect">
            <a:avLst/>
          </a:prstGeom>
          <a:noFill/>
        </p:spPr>
        <p:txBody>
          <a:bodyPr wrap="square" lIns="0" rIns="0" tIns="0" bIns="0">
            <a:spAutoFit/>
          </a:bodyPr>
          <a:lstStyle/>
          <a:p>
            <a:pPr algn="l"/>
            <a:r>
              <a:rPr sz="1350" b="1" i="0">
                <a:solidFill>
                  <a:srgbClr val="C0392B"/>
                </a:solidFill>
                <a:latin typeface="Calibri"/>
              </a:rPr>
              <a:t>At δ = 0.4: d_xy takes over</a:t>
            </a:r>
          </a:p>
        </p:txBody>
      </p:sp>
      <p:sp>
        <p:nvSpPr>
          <p:cNvPr id="10" name="TextBox 9"/>
          <p:cNvSpPr txBox="1"/>
          <p:nvPr/>
        </p:nvSpPr>
        <p:spPr>
          <a:xfrm>
            <a:off x="6483096" y="5349240"/>
            <a:ext cx="5120640" cy="868680"/>
          </a:xfrm>
          <a:prstGeom prst="rect">
            <a:avLst/>
          </a:prstGeom>
          <a:noFill/>
        </p:spPr>
        <p:txBody>
          <a:bodyPr wrap="square" lIns="0" rIns="0" tIns="0" bIns="0">
            <a:spAutoFit/>
          </a:bodyPr>
          <a:lstStyle/>
          <a:p>
            <a:pPr algn="l"/>
            <a:r>
              <a:rPr sz="1200" b="0" i="0">
                <a:solidFill>
                  <a:srgbClr val="13182F"/>
                </a:solidFill>
                <a:latin typeface="Calibri"/>
              </a:rPr>
              <a:t>d_x²−y²'s long-range vertex collapses 0.080 → 0.014, while d_xy goes −0.012 → +0.062 and leads by more than 4×. The handover happens in the long-range channel.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Where each channel dominates, anisotropy by anisotropy</a:t>
            </a:r>
          </a:p>
        </p:txBody>
      </p:sp>
      <p:sp>
        <p:nvSpPr>
          <p:cNvPr id="3" name="TextBox 2"/>
          <p:cNvSpPr txBox="1"/>
          <p:nvPr/>
        </p:nvSpPr>
        <p:spPr>
          <a:xfrm>
            <a:off x="502920" y="932688"/>
            <a:ext cx="11185855" cy="310896"/>
          </a:xfrm>
          <a:prstGeom prst="rect">
            <a:avLst/>
          </a:prstGeom>
          <a:noFill/>
        </p:spPr>
        <p:txBody>
          <a:bodyPr wrap="square" lIns="0" rIns="0" tIns="0" bIns="0">
            <a:spAutoFit/>
          </a:bodyPr>
          <a:lstStyle/>
          <a:p>
            <a:pPr algn="l"/>
            <a:r>
              <a:rPr sz="1300" b="0" i="1">
                <a:solidFill>
                  <a:srgbClr val="5A6484"/>
                </a:solidFill>
                <a:latin typeface="Calibri"/>
              </a:rPr>
              <a:t>long-range vertex V(R &gt; 2), L = 12, U = 4, half filling</a:t>
            </a:r>
          </a:p>
        </p:txBody>
      </p:sp>
      <p:pic>
        <p:nvPicPr>
          <p:cNvPr id="4" name="Picture 3" descr="pr.png"/>
          <p:cNvPicPr>
            <a:picLocks noChangeAspect="1"/>
          </p:cNvPicPr>
          <p:nvPr/>
        </p:nvPicPr>
        <p:blipFill>
          <a:blip r:embed="rId2"/>
          <a:stretch>
            <a:fillRect/>
          </a:stretch>
        </p:blipFill>
        <p:spPr>
          <a:xfrm>
            <a:off x="320040" y="1325880"/>
            <a:ext cx="11521440" cy="3200400"/>
          </a:xfrm>
          <a:prstGeom prst="rect">
            <a:avLst/>
          </a:prstGeom>
        </p:spPr>
      </p:pic>
      <p:graphicFrame>
        <p:nvGraphicFramePr>
          <p:cNvPr id="5" name="Table 4"/>
          <p:cNvGraphicFramePr>
            <a:graphicFrameLocks noGrp="1"/>
          </p:cNvGraphicFramePr>
          <p:nvPr/>
        </p:nvGraphicFramePr>
        <p:xfrm>
          <a:off x="502920" y="4709160"/>
          <a:ext cx="7680960" cy="2048256"/>
        </p:xfrm>
        <a:graphic>
          <a:graphicData uri="http://schemas.openxmlformats.org/drawingml/2006/table">
            <a:tbl>
              <a:tblPr firstRow="1" bandRow="1">
                <a:tableStyleId>{5C22544A-7EE6-4342-B048-85BDC9FD1C3A}</a:tableStyleId>
              </a:tblPr>
              <a:tblGrid>
                <a:gridCol w="731520"/>
                <a:gridCol w="1371600"/>
                <a:gridCol w="1371600"/>
                <a:gridCol w="1280160"/>
                <a:gridCol w="1188720"/>
                <a:gridCol w="1737360"/>
              </a:tblGrid>
              <a:tr h="292608">
                <a:tc>
                  <a:txBody>
                    <a:bodyPr/>
                    <a:lstStyle/>
                    <a:p>
                      <a:pPr algn="ctr"/>
                      <a:r>
                        <a:rPr sz="1100" b="1">
                          <a:solidFill>
                            <a:srgbClr val="FFFFFF"/>
                          </a:solidFill>
                          <a:latin typeface="Calibri"/>
                        </a:rPr>
                        <a:t>δ</a:t>
                      </a:r>
                    </a:p>
                  </a:txBody>
                  <a:tcPr anchor="ctr" marL="45720" marR="45720">
                    <a:solidFill>
                      <a:srgbClr val="1E2761"/>
                    </a:solidFill>
                  </a:tcPr>
                </a:tc>
                <a:tc>
                  <a:txBody>
                    <a:bodyPr/>
                    <a:lstStyle/>
                    <a:p>
                      <a:pPr algn="ctr"/>
                      <a:r>
                        <a:rPr sz="1100" b="1">
                          <a:solidFill>
                            <a:srgbClr val="FFFFFF"/>
                          </a:solidFill>
                          <a:latin typeface="Calibri"/>
                        </a:rPr>
                        <a:t>on-site s</a:t>
                      </a:r>
                    </a:p>
                  </a:txBody>
                  <a:tcPr anchor="ctr" marL="45720" marR="45720">
                    <a:solidFill>
                      <a:srgbClr val="1E2761"/>
                    </a:solidFill>
                  </a:tcPr>
                </a:tc>
                <a:tc>
                  <a:txBody>
                    <a:bodyPr/>
                    <a:lstStyle/>
                    <a:p>
                      <a:pPr algn="ctr"/>
                      <a:r>
                        <a:rPr sz="1100" b="1">
                          <a:solidFill>
                            <a:srgbClr val="FFFFFF"/>
                          </a:solidFill>
                          <a:latin typeface="Calibri"/>
                        </a:rPr>
                        <a:t>extended s</a:t>
                      </a:r>
                    </a:p>
                  </a:txBody>
                  <a:tcPr anchor="ctr" marL="45720" marR="45720">
                    <a:solidFill>
                      <a:srgbClr val="1E2761"/>
                    </a:solidFill>
                  </a:tcPr>
                </a:tc>
                <a:tc>
                  <a:txBody>
                    <a:bodyPr/>
                    <a:lstStyle/>
                    <a:p>
                      <a:pPr algn="ctr"/>
                      <a:r>
                        <a:rPr sz="1100" b="1">
                          <a:solidFill>
                            <a:srgbClr val="FFFFFF"/>
                          </a:solidFill>
                          <a:latin typeface="Calibri"/>
                        </a:rPr>
                        <a:t>d_x²−y²</a:t>
                      </a:r>
                    </a:p>
                  </a:txBody>
                  <a:tcPr anchor="ctr" marL="45720" marR="45720">
                    <a:solidFill>
                      <a:srgbClr val="1E2761"/>
                    </a:solidFill>
                  </a:tcPr>
                </a:tc>
                <a:tc>
                  <a:txBody>
                    <a:bodyPr/>
                    <a:lstStyle/>
                    <a:p>
                      <a:pPr algn="ctr"/>
                      <a:r>
                        <a:rPr sz="1100" b="1">
                          <a:solidFill>
                            <a:srgbClr val="FFFFFF"/>
                          </a:solidFill>
                          <a:latin typeface="Calibri"/>
                        </a:rPr>
                        <a:t>d_xy</a:t>
                      </a:r>
                    </a:p>
                  </a:txBody>
                  <a:tcPr anchor="ctr" marL="45720" marR="45720">
                    <a:solidFill>
                      <a:srgbClr val="1E2761"/>
                    </a:solidFill>
                  </a:tcPr>
                </a:tc>
                <a:tc>
                  <a:txBody>
                    <a:bodyPr/>
                    <a:lstStyle/>
                    <a:p>
                      <a:pPr algn="ctr"/>
                      <a:r>
                        <a:rPr sz="1100" b="1">
                          <a:solidFill>
                            <a:srgbClr val="FFFFFF"/>
                          </a:solidFill>
                          <a:latin typeface="Calibri"/>
                        </a:rPr>
                        <a:t>leader</a:t>
                      </a:r>
                    </a:p>
                  </a:txBody>
                  <a:tcPr anchor="ctr" marL="45720" marR="45720">
                    <a:solidFill>
                      <a:srgbClr val="1E2761"/>
                    </a:solidFill>
                  </a:tcPr>
                </a:tc>
              </a:tr>
              <a:tr h="292608">
                <a:tc>
                  <a:txBody>
                    <a:bodyPr/>
                    <a:lstStyle/>
                    <a:p>
                      <a:pPr algn="ctr"/>
                      <a:r>
                        <a:rPr sz="1100" b="0">
                          <a:solidFill>
                            <a:srgbClr val="13182F"/>
                          </a:solidFill>
                          <a:latin typeface="Calibri"/>
                        </a:rPr>
                        <a:t>0.0</a:t>
                      </a:r>
                    </a:p>
                  </a:txBody>
                  <a:tcPr anchor="ctr" marL="45720" marR="45720">
                    <a:solidFill>
                      <a:srgbClr val="FFFFFF"/>
                    </a:solidFill>
                  </a:tcPr>
                </a:tc>
                <a:tc>
                  <a:txBody>
                    <a:bodyPr/>
                    <a:lstStyle/>
                    <a:p>
                      <a:pPr algn="ctr"/>
                      <a:r>
                        <a:rPr sz="1100" b="0">
                          <a:solidFill>
                            <a:srgbClr val="13182F"/>
                          </a:solidFill>
                          <a:latin typeface="Calibri"/>
                        </a:rPr>
                        <a:t>−0.051</a:t>
                      </a:r>
                    </a:p>
                  </a:txBody>
                  <a:tcPr anchor="ctr" marL="45720" marR="45720">
                    <a:solidFill>
                      <a:srgbClr val="FFFFFF"/>
                    </a:solidFill>
                  </a:tcPr>
                </a:tc>
                <a:tc>
                  <a:txBody>
                    <a:bodyPr/>
                    <a:lstStyle/>
                    <a:p>
                      <a:pPr algn="ctr"/>
                      <a:r>
                        <a:rPr sz="1100" b="0">
                          <a:solidFill>
                            <a:srgbClr val="13182F"/>
                          </a:solidFill>
                          <a:latin typeface="Calibri"/>
                        </a:rPr>
                        <a:t>+0.017</a:t>
                      </a:r>
                    </a:p>
                  </a:txBody>
                  <a:tcPr anchor="ctr" marL="45720" marR="45720">
                    <a:solidFill>
                      <a:srgbClr val="FFFFFF"/>
                    </a:solidFill>
                  </a:tcPr>
                </a:tc>
                <a:tc>
                  <a:txBody>
                    <a:bodyPr/>
                    <a:lstStyle/>
                    <a:p>
                      <a:pPr algn="ctr"/>
                      <a:r>
                        <a:rPr sz="1100" b="1">
                          <a:solidFill>
                            <a:srgbClr val="13182F"/>
                          </a:solidFill>
                          <a:latin typeface="Calibri"/>
                        </a:rPr>
                        <a:t>+0.080</a:t>
                      </a:r>
                    </a:p>
                  </a:txBody>
                  <a:tcPr anchor="ctr" marL="45720" marR="45720">
                    <a:solidFill>
                      <a:srgbClr val="FFFFFF"/>
                    </a:solidFill>
                  </a:tcPr>
                </a:tc>
                <a:tc>
                  <a:txBody>
                    <a:bodyPr/>
                    <a:lstStyle/>
                    <a:p>
                      <a:pPr algn="ctr"/>
                      <a:r>
                        <a:rPr sz="1100" b="0">
                          <a:solidFill>
                            <a:srgbClr val="13182F"/>
                          </a:solidFill>
                          <a:latin typeface="Calibri"/>
                        </a:rPr>
                        <a:t>−0.012</a:t>
                      </a:r>
                    </a:p>
                  </a:txBody>
                  <a:tcPr anchor="ctr" marL="45720" marR="45720">
                    <a:solidFill>
                      <a:srgbClr val="FFFFFF"/>
                    </a:solidFill>
                  </a:tcPr>
                </a:tc>
                <a:tc>
                  <a:txBody>
                    <a:bodyPr/>
                    <a:lstStyle/>
                    <a:p>
                      <a:pPr algn="ctr"/>
                      <a:r>
                        <a:rPr sz="1100" b="1">
                          <a:solidFill>
                            <a:srgbClr val="1C7293"/>
                          </a:solidFill>
                          <a:latin typeface="Calibri"/>
                        </a:rPr>
                        <a:t>d_x²−y²</a:t>
                      </a:r>
                    </a:p>
                  </a:txBody>
                  <a:tcPr anchor="ctr" marL="45720" marR="45720">
                    <a:solidFill>
                      <a:srgbClr val="FFFFFF"/>
                    </a:solidFill>
                  </a:tcPr>
                </a:tc>
              </a:tr>
              <a:tr h="292608">
                <a:tc>
                  <a:txBody>
                    <a:bodyPr/>
                    <a:lstStyle/>
                    <a:p>
                      <a:pPr algn="ctr"/>
                      <a:r>
                        <a:rPr sz="1100" b="0">
                          <a:solidFill>
                            <a:srgbClr val="13182F"/>
                          </a:solidFill>
                          <a:latin typeface="Calibri"/>
                        </a:rPr>
                        <a:t>0.1</a:t>
                      </a:r>
                    </a:p>
                  </a:txBody>
                  <a:tcPr anchor="ctr" marL="45720" marR="45720">
                    <a:solidFill>
                      <a:srgbClr val="F7F9FD"/>
                    </a:solidFill>
                  </a:tcPr>
                </a:tc>
                <a:tc>
                  <a:txBody>
                    <a:bodyPr/>
                    <a:lstStyle/>
                    <a:p>
                      <a:pPr algn="ctr"/>
                      <a:r>
                        <a:rPr sz="1100" b="0">
                          <a:solidFill>
                            <a:srgbClr val="13182F"/>
                          </a:solidFill>
                          <a:latin typeface="Calibri"/>
                        </a:rPr>
                        <a:t>−0.049</a:t>
                      </a:r>
                    </a:p>
                  </a:txBody>
                  <a:tcPr anchor="ctr" marL="45720" marR="45720">
                    <a:solidFill>
                      <a:srgbClr val="F7F9FD"/>
                    </a:solidFill>
                  </a:tcPr>
                </a:tc>
                <a:tc>
                  <a:txBody>
                    <a:bodyPr/>
                    <a:lstStyle/>
                    <a:p>
                      <a:pPr algn="ctr"/>
                      <a:r>
                        <a:rPr sz="1100" b="0">
                          <a:solidFill>
                            <a:srgbClr val="13182F"/>
                          </a:solidFill>
                          <a:latin typeface="Calibri"/>
                        </a:rPr>
                        <a:t>+0.016</a:t>
                      </a:r>
                    </a:p>
                  </a:txBody>
                  <a:tcPr anchor="ctr" marL="45720" marR="45720">
                    <a:solidFill>
                      <a:srgbClr val="F7F9FD"/>
                    </a:solidFill>
                  </a:tcPr>
                </a:tc>
                <a:tc>
                  <a:txBody>
                    <a:bodyPr/>
                    <a:lstStyle/>
                    <a:p>
                      <a:pPr algn="ctr"/>
                      <a:r>
                        <a:rPr sz="1100" b="1">
                          <a:solidFill>
                            <a:srgbClr val="13182F"/>
                          </a:solidFill>
                          <a:latin typeface="Calibri"/>
                        </a:rPr>
                        <a:t>+0.088</a:t>
                      </a:r>
                    </a:p>
                  </a:txBody>
                  <a:tcPr anchor="ctr" marL="45720" marR="45720">
                    <a:solidFill>
                      <a:srgbClr val="F7F9FD"/>
                    </a:solidFill>
                  </a:tcPr>
                </a:tc>
                <a:tc>
                  <a:txBody>
                    <a:bodyPr/>
                    <a:lstStyle/>
                    <a:p>
                      <a:pPr algn="ctr"/>
                      <a:r>
                        <a:rPr sz="1100" b="0">
                          <a:solidFill>
                            <a:srgbClr val="13182F"/>
                          </a:solidFill>
                          <a:latin typeface="Calibri"/>
                        </a:rPr>
                        <a:t>−0.024</a:t>
                      </a:r>
                    </a:p>
                  </a:txBody>
                  <a:tcPr anchor="ctr" marL="45720" marR="45720">
                    <a:solidFill>
                      <a:srgbClr val="F7F9FD"/>
                    </a:solidFill>
                  </a:tcPr>
                </a:tc>
                <a:tc>
                  <a:txBody>
                    <a:bodyPr/>
                    <a:lstStyle/>
                    <a:p>
                      <a:pPr algn="ctr"/>
                      <a:r>
                        <a:rPr sz="1100" b="1">
                          <a:solidFill>
                            <a:srgbClr val="1C7293"/>
                          </a:solidFill>
                          <a:latin typeface="Calibri"/>
                        </a:rPr>
                        <a:t>d_x²−y²</a:t>
                      </a:r>
                    </a:p>
                  </a:txBody>
                  <a:tcPr anchor="ctr" marL="45720" marR="45720">
                    <a:solidFill>
                      <a:srgbClr val="F7F9FD"/>
                    </a:solidFill>
                  </a:tcPr>
                </a:tc>
              </a:tr>
              <a:tr h="292608">
                <a:tc>
                  <a:txBody>
                    <a:bodyPr/>
                    <a:lstStyle/>
                    <a:p>
                      <a:pPr algn="ctr"/>
                      <a:r>
                        <a:rPr sz="1100" b="0">
                          <a:solidFill>
                            <a:srgbClr val="13182F"/>
                          </a:solidFill>
                          <a:latin typeface="Calibri"/>
                        </a:rPr>
                        <a:t>0.2</a:t>
                      </a:r>
                    </a:p>
                  </a:txBody>
                  <a:tcPr anchor="ctr" marL="45720" marR="45720">
                    <a:solidFill>
                      <a:srgbClr val="FFFFFF"/>
                    </a:solidFill>
                  </a:tcPr>
                </a:tc>
                <a:tc>
                  <a:txBody>
                    <a:bodyPr/>
                    <a:lstStyle/>
                    <a:p>
                      <a:pPr algn="ctr"/>
                      <a:r>
                        <a:rPr sz="1100" b="0">
                          <a:solidFill>
                            <a:srgbClr val="13182F"/>
                          </a:solidFill>
                          <a:latin typeface="Calibri"/>
                        </a:rPr>
                        <a:t>−0.048</a:t>
                      </a:r>
                    </a:p>
                  </a:txBody>
                  <a:tcPr anchor="ctr" marL="45720" marR="45720">
                    <a:solidFill>
                      <a:srgbClr val="FFFFFF"/>
                    </a:solidFill>
                  </a:tcPr>
                </a:tc>
                <a:tc>
                  <a:txBody>
                    <a:bodyPr/>
                    <a:lstStyle/>
                    <a:p>
                      <a:pPr algn="ctr"/>
                      <a:r>
                        <a:rPr sz="1100" b="0">
                          <a:solidFill>
                            <a:srgbClr val="13182F"/>
                          </a:solidFill>
                          <a:latin typeface="Calibri"/>
                        </a:rPr>
                        <a:t>+0.012</a:t>
                      </a:r>
                    </a:p>
                  </a:txBody>
                  <a:tcPr anchor="ctr" marL="45720" marR="45720">
                    <a:solidFill>
                      <a:srgbClr val="FFFFFF"/>
                    </a:solidFill>
                  </a:tcPr>
                </a:tc>
                <a:tc>
                  <a:txBody>
                    <a:bodyPr/>
                    <a:lstStyle/>
                    <a:p>
                      <a:pPr algn="ctr"/>
                      <a:r>
                        <a:rPr sz="1100" b="0">
                          <a:solidFill>
                            <a:srgbClr val="13182F"/>
                          </a:solidFill>
                          <a:latin typeface="Calibri"/>
                        </a:rPr>
                        <a:t>+0.022</a:t>
                      </a:r>
                    </a:p>
                  </a:txBody>
                  <a:tcPr anchor="ctr" marL="45720" marR="45720">
                    <a:solidFill>
                      <a:srgbClr val="FFFFFF"/>
                    </a:solidFill>
                  </a:tcPr>
                </a:tc>
                <a:tc>
                  <a:txBody>
                    <a:bodyPr/>
                    <a:lstStyle/>
                    <a:p>
                      <a:pPr algn="ctr"/>
                      <a:r>
                        <a:rPr sz="1100" b="1">
                          <a:solidFill>
                            <a:srgbClr val="13182F"/>
                          </a:solidFill>
                          <a:latin typeface="Calibri"/>
                        </a:rPr>
                        <a:t>+0.048</a:t>
                      </a:r>
                    </a:p>
                  </a:txBody>
                  <a:tcPr anchor="ctr" marL="45720" marR="45720">
                    <a:solidFill>
                      <a:srgbClr val="FFFFFF"/>
                    </a:solidFill>
                  </a:tcPr>
                </a:tc>
                <a:tc>
                  <a:txBody>
                    <a:bodyPr/>
                    <a:lstStyle/>
                    <a:p>
                      <a:pPr algn="ctr"/>
                      <a:r>
                        <a:rPr sz="1100" b="1">
                          <a:solidFill>
                            <a:srgbClr val="C0392B"/>
                          </a:solidFill>
                          <a:latin typeface="Calibri"/>
                        </a:rPr>
                        <a:t>d_xy</a:t>
                      </a:r>
                    </a:p>
                  </a:txBody>
                  <a:tcPr anchor="ctr" marL="45720" marR="45720">
                    <a:solidFill>
                      <a:srgbClr val="FFFFFF"/>
                    </a:solidFill>
                  </a:tcPr>
                </a:tc>
              </a:tr>
              <a:tr h="292608">
                <a:tc>
                  <a:txBody>
                    <a:bodyPr/>
                    <a:lstStyle/>
                    <a:p>
                      <a:pPr algn="ctr"/>
                      <a:r>
                        <a:rPr sz="1100" b="0">
                          <a:solidFill>
                            <a:srgbClr val="13182F"/>
                          </a:solidFill>
                          <a:latin typeface="Calibri"/>
                        </a:rPr>
                        <a:t>0.3</a:t>
                      </a:r>
                    </a:p>
                  </a:txBody>
                  <a:tcPr anchor="ctr" marL="45720" marR="45720">
                    <a:solidFill>
                      <a:srgbClr val="F7F9FD"/>
                    </a:solidFill>
                  </a:tcPr>
                </a:tc>
                <a:tc>
                  <a:txBody>
                    <a:bodyPr/>
                    <a:lstStyle/>
                    <a:p>
                      <a:pPr algn="ctr"/>
                      <a:r>
                        <a:rPr sz="1100" b="0">
                          <a:solidFill>
                            <a:srgbClr val="13182F"/>
                          </a:solidFill>
                          <a:latin typeface="Calibri"/>
                        </a:rPr>
                        <a:t>−0.051</a:t>
                      </a:r>
                    </a:p>
                  </a:txBody>
                  <a:tcPr anchor="ctr" marL="45720" marR="45720">
                    <a:solidFill>
                      <a:srgbClr val="F7F9FD"/>
                    </a:solidFill>
                  </a:tcPr>
                </a:tc>
                <a:tc>
                  <a:txBody>
                    <a:bodyPr/>
                    <a:lstStyle/>
                    <a:p>
                      <a:pPr algn="ctr"/>
                      <a:r>
                        <a:rPr sz="1100" b="0">
                          <a:solidFill>
                            <a:srgbClr val="13182F"/>
                          </a:solidFill>
                          <a:latin typeface="Calibri"/>
                        </a:rPr>
                        <a:t>+0.009</a:t>
                      </a:r>
                    </a:p>
                  </a:txBody>
                  <a:tcPr anchor="ctr" marL="45720" marR="45720">
                    <a:solidFill>
                      <a:srgbClr val="F7F9FD"/>
                    </a:solidFill>
                  </a:tcPr>
                </a:tc>
                <a:tc>
                  <a:txBody>
                    <a:bodyPr/>
                    <a:lstStyle/>
                    <a:p>
                      <a:pPr algn="ctr"/>
                      <a:r>
                        <a:rPr sz="1100" b="0">
                          <a:solidFill>
                            <a:srgbClr val="13182F"/>
                          </a:solidFill>
                          <a:latin typeface="Calibri"/>
                        </a:rPr>
                        <a:t>+0.023</a:t>
                      </a:r>
                    </a:p>
                  </a:txBody>
                  <a:tcPr anchor="ctr" marL="45720" marR="45720">
                    <a:solidFill>
                      <a:srgbClr val="F7F9FD"/>
                    </a:solidFill>
                  </a:tcPr>
                </a:tc>
                <a:tc>
                  <a:txBody>
                    <a:bodyPr/>
                    <a:lstStyle/>
                    <a:p>
                      <a:pPr algn="ctr"/>
                      <a:r>
                        <a:rPr sz="1100" b="1">
                          <a:solidFill>
                            <a:srgbClr val="13182F"/>
                          </a:solidFill>
                          <a:latin typeface="Calibri"/>
                        </a:rPr>
                        <a:t>+0.066</a:t>
                      </a:r>
                    </a:p>
                  </a:txBody>
                  <a:tcPr anchor="ctr" marL="45720" marR="45720">
                    <a:solidFill>
                      <a:srgbClr val="F7F9FD"/>
                    </a:solidFill>
                  </a:tcPr>
                </a:tc>
                <a:tc>
                  <a:txBody>
                    <a:bodyPr/>
                    <a:lstStyle/>
                    <a:p>
                      <a:pPr algn="ctr"/>
                      <a:r>
                        <a:rPr sz="1100" b="1">
                          <a:solidFill>
                            <a:srgbClr val="C0392B"/>
                          </a:solidFill>
                          <a:latin typeface="Calibri"/>
                        </a:rPr>
                        <a:t>d_xy</a:t>
                      </a:r>
                    </a:p>
                  </a:txBody>
                  <a:tcPr anchor="ctr" marL="45720" marR="45720">
                    <a:solidFill>
                      <a:srgbClr val="F7F9FD"/>
                    </a:solidFill>
                  </a:tcPr>
                </a:tc>
              </a:tr>
              <a:tr h="292608">
                <a:tc>
                  <a:txBody>
                    <a:bodyPr/>
                    <a:lstStyle/>
                    <a:p>
                      <a:pPr algn="ctr"/>
                      <a:r>
                        <a:rPr sz="1100" b="0">
                          <a:solidFill>
                            <a:srgbClr val="13182F"/>
                          </a:solidFill>
                          <a:latin typeface="Calibri"/>
                        </a:rPr>
                        <a:t>0.4</a:t>
                      </a:r>
                    </a:p>
                  </a:txBody>
                  <a:tcPr anchor="ctr" marL="45720" marR="45720">
                    <a:solidFill>
                      <a:srgbClr val="FFFFFF"/>
                    </a:solidFill>
                  </a:tcPr>
                </a:tc>
                <a:tc>
                  <a:txBody>
                    <a:bodyPr/>
                    <a:lstStyle/>
                    <a:p>
                      <a:pPr algn="ctr"/>
                      <a:r>
                        <a:rPr sz="1100" b="0">
                          <a:solidFill>
                            <a:srgbClr val="13182F"/>
                          </a:solidFill>
                          <a:latin typeface="Calibri"/>
                        </a:rPr>
                        <a:t>−0.050</a:t>
                      </a:r>
                    </a:p>
                  </a:txBody>
                  <a:tcPr anchor="ctr" marL="45720" marR="45720">
                    <a:solidFill>
                      <a:srgbClr val="FFFFFF"/>
                    </a:solidFill>
                  </a:tcPr>
                </a:tc>
                <a:tc>
                  <a:txBody>
                    <a:bodyPr/>
                    <a:lstStyle/>
                    <a:p>
                      <a:pPr algn="ctr"/>
                      <a:r>
                        <a:rPr sz="1100" b="0">
                          <a:solidFill>
                            <a:srgbClr val="13182F"/>
                          </a:solidFill>
                          <a:latin typeface="Calibri"/>
                        </a:rPr>
                        <a:t>+0.006</a:t>
                      </a:r>
                    </a:p>
                  </a:txBody>
                  <a:tcPr anchor="ctr" marL="45720" marR="45720">
                    <a:solidFill>
                      <a:srgbClr val="FFFFFF"/>
                    </a:solidFill>
                  </a:tcPr>
                </a:tc>
                <a:tc>
                  <a:txBody>
                    <a:bodyPr/>
                    <a:lstStyle/>
                    <a:p>
                      <a:pPr algn="ctr"/>
                      <a:r>
                        <a:rPr sz="1100" b="0">
                          <a:solidFill>
                            <a:srgbClr val="13182F"/>
                          </a:solidFill>
                          <a:latin typeface="Calibri"/>
                        </a:rPr>
                        <a:t>+0.014</a:t>
                      </a:r>
                    </a:p>
                  </a:txBody>
                  <a:tcPr anchor="ctr" marL="45720" marR="45720">
                    <a:solidFill>
                      <a:srgbClr val="FFFFFF"/>
                    </a:solidFill>
                  </a:tcPr>
                </a:tc>
                <a:tc>
                  <a:txBody>
                    <a:bodyPr/>
                    <a:lstStyle/>
                    <a:p>
                      <a:pPr algn="ctr"/>
                      <a:r>
                        <a:rPr sz="1100" b="1">
                          <a:solidFill>
                            <a:srgbClr val="13182F"/>
                          </a:solidFill>
                          <a:latin typeface="Calibri"/>
                        </a:rPr>
                        <a:t>+0.062</a:t>
                      </a:r>
                    </a:p>
                  </a:txBody>
                  <a:tcPr anchor="ctr" marL="45720" marR="45720">
                    <a:solidFill>
                      <a:srgbClr val="FFFFFF"/>
                    </a:solidFill>
                  </a:tcPr>
                </a:tc>
                <a:tc>
                  <a:txBody>
                    <a:bodyPr/>
                    <a:lstStyle/>
                    <a:p>
                      <a:pPr algn="ctr"/>
                      <a:r>
                        <a:rPr sz="1100" b="1">
                          <a:solidFill>
                            <a:srgbClr val="C0392B"/>
                          </a:solidFill>
                          <a:latin typeface="Calibri"/>
                        </a:rPr>
                        <a:t>d_xy</a:t>
                      </a:r>
                    </a:p>
                  </a:txBody>
                  <a:tcPr anchor="ctr" marL="45720" marR="45720">
                    <a:solidFill>
                      <a:srgbClr val="FFFFFF"/>
                    </a:solidFill>
                  </a:tcPr>
                </a:tc>
              </a:tr>
              <a:tr h="292608">
                <a:tc>
                  <a:txBody>
                    <a:bodyPr/>
                    <a:lstStyle/>
                    <a:p>
                      <a:pPr algn="ctr"/>
                      <a:r>
                        <a:rPr sz="1100" b="0">
                          <a:solidFill>
                            <a:srgbClr val="13182F"/>
                          </a:solidFill>
                          <a:latin typeface="Calibri"/>
                        </a:rPr>
                        <a:t>0.7</a:t>
                      </a:r>
                    </a:p>
                  </a:txBody>
                  <a:tcPr anchor="ctr" marL="45720" marR="45720">
                    <a:solidFill>
                      <a:srgbClr val="F7F9FD"/>
                    </a:solidFill>
                  </a:tcPr>
                </a:tc>
                <a:tc>
                  <a:txBody>
                    <a:bodyPr/>
                    <a:lstStyle/>
                    <a:p>
                      <a:pPr algn="ctr"/>
                      <a:r>
                        <a:rPr sz="1100" b="0">
                          <a:solidFill>
                            <a:srgbClr val="13182F"/>
                          </a:solidFill>
                          <a:latin typeface="Calibri"/>
                        </a:rPr>
                        <a:t>−0.051</a:t>
                      </a:r>
                    </a:p>
                  </a:txBody>
                  <a:tcPr anchor="ctr" marL="45720" marR="45720">
                    <a:solidFill>
                      <a:srgbClr val="F7F9FD"/>
                    </a:solidFill>
                  </a:tcPr>
                </a:tc>
                <a:tc>
                  <a:txBody>
                    <a:bodyPr/>
                    <a:lstStyle/>
                    <a:p>
                      <a:pPr algn="ctr"/>
                      <a:r>
                        <a:rPr sz="1100" b="0">
                          <a:solidFill>
                            <a:srgbClr val="13182F"/>
                          </a:solidFill>
                          <a:latin typeface="Calibri"/>
                        </a:rPr>
                        <a:t>+0.005</a:t>
                      </a:r>
                    </a:p>
                  </a:txBody>
                  <a:tcPr anchor="ctr" marL="45720" marR="45720">
                    <a:solidFill>
                      <a:srgbClr val="F7F9FD"/>
                    </a:solidFill>
                  </a:tcPr>
                </a:tc>
                <a:tc>
                  <a:txBody>
                    <a:bodyPr/>
                    <a:lstStyle/>
                    <a:p>
                      <a:pPr algn="ctr"/>
                      <a:r>
                        <a:rPr sz="1100" b="0">
                          <a:solidFill>
                            <a:srgbClr val="13182F"/>
                          </a:solidFill>
                          <a:latin typeface="Calibri"/>
                        </a:rPr>
                        <a:t>+0.010</a:t>
                      </a:r>
                    </a:p>
                  </a:txBody>
                  <a:tcPr anchor="ctr" marL="45720" marR="45720">
                    <a:solidFill>
                      <a:srgbClr val="F7F9FD"/>
                    </a:solidFill>
                  </a:tcPr>
                </a:tc>
                <a:tc>
                  <a:txBody>
                    <a:bodyPr/>
                    <a:lstStyle/>
                    <a:p>
                      <a:pPr algn="ctr"/>
                      <a:r>
                        <a:rPr sz="1100" b="1">
                          <a:solidFill>
                            <a:srgbClr val="13182F"/>
                          </a:solidFill>
                          <a:latin typeface="Calibri"/>
                        </a:rPr>
                        <a:t>+0.025</a:t>
                      </a:r>
                    </a:p>
                  </a:txBody>
                  <a:tcPr anchor="ctr" marL="45720" marR="45720">
                    <a:solidFill>
                      <a:srgbClr val="F7F9FD"/>
                    </a:solidFill>
                  </a:tcPr>
                </a:tc>
                <a:tc>
                  <a:txBody>
                    <a:bodyPr/>
                    <a:lstStyle/>
                    <a:p>
                      <a:pPr algn="ctr"/>
                      <a:r>
                        <a:rPr sz="1100" b="1">
                          <a:solidFill>
                            <a:srgbClr val="C0392B"/>
                          </a:solidFill>
                          <a:latin typeface="Calibri"/>
                        </a:rPr>
                        <a:t>d_xy</a:t>
                      </a:r>
                    </a:p>
                  </a:txBody>
                  <a:tcPr anchor="ctr" marL="45720" marR="45720">
                    <a:solidFill>
                      <a:srgbClr val="F7F9FD"/>
                    </a:solidFill>
                  </a:tcPr>
                </a:tc>
              </a:tr>
            </a:tbl>
          </a:graphicData>
        </a:graphic>
      </p:graphicFrame>
      <p:sp>
        <p:nvSpPr>
          <p:cNvPr id="6" name="Rounded Rectangle 5"/>
          <p:cNvSpPr/>
          <p:nvPr/>
        </p:nvSpPr>
        <p:spPr>
          <a:xfrm>
            <a:off x="8412480" y="4709160"/>
            <a:ext cx="3273552" cy="16002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13648" y="4828032"/>
            <a:ext cx="2880360" cy="274320"/>
          </a:xfrm>
          <a:prstGeom prst="rect">
            <a:avLst/>
          </a:prstGeom>
          <a:noFill/>
        </p:spPr>
        <p:txBody>
          <a:bodyPr wrap="square" lIns="0" rIns="0" tIns="0" bIns="0">
            <a:spAutoFit/>
          </a:bodyPr>
          <a:lstStyle/>
          <a:p>
            <a:pPr algn="l"/>
            <a:r>
              <a:rPr sz="1300" b="1" i="0">
                <a:solidFill>
                  <a:srgbClr val="C0392B"/>
                </a:solidFill>
                <a:latin typeface="Calibri"/>
              </a:rPr>
              <a:t>The handover</a:t>
            </a:r>
          </a:p>
        </p:txBody>
      </p:sp>
      <p:sp>
        <p:nvSpPr>
          <p:cNvPr id="8" name="TextBox 7"/>
          <p:cNvSpPr txBox="1"/>
          <p:nvPr/>
        </p:nvSpPr>
        <p:spPr>
          <a:xfrm>
            <a:off x="8613648" y="5138928"/>
            <a:ext cx="2880360" cy="1097280"/>
          </a:xfrm>
          <a:prstGeom prst="rect">
            <a:avLst/>
          </a:prstGeom>
          <a:noFill/>
        </p:spPr>
        <p:txBody>
          <a:bodyPr wrap="square" lIns="0" rIns="0" tIns="0" bIns="0">
            <a:spAutoFit/>
          </a:bodyPr>
          <a:lstStyle/>
          <a:p>
            <a:pPr algn="l"/>
            <a:r>
              <a:rPr sz="1150" b="0" i="0">
                <a:solidFill>
                  <a:srgbClr val="13182F"/>
                </a:solidFill>
                <a:latin typeface="Calibri"/>
              </a:rPr>
              <a:t>Between δ = 0.1 and 0.2 the long-range attraction moves from d_x²−y² to d_xy — a factor of four collapse in one channel and a sign change in the other.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85855" cy="676656"/>
          </a:xfrm>
          <a:prstGeom prst="rect">
            <a:avLst/>
          </a:prstGeom>
          <a:noFill/>
        </p:spPr>
        <p:txBody>
          <a:bodyPr wrap="square" lIns="0" rIns="0" tIns="0" bIns="0">
            <a:spAutoFit/>
          </a:bodyPr>
          <a:lstStyle/>
          <a:p>
            <a:pPr algn="l"/>
            <a:r>
              <a:rPr sz="3000" b="1" i="0">
                <a:solidFill>
                  <a:srgbClr val="13182F"/>
                </a:solidFill>
                <a:latin typeface="Cambria"/>
              </a:rPr>
              <a:t>What these two results do and do not establish</a:t>
            </a:r>
          </a:p>
        </p:txBody>
      </p:sp>
      <p:sp>
        <p:nvSpPr>
          <p:cNvPr id="3" name="Rounded Rectangle 2"/>
          <p:cNvSpPr/>
          <p:nvPr/>
        </p:nvSpPr>
        <p:spPr>
          <a:xfrm>
            <a:off x="502920" y="1417320"/>
            <a:ext cx="11185855" cy="86868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85800" y="1636776"/>
            <a:ext cx="1691640" cy="402336"/>
          </a:xfrm>
          <a:prstGeom prst="round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50" b="1">
                <a:solidFill>
                  <a:srgbClr val="FFFFFF"/>
                </a:solidFill>
                <a:latin typeface="Calibri"/>
              </a:rPr>
              <a:t>Established</a:t>
            </a:r>
          </a:p>
        </p:txBody>
      </p:sp>
      <p:sp>
        <p:nvSpPr>
          <p:cNvPr id="5" name="TextBox 4"/>
          <p:cNvSpPr txBox="1"/>
          <p:nvPr/>
        </p:nvSpPr>
        <p:spPr>
          <a:xfrm>
            <a:off x="2560320" y="1563624"/>
            <a:ext cx="9326880" cy="640080"/>
          </a:xfrm>
          <a:prstGeom prst="rect">
            <a:avLst/>
          </a:prstGeom>
          <a:noFill/>
        </p:spPr>
        <p:txBody>
          <a:bodyPr wrap="square" lIns="0" rIns="0" tIns="0" bIns="0">
            <a:spAutoFit/>
          </a:bodyPr>
          <a:lstStyle/>
          <a:p>
            <a:pPr algn="l"/>
            <a:r>
              <a:rPr sz="1250" b="0" i="0">
                <a:solidFill>
                  <a:srgbClr val="13182F"/>
                </a:solidFill>
                <a:latin typeface="Calibri"/>
              </a:rPr>
              <a:t>The d_xy channel swap is not an open-shell artefact — it survives twist averaging at U = 2, 4, 6 and 8.</a:t>
            </a:r>
          </a:p>
        </p:txBody>
      </p:sp>
      <p:sp>
        <p:nvSpPr>
          <p:cNvPr id="6" name="Rounded Rectangle 5"/>
          <p:cNvSpPr/>
          <p:nvPr/>
        </p:nvSpPr>
        <p:spPr>
          <a:xfrm>
            <a:off x="502920" y="2377440"/>
            <a:ext cx="11185855" cy="86868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85800" y="2596896"/>
            <a:ext cx="1691640" cy="402336"/>
          </a:xfrm>
          <a:prstGeom prst="round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50" b="1">
                <a:solidFill>
                  <a:srgbClr val="FFFFFF"/>
                </a:solidFill>
                <a:latin typeface="Calibri"/>
              </a:rPr>
              <a:t>Established</a:t>
            </a:r>
          </a:p>
        </p:txBody>
      </p:sp>
      <p:sp>
        <p:nvSpPr>
          <p:cNvPr id="8" name="TextBox 7"/>
          <p:cNvSpPr txBox="1"/>
          <p:nvPr/>
        </p:nvSpPr>
        <p:spPr>
          <a:xfrm>
            <a:off x="2560320" y="2523744"/>
            <a:ext cx="9326880" cy="640080"/>
          </a:xfrm>
          <a:prstGeom prst="rect">
            <a:avLst/>
          </a:prstGeom>
          <a:noFill/>
        </p:spPr>
        <p:txBody>
          <a:bodyPr wrap="square" lIns="0" rIns="0" tIns="0" bIns="0">
            <a:spAutoFit/>
          </a:bodyPr>
          <a:lstStyle/>
          <a:p>
            <a:pPr algn="l"/>
            <a:r>
              <a:rPr sz="1250" b="0" i="0">
                <a:solidFill>
                  <a:srgbClr val="13182F"/>
                </a:solidFill>
                <a:latin typeface="Calibri"/>
              </a:rPr>
              <a:t>At δ = 0 our channel ordering agrees with Huang once local and long-range are separated, which explains the apparent conflict with White.</a:t>
            </a:r>
          </a:p>
        </p:txBody>
      </p:sp>
      <p:sp>
        <p:nvSpPr>
          <p:cNvPr id="9" name="Rounded Rectangle 8"/>
          <p:cNvSpPr/>
          <p:nvPr/>
        </p:nvSpPr>
        <p:spPr>
          <a:xfrm>
            <a:off x="502920" y="3337560"/>
            <a:ext cx="11185855" cy="86868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85800" y="3557016"/>
            <a:ext cx="1691640" cy="402336"/>
          </a:xfrm>
          <a:prstGeom prst="round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50" b="1">
                <a:solidFill>
                  <a:srgbClr val="FFFFFF"/>
                </a:solidFill>
                <a:latin typeface="Calibri"/>
              </a:rPr>
              <a:t>Established</a:t>
            </a:r>
          </a:p>
        </p:txBody>
      </p:sp>
      <p:sp>
        <p:nvSpPr>
          <p:cNvPr id="11" name="TextBox 10"/>
          <p:cNvSpPr txBox="1"/>
          <p:nvPr/>
        </p:nvSpPr>
        <p:spPr>
          <a:xfrm>
            <a:off x="2560320" y="3483864"/>
            <a:ext cx="9326880" cy="640080"/>
          </a:xfrm>
          <a:prstGeom prst="rect">
            <a:avLst/>
          </a:prstGeom>
          <a:noFill/>
        </p:spPr>
        <p:txBody>
          <a:bodyPr wrap="square" lIns="0" rIns="0" tIns="0" bIns="0">
            <a:spAutoFit/>
          </a:bodyPr>
          <a:lstStyle/>
          <a:p>
            <a:pPr algn="l"/>
            <a:r>
              <a:rPr sz="1250" b="0" i="0">
                <a:solidFill>
                  <a:srgbClr val="13182F"/>
                </a:solidFill>
                <a:latin typeface="Calibri"/>
              </a:rPr>
              <a:t>Anisotropy moves the long-range attraction from d_x²−y² to d_xy between δ = 0.1 and 0.2.</a:t>
            </a:r>
          </a:p>
        </p:txBody>
      </p:sp>
      <p:sp>
        <p:nvSpPr>
          <p:cNvPr id="12" name="Rounded Rectangle 11"/>
          <p:cNvSpPr/>
          <p:nvPr/>
        </p:nvSpPr>
        <p:spPr>
          <a:xfrm>
            <a:off x="502920" y="4297680"/>
            <a:ext cx="11185855" cy="86868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85800" y="4517136"/>
            <a:ext cx="1691640" cy="402336"/>
          </a:xfrm>
          <a:prstGeom prst="roundRect">
            <a:avLst/>
          </a:prstGeom>
          <a:solidFill>
            <a:srgbClr val="8A6D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50" b="1">
                <a:solidFill>
                  <a:srgbClr val="FFFFFF"/>
                </a:solidFill>
                <a:latin typeface="Calibri"/>
              </a:rPr>
              <a:t>Revised</a:t>
            </a:r>
          </a:p>
        </p:txBody>
      </p:sp>
      <p:sp>
        <p:nvSpPr>
          <p:cNvPr id="14" name="TextBox 13"/>
          <p:cNvSpPr txBox="1"/>
          <p:nvPr/>
        </p:nvSpPr>
        <p:spPr>
          <a:xfrm>
            <a:off x="2560320" y="4443984"/>
            <a:ext cx="9326880" cy="640080"/>
          </a:xfrm>
          <a:prstGeom prst="rect">
            <a:avLst/>
          </a:prstGeom>
          <a:noFill/>
        </p:spPr>
        <p:txBody>
          <a:bodyPr wrap="square" lIns="0" rIns="0" tIns="0" bIns="0">
            <a:spAutoFit/>
          </a:bodyPr>
          <a:lstStyle/>
          <a:p>
            <a:pPr algn="l"/>
            <a:r>
              <a:rPr sz="1250" b="0" i="0">
                <a:solidFill>
                  <a:srgbClr val="13182F"/>
                </a:solidFill>
                <a:latin typeface="Calibri"/>
              </a:rPr>
              <a:t>Periodic-boundary magnitudes are 17–21% too high. All quoted numbers should come from the twist average.</a:t>
            </a:r>
          </a:p>
        </p:txBody>
      </p:sp>
      <p:sp>
        <p:nvSpPr>
          <p:cNvPr id="15" name="Rounded Rectangle 14"/>
          <p:cNvSpPr/>
          <p:nvPr/>
        </p:nvSpPr>
        <p:spPr>
          <a:xfrm>
            <a:off x="502920" y="5257800"/>
            <a:ext cx="11185855" cy="86868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85800" y="5477256"/>
            <a:ext cx="1691640" cy="402336"/>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50" b="1">
                <a:solidFill>
                  <a:srgbClr val="FFFFFF"/>
                </a:solidFill>
                <a:latin typeface="Calibri"/>
              </a:rPr>
              <a:t>NOT established</a:t>
            </a:r>
          </a:p>
        </p:txBody>
      </p:sp>
      <p:sp>
        <p:nvSpPr>
          <p:cNvPr id="17" name="TextBox 16"/>
          <p:cNvSpPr txBox="1"/>
          <p:nvPr/>
        </p:nvSpPr>
        <p:spPr>
          <a:xfrm>
            <a:off x="2560320" y="5404104"/>
            <a:ext cx="9326880" cy="640080"/>
          </a:xfrm>
          <a:prstGeom prst="rect">
            <a:avLst/>
          </a:prstGeom>
          <a:noFill/>
        </p:spPr>
        <p:txBody>
          <a:bodyPr wrap="square" lIns="0" rIns="0" tIns="0" bIns="0">
            <a:spAutoFit/>
          </a:bodyPr>
          <a:lstStyle/>
          <a:p>
            <a:pPr algn="l"/>
            <a:r>
              <a:rPr sz="1250" b="0" i="0">
                <a:solidFill>
                  <a:srgbClr val="13182F"/>
                </a:solidFill>
                <a:latin typeface="Calibri"/>
              </a:rPr>
              <a:t>Long-range order. V(R) decays into the noise past R ≈ 3.5 in every channel, and χ/N is flat in system size. What we can defend is a change in which channel is attractive — not superconductivity.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502920" y="640080"/>
            <a:ext cx="5486400" cy="731520"/>
          </a:xfrm>
          <a:prstGeom prst="rect">
            <a:avLst/>
          </a:prstGeom>
          <a:noFill/>
        </p:spPr>
        <p:txBody>
          <a:bodyPr wrap="square" lIns="0" rIns="0" tIns="0" bIns="0">
            <a:spAutoFit/>
          </a:bodyPr>
          <a:lstStyle/>
          <a:p>
            <a:pPr algn="l"/>
            <a:r>
              <a:rPr sz="3600" b="1" i="0">
                <a:solidFill>
                  <a:srgbClr val="FFFFFF"/>
                </a:solidFill>
                <a:latin typeface="Cambria"/>
              </a:rPr>
              <a:t>Next</a:t>
            </a:r>
          </a:p>
        </p:txBody>
      </p:sp>
      <p:sp>
        <p:nvSpPr>
          <p:cNvPr id="3" name="Oval 2"/>
          <p:cNvSpPr/>
          <p:nvPr/>
        </p:nvSpPr>
        <p:spPr>
          <a:xfrm>
            <a:off x="502920" y="1737360"/>
            <a:ext cx="384048" cy="384048"/>
          </a:xfrm>
          <a:prstGeom prst="ellipse">
            <a:avLst/>
          </a:prstGeom>
          <a:solidFill>
            <a:srgbClr val="3A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1</a:t>
            </a:r>
          </a:p>
        </p:txBody>
      </p:sp>
      <p:sp>
        <p:nvSpPr>
          <p:cNvPr id="4" name="TextBox 3"/>
          <p:cNvSpPr txBox="1"/>
          <p:nvPr/>
        </p:nvSpPr>
        <p:spPr>
          <a:xfrm>
            <a:off x="1069848" y="1719072"/>
            <a:ext cx="2194560" cy="292608"/>
          </a:xfrm>
          <a:prstGeom prst="rect">
            <a:avLst/>
          </a:prstGeom>
          <a:noFill/>
        </p:spPr>
        <p:txBody>
          <a:bodyPr wrap="square" lIns="0" rIns="0" tIns="0" bIns="0">
            <a:spAutoFit/>
          </a:bodyPr>
          <a:lstStyle/>
          <a:p>
            <a:pPr algn="l"/>
            <a:r>
              <a:rPr sz="1300" b="1" i="0">
                <a:solidFill>
                  <a:srgbClr val="CADCFC"/>
                </a:solidFill>
                <a:latin typeface="Calibri"/>
              </a:rPr>
              <a:t>Running now</a:t>
            </a:r>
          </a:p>
        </p:txBody>
      </p:sp>
      <p:sp>
        <p:nvSpPr>
          <p:cNvPr id="5" name="TextBox 4"/>
          <p:cNvSpPr txBox="1"/>
          <p:nvPr/>
        </p:nvSpPr>
        <p:spPr>
          <a:xfrm>
            <a:off x="3337560" y="1691639"/>
            <a:ext cx="8412480" cy="640080"/>
          </a:xfrm>
          <a:prstGeom prst="rect">
            <a:avLst/>
          </a:prstGeom>
          <a:noFill/>
        </p:spPr>
        <p:txBody>
          <a:bodyPr wrap="square" lIns="0" rIns="0" tIns="0" bIns="0">
            <a:spAutoFit/>
          </a:bodyPr>
          <a:lstStyle/>
          <a:p>
            <a:pPr algn="l"/>
            <a:r>
              <a:rPr sz="1350" b="0" i="0">
                <a:solidFill>
                  <a:srgbClr val="FFFFFF"/>
                </a:solidFill>
                <a:latin typeface="Calibri"/>
              </a:rPr>
              <a:t>P(R) queue: 13 of 40 chunks done. U = 4 complete at all fillings and anisotropies; U = 8 in progress.</a:t>
            </a:r>
          </a:p>
        </p:txBody>
      </p:sp>
      <p:sp>
        <p:nvSpPr>
          <p:cNvPr id="6" name="Oval 5"/>
          <p:cNvSpPr/>
          <p:nvPr/>
        </p:nvSpPr>
        <p:spPr>
          <a:xfrm>
            <a:off x="502920" y="2651760"/>
            <a:ext cx="384048" cy="384048"/>
          </a:xfrm>
          <a:prstGeom prst="ellipse">
            <a:avLst/>
          </a:prstGeom>
          <a:solidFill>
            <a:srgbClr val="3A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2</a:t>
            </a:r>
          </a:p>
        </p:txBody>
      </p:sp>
      <p:sp>
        <p:nvSpPr>
          <p:cNvPr id="7" name="TextBox 6"/>
          <p:cNvSpPr txBox="1"/>
          <p:nvPr/>
        </p:nvSpPr>
        <p:spPr>
          <a:xfrm>
            <a:off x="1069848" y="2633472"/>
            <a:ext cx="2194560" cy="292608"/>
          </a:xfrm>
          <a:prstGeom prst="rect">
            <a:avLst/>
          </a:prstGeom>
          <a:noFill/>
        </p:spPr>
        <p:txBody>
          <a:bodyPr wrap="square" lIns="0" rIns="0" tIns="0" bIns="0">
            <a:spAutoFit/>
          </a:bodyPr>
          <a:lstStyle/>
          <a:p>
            <a:pPr algn="l"/>
            <a:r>
              <a:rPr sz="1300" b="1" i="0">
                <a:solidFill>
                  <a:srgbClr val="FFD98A"/>
                </a:solidFill>
                <a:latin typeface="Calibri"/>
              </a:rPr>
              <a:t>Timing</a:t>
            </a:r>
          </a:p>
        </p:txBody>
      </p:sp>
      <p:sp>
        <p:nvSpPr>
          <p:cNvPr id="8" name="TextBox 7"/>
          <p:cNvSpPr txBox="1"/>
          <p:nvPr/>
        </p:nvSpPr>
        <p:spPr>
          <a:xfrm>
            <a:off x="3337560" y="2606040"/>
            <a:ext cx="8412480" cy="640080"/>
          </a:xfrm>
          <a:prstGeom prst="rect">
            <a:avLst/>
          </a:prstGeom>
          <a:noFill/>
        </p:spPr>
        <p:txBody>
          <a:bodyPr wrap="square" lIns="0" rIns="0" tIns="0" bIns="0">
            <a:spAutoFit/>
          </a:bodyPr>
          <a:lstStyle/>
          <a:p>
            <a:pPr algn="l"/>
            <a:r>
              <a:rPr sz="1350" b="0" i="0">
                <a:solidFill>
                  <a:srgbClr val="FFFFFF"/>
                </a:solidFill>
                <a:latin typeface="Calibri"/>
              </a:rPr>
              <a:t>264–521 min per chunk against my 225 estimate — the full set lands Friday evening, not tonight.</a:t>
            </a:r>
          </a:p>
        </p:txBody>
      </p:sp>
      <p:sp>
        <p:nvSpPr>
          <p:cNvPr id="9" name="Oval 8"/>
          <p:cNvSpPr/>
          <p:nvPr/>
        </p:nvSpPr>
        <p:spPr>
          <a:xfrm>
            <a:off x="502920" y="3566160"/>
            <a:ext cx="384048" cy="384048"/>
          </a:xfrm>
          <a:prstGeom prst="ellipse">
            <a:avLst/>
          </a:prstGeom>
          <a:solidFill>
            <a:srgbClr val="3A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3</a:t>
            </a:r>
          </a:p>
        </p:txBody>
      </p:sp>
      <p:sp>
        <p:nvSpPr>
          <p:cNvPr id="10" name="TextBox 9"/>
          <p:cNvSpPr txBox="1"/>
          <p:nvPr/>
        </p:nvSpPr>
        <p:spPr>
          <a:xfrm>
            <a:off x="1069848" y="3547872"/>
            <a:ext cx="2194560" cy="292608"/>
          </a:xfrm>
          <a:prstGeom prst="rect">
            <a:avLst/>
          </a:prstGeom>
          <a:noFill/>
        </p:spPr>
        <p:txBody>
          <a:bodyPr wrap="square" lIns="0" rIns="0" tIns="0" bIns="0">
            <a:spAutoFit/>
          </a:bodyPr>
          <a:lstStyle/>
          <a:p>
            <a:pPr algn="l"/>
            <a:r>
              <a:rPr sz="1300" b="1" i="0">
                <a:solidFill>
                  <a:srgbClr val="CADCFC"/>
                </a:solidFill>
                <a:latin typeface="Calibri"/>
              </a:rPr>
              <a:t>Then</a:t>
            </a:r>
          </a:p>
        </p:txBody>
      </p:sp>
      <p:sp>
        <p:nvSpPr>
          <p:cNvPr id="11" name="TextBox 10"/>
          <p:cNvSpPr txBox="1"/>
          <p:nvPr/>
        </p:nvSpPr>
        <p:spPr>
          <a:xfrm>
            <a:off x="3337560" y="3520440"/>
            <a:ext cx="8412480" cy="640080"/>
          </a:xfrm>
          <a:prstGeom prst="rect">
            <a:avLst/>
          </a:prstGeom>
          <a:noFill/>
        </p:spPr>
        <p:txBody>
          <a:bodyPr wrap="square" lIns="0" rIns="0" tIns="0" bIns="0">
            <a:spAutoFit/>
          </a:bodyPr>
          <a:lstStyle/>
          <a:p>
            <a:pPr algn="l"/>
            <a:r>
              <a:rPr sz="1350" b="0" i="0">
                <a:solidFill>
                  <a:srgbClr val="FFFFFF"/>
                </a:solidFill>
                <a:latin typeface="Calibri"/>
              </a:rPr>
              <a:t>Same local/long-range decomposition at U = 2, 6, 8, and across fillings — does the handover track the filling boundary at n ≈ 0.85?</a:t>
            </a:r>
          </a:p>
        </p:txBody>
      </p:sp>
      <p:sp>
        <p:nvSpPr>
          <p:cNvPr id="12" name="Oval 11"/>
          <p:cNvSpPr/>
          <p:nvPr/>
        </p:nvSpPr>
        <p:spPr>
          <a:xfrm>
            <a:off x="502920" y="4480560"/>
            <a:ext cx="384048" cy="384048"/>
          </a:xfrm>
          <a:prstGeom prst="ellipse">
            <a:avLst/>
          </a:prstGeom>
          <a:solidFill>
            <a:srgbClr val="3A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4</a:t>
            </a:r>
          </a:p>
        </p:txBody>
      </p:sp>
      <p:sp>
        <p:nvSpPr>
          <p:cNvPr id="13" name="TextBox 12"/>
          <p:cNvSpPr txBox="1"/>
          <p:nvPr/>
        </p:nvSpPr>
        <p:spPr>
          <a:xfrm>
            <a:off x="1069848" y="4462272"/>
            <a:ext cx="2194560" cy="292608"/>
          </a:xfrm>
          <a:prstGeom prst="rect">
            <a:avLst/>
          </a:prstGeom>
          <a:noFill/>
        </p:spPr>
        <p:txBody>
          <a:bodyPr wrap="square" lIns="0" rIns="0" tIns="0" bIns="0">
            <a:spAutoFit/>
          </a:bodyPr>
          <a:lstStyle/>
          <a:p>
            <a:pPr algn="l"/>
            <a:r>
              <a:rPr sz="1300" b="1" i="0">
                <a:solidFill>
                  <a:srgbClr val="CADCFC"/>
                </a:solidFill>
                <a:latin typeface="Calibri"/>
              </a:rPr>
              <a:t>Open</a:t>
            </a:r>
          </a:p>
        </p:txBody>
      </p:sp>
      <p:sp>
        <p:nvSpPr>
          <p:cNvPr id="14" name="TextBox 13"/>
          <p:cNvSpPr txBox="1"/>
          <p:nvPr/>
        </p:nvSpPr>
        <p:spPr>
          <a:xfrm>
            <a:off x="3337560" y="4434840"/>
            <a:ext cx="8412480" cy="640080"/>
          </a:xfrm>
          <a:prstGeom prst="rect">
            <a:avLst/>
          </a:prstGeom>
          <a:noFill/>
        </p:spPr>
        <p:txBody>
          <a:bodyPr wrap="square" lIns="0" rIns="0" tIns="0" bIns="0">
            <a:spAutoFit/>
          </a:bodyPr>
          <a:lstStyle/>
          <a:p>
            <a:pPr algn="l"/>
            <a:r>
              <a:rPr sz="1350" b="0" i="0">
                <a:solidFill>
                  <a:srgbClr val="FFFFFF"/>
                </a:solidFill>
                <a:latin typeface="Calibri"/>
              </a:rPr>
              <a:t>Twist averaging is only at half filling. The doped case is untested.</a:t>
            </a:r>
          </a:p>
        </p:txBody>
      </p:sp>
      <p:sp>
        <p:nvSpPr>
          <p:cNvPr id="15" name="Rounded Rectangle 14"/>
          <p:cNvSpPr/>
          <p:nvPr/>
        </p:nvSpPr>
        <p:spPr>
          <a:xfrm>
            <a:off x="502920" y="5486400"/>
            <a:ext cx="11185855" cy="868680"/>
          </a:xfrm>
          <a:prstGeom prst="roundRect">
            <a:avLst/>
          </a:prstGeom>
          <a:solidFill>
            <a:srgbClr val="16204A"/>
          </a:solidFill>
          <a:ln w="12700">
            <a:solidFill>
              <a:srgbClr val="3A4C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8952" y="5614416"/>
            <a:ext cx="10789920" cy="640080"/>
          </a:xfrm>
          <a:prstGeom prst="rect">
            <a:avLst/>
          </a:prstGeom>
          <a:noFill/>
        </p:spPr>
        <p:txBody>
          <a:bodyPr wrap="square" lIns="0" rIns="0" tIns="0" bIns="0">
            <a:spAutoFit/>
          </a:bodyPr>
          <a:lstStyle/>
          <a:p>
            <a:pPr algn="l"/>
            <a:r>
              <a:rPr sz="1250" b="0" i="0">
                <a:solidFill>
                  <a:srgbClr val="CADCFC"/>
                </a:solidFill>
                <a:latin typeface="Calibri"/>
              </a:rPr>
              <a:t>Both figures are reproducible: twist_average.py and checkerboard_pr.py, with the sum-rule test as the correctness check.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