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P(R) cube is now complete: 40 chunks, 155520 rows, U in 0,2,4,6,8 times eight anisotropies times six fillings times six seeds.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 rule is the thing to quote if anyone asks whether the R-resolved code is doing the same calculation as the original driver. It is exact.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 0 is left off this figure because it is roughly twenty times larger than everything else; it has its own panel in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supervisor's question about where each channel actually dominates: extended s locally, d or d_xy at long range.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vertical scale is shared. The U = 8 panel is not empty, it is genuinely small.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 d_xy form factor lives on the plaquette diagonals, and the diagonal correlations that support it are tied to the commensurate structure at half filling. Doping destroys that and the channel goes repulsive.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m(U=0) is finite because free fermions already have spin correlations from Pauli statistics. It is a background, not order.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analogue of their red line is the d_x2-y2 to d_xy boundary. Their Q coordinate said which magnetic ordering vector wins; this difference says which pairing channel wins, and it is a single continuous number for the same reason: only two channels are ever in contention.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Huang result stated as a map rather than a pair of curves: extended s is a local channel and d is a long-range one. Hatched cells are where the top two are within one combined standard error.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502920" y="1965960"/>
            <a:ext cx="11185855" cy="822960"/>
          </a:xfrm>
          <a:prstGeom prst="rect">
            <a:avLst/>
          </a:prstGeom>
          <a:noFill/>
        </p:spPr>
        <p:txBody>
          <a:bodyPr wrap="square" lIns="0" rIns="0" tIns="0" bIns="0">
            <a:spAutoFit/>
          </a:bodyPr>
          <a:lstStyle/>
          <a:p>
            <a:pPr algn="l"/>
            <a:r>
              <a:rPr sz="3800" b="1" i="0">
                <a:solidFill>
                  <a:srgbClr val="FFFFFF"/>
                </a:solidFill>
                <a:latin typeface="Cambria"/>
              </a:rPr>
              <a:t>Real-space pairing and the delta polarisation</a:t>
            </a:r>
          </a:p>
        </p:txBody>
      </p:sp>
      <p:sp>
        <p:nvSpPr>
          <p:cNvPr id="3" name="TextBox 2"/>
          <p:cNvSpPr txBox="1"/>
          <p:nvPr/>
        </p:nvSpPr>
        <p:spPr>
          <a:xfrm>
            <a:off x="502920" y="2880360"/>
            <a:ext cx="11185855" cy="548640"/>
          </a:xfrm>
          <a:prstGeom prst="rect">
            <a:avLst/>
          </a:prstGeom>
          <a:noFill/>
        </p:spPr>
        <p:txBody>
          <a:bodyPr wrap="square" lIns="0" rIns="0" tIns="0" bIns="0">
            <a:spAutoFit/>
          </a:bodyPr>
          <a:lstStyle/>
          <a:p>
            <a:pPr algn="l"/>
            <a:r>
              <a:rPr sz="1900" b="0" i="0">
                <a:solidFill>
                  <a:srgbClr val="CADCFC"/>
                </a:solidFill>
                <a:latin typeface="Cambria"/>
              </a:rPr>
              <a:t>P(R) decomposition at every filling, and pairing against the magnetic polarisation</a:t>
            </a:r>
          </a:p>
        </p:txBody>
      </p:sp>
      <p:sp>
        <p:nvSpPr>
          <p:cNvPr id="4" name="TextBox 3"/>
          <p:cNvSpPr txBox="1"/>
          <p:nvPr/>
        </p:nvSpPr>
        <p:spPr>
          <a:xfrm>
            <a:off x="502920" y="3794760"/>
            <a:ext cx="11185855" cy="365760"/>
          </a:xfrm>
          <a:prstGeom prst="rect">
            <a:avLst/>
          </a:prstGeom>
          <a:noFill/>
        </p:spPr>
        <p:txBody>
          <a:bodyPr wrap="square" lIns="0" rIns="0" tIns="0" bIns="0">
            <a:spAutoFit/>
          </a:bodyPr>
          <a:lstStyle/>
          <a:p>
            <a:pPr algn="l"/>
            <a:r>
              <a:rPr sz="1400" b="0" i="0">
                <a:solidFill>
                  <a:srgbClr val="CADCFC"/>
                </a:solidFill>
                <a:latin typeface="Calibri"/>
              </a:rPr>
              <a:t>Checkerboard Hubbard  ·  CPQMC at T = 0  ·  L = 12, six fillings, five U, eight anisotropies</a:t>
            </a:r>
          </a:p>
        </p:txBody>
      </p:sp>
      <p:sp>
        <p:nvSpPr>
          <p:cNvPr id="5" name="TextBox 4"/>
          <p:cNvSpPr txBox="1"/>
          <p:nvPr/>
        </p:nvSpPr>
        <p:spPr>
          <a:xfrm>
            <a:off x="502920" y="4224528"/>
            <a:ext cx="11185855" cy="320040"/>
          </a:xfrm>
          <a:prstGeom prst="rect">
            <a:avLst/>
          </a:prstGeom>
          <a:noFill/>
        </p:spPr>
        <p:txBody>
          <a:bodyPr wrap="square" lIns="0" rIns="0" tIns="0" bIns="0">
            <a:spAutoFit/>
          </a:bodyPr>
          <a:lstStyle/>
          <a:p>
            <a:pPr algn="l"/>
            <a:r>
              <a:rPr sz="1300" b="0" i="0">
                <a:solidFill>
                  <a:srgbClr val="8FA3D9"/>
                </a:solidFill>
                <a:latin typeface="Calibri"/>
              </a:rPr>
              <a:t>14 August 2026</a:t>
            </a:r>
          </a:p>
        </p:txBody>
      </p:sp>
      <p:sp>
        <p:nvSpPr>
          <p:cNvPr id="6" name="TextBox 5"/>
          <p:cNvSpPr txBox="1"/>
          <p:nvPr/>
        </p:nvSpPr>
        <p:spPr>
          <a:xfrm>
            <a:off x="502920" y="5120640"/>
            <a:ext cx="10607040" cy="548640"/>
          </a:xfrm>
          <a:prstGeom prst="rect">
            <a:avLst/>
          </a:prstGeom>
          <a:noFill/>
        </p:spPr>
        <p:txBody>
          <a:bodyPr wrap="square" lIns="0" rIns="0" tIns="0" bIns="0">
            <a:spAutoFit/>
          </a:bodyPr>
          <a:lstStyle/>
          <a:p>
            <a:pPr algn="l"/>
            <a:r>
              <a:rPr sz="1500" b="0" i="1">
                <a:solidFill>
                  <a:srgbClr val="FFFFFF"/>
                </a:solidFill>
                <a:latin typeface="Calibri"/>
              </a:rPr>
              <a:t>Headline: the d_xy channel wins at long range only at half filling. Doping kills it, and it turns repulsive.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What P(R) measures, and why it was needed</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the q = 0 susceptibility adds local and long-range pairing together, and they disagree</a:t>
            </a:r>
          </a:p>
        </p:txBody>
      </p:sp>
      <p:sp>
        <p:nvSpPr>
          <p:cNvPr id="4" name="TextBox 3"/>
          <p:cNvSpPr txBox="1"/>
          <p:nvPr/>
        </p:nvSpPr>
        <p:spPr>
          <a:xfrm>
            <a:off x="502920" y="1371600"/>
            <a:ext cx="11185855" cy="2286000"/>
          </a:xfrm>
          <a:prstGeom prst="rect">
            <a:avLst/>
          </a:prstGeom>
          <a:noFill/>
        </p:spPr>
        <p:txBody>
          <a:bodyPr wrap="square" lIns="0" rIns="0" tIns="0" bIns="0">
            <a:spAutoFit/>
          </a:bodyPr>
          <a:lstStyle/>
          <a:p>
            <a:pPr>
              <a:spcAft>
                <a:spcPts val="700"/>
              </a:spcAft>
            </a:pPr>
            <a:r>
              <a:rPr sz="1250">
                <a:solidFill>
                  <a:srgbClr val="13182F"/>
                </a:solidFill>
                <a:latin typeface="Calibri"/>
              </a:rPr>
              <a:t>•  The pairing susceptibility sums over ALL site pairs (i, j). Keeping the separation R instead of summing gives P(R), and the vertex v(R) = P(R) - bubble(R).</a:t>
            </a:r>
          </a:p>
          <a:p>
            <a:pPr>
              <a:spcAft>
                <a:spcPts val="700"/>
              </a:spcAft>
            </a:pPr>
            <a:r>
              <a:rPr sz="1250">
                <a:solidFill>
                  <a:srgbClr val="13182F"/>
                </a:solidFill>
                <a:latin typeface="Calibri"/>
              </a:rPr>
              <a:t>•  Huang, Lin and Gubernatis (PRB 64, 205101) showed that extended s wins LOCALLY while d wins at LONG RANGE. A q = 0 sum mixes the two, which is why our earlier numbers put extended s ahead of d and looked like they contradicted White.</a:t>
            </a:r>
          </a:p>
          <a:p>
            <a:pPr>
              <a:spcAft>
                <a:spcPts val="700"/>
              </a:spcAft>
            </a:pPr>
            <a:r>
              <a:rPr sz="1250">
                <a:solidFill>
                  <a:srgbClr val="13182F"/>
                </a:solidFill>
                <a:latin typeface="Calibri"/>
              </a:rPr>
              <a:t>•  The driver stores a SUM over the pairs at each separation, and the multiplicity runs from 144 to 1728, so everything here is divided by the pair count. Without that division the distant shells look artificially large.</a:t>
            </a:r>
          </a:p>
          <a:p>
            <a:pPr>
              <a:spcAft>
                <a:spcPts val="700"/>
              </a:spcAft>
            </a:pPr>
            <a:r>
              <a:rPr sz="1250">
                <a:solidFill>
                  <a:srgbClr val="13182F"/>
                </a:solidFill>
                <a:latin typeface="Calibri"/>
              </a:rPr>
              <a:t>•  Long range means R &gt; 2, following Huang.</a:t>
            </a:r>
          </a:p>
        </p:txBody>
      </p:sp>
      <p:sp>
        <p:nvSpPr>
          <p:cNvPr id="5" name="Rounded Rectangle 4"/>
          <p:cNvSpPr/>
          <p:nvPr/>
        </p:nvSpPr>
        <p:spPr>
          <a:xfrm>
            <a:off x="502920" y="4114800"/>
            <a:ext cx="5532120" cy="137160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4261104"/>
            <a:ext cx="5120640" cy="274320"/>
          </a:xfrm>
          <a:prstGeom prst="rect">
            <a:avLst/>
          </a:prstGeom>
          <a:noFill/>
        </p:spPr>
        <p:txBody>
          <a:bodyPr wrap="square" lIns="0" rIns="0" tIns="0" bIns="0">
            <a:spAutoFit/>
          </a:bodyPr>
          <a:lstStyle/>
          <a:p>
            <a:pPr algn="l"/>
            <a:r>
              <a:rPr sz="1300" b="1" i="0">
                <a:solidFill>
                  <a:srgbClr val="2166AC"/>
                </a:solidFill>
                <a:latin typeface="Calibri"/>
              </a:rPr>
              <a:t>Validation: the sum rule</a:t>
            </a:r>
          </a:p>
        </p:txBody>
      </p:sp>
      <p:sp>
        <p:nvSpPr>
          <p:cNvPr id="7" name="TextBox 6"/>
          <p:cNvSpPr txBox="1"/>
          <p:nvPr/>
        </p:nvSpPr>
        <p:spPr>
          <a:xfrm>
            <a:off x="722376" y="4572000"/>
            <a:ext cx="5120640" cy="822960"/>
          </a:xfrm>
          <a:prstGeom prst="rect">
            <a:avLst/>
          </a:prstGeom>
          <a:noFill/>
        </p:spPr>
        <p:txBody>
          <a:bodyPr wrap="square" lIns="0" rIns="0" tIns="0" bIns="0">
            <a:spAutoFit/>
          </a:bodyPr>
          <a:lstStyle/>
          <a:p>
            <a:pPr algn="l"/>
            <a:r>
              <a:rPr sz="1200" b="0" i="0">
                <a:solidFill>
                  <a:srgbClr val="13182F"/>
                </a:solidFill>
                <a:latin typeface="Calibri"/>
              </a:rPr>
              <a:t>Summing v(R) over all 27 separations must return the original vertex from the q = 0 driver. It does, to 0.00% on all four channels.</a:t>
            </a:r>
          </a:p>
        </p:txBody>
      </p:sp>
      <p:sp>
        <p:nvSpPr>
          <p:cNvPr id="8" name="Rounded Rectangle 7"/>
          <p:cNvSpPr/>
          <p:nvPr/>
        </p:nvSpPr>
        <p:spPr>
          <a:xfrm>
            <a:off x="6263640" y="4114800"/>
            <a:ext cx="5532120" cy="13716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4261104"/>
            <a:ext cx="5120640" cy="274320"/>
          </a:xfrm>
          <a:prstGeom prst="rect">
            <a:avLst/>
          </a:prstGeom>
          <a:noFill/>
        </p:spPr>
        <p:txBody>
          <a:bodyPr wrap="square" lIns="0" rIns="0" tIns="0" bIns="0">
            <a:spAutoFit/>
          </a:bodyPr>
          <a:lstStyle/>
          <a:p>
            <a:pPr algn="l"/>
            <a:r>
              <a:rPr sz="1300" b="1" i="0">
                <a:solidFill>
                  <a:srgbClr val="B2182B"/>
                </a:solidFill>
                <a:latin typeface="Calibri"/>
              </a:rPr>
              <a:t>Scope</a:t>
            </a:r>
          </a:p>
        </p:txBody>
      </p:sp>
      <p:sp>
        <p:nvSpPr>
          <p:cNvPr id="10" name="TextBox 9"/>
          <p:cNvSpPr txBox="1"/>
          <p:nvPr/>
        </p:nvSpPr>
        <p:spPr>
          <a:xfrm>
            <a:off x="6483096" y="4572000"/>
            <a:ext cx="5120640" cy="822960"/>
          </a:xfrm>
          <a:prstGeom prst="rect">
            <a:avLst/>
          </a:prstGeom>
          <a:noFill/>
        </p:spPr>
        <p:txBody>
          <a:bodyPr wrap="square" lIns="0" rIns="0" tIns="0" bIns="0">
            <a:spAutoFit/>
          </a:bodyPr>
          <a:lstStyle/>
          <a:p>
            <a:pPr algn="l"/>
            <a:r>
              <a:rPr sz="1200" b="0" i="0">
                <a:solidFill>
                  <a:srgbClr val="13182F"/>
                </a:solidFill>
                <a:latin typeface="Calibri"/>
              </a:rPr>
              <a:t>L = 12, six fillings, U = 0, 2, 4, 6, 8, eight anisotropies, six seeds. 40 of 40 chunks complete, 155,520 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The vertex resolved by separation</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U = 4, half filling: R = 1 is the bond, R = sqrt(2) the plaquette diagonal that the anisotropy acts on</a:t>
            </a:r>
          </a:p>
        </p:txBody>
      </p:sp>
      <p:pic>
        <p:nvPicPr>
          <p:cNvPr id="4" name="Picture 3" descr="fig_pr_profiles.png"/>
          <p:cNvPicPr>
            <a:picLocks noChangeAspect="1"/>
          </p:cNvPicPr>
          <p:nvPr/>
        </p:nvPicPr>
        <p:blipFill>
          <a:blip r:embed="rId2"/>
          <a:stretch>
            <a:fillRect/>
          </a:stretch>
        </p:blipFill>
        <p:spPr>
          <a:xfrm>
            <a:off x="796575" y="1298448"/>
            <a:ext cx="10598544" cy="3200400"/>
          </a:xfrm>
          <a:prstGeom prst="rect">
            <a:avLst/>
          </a:prstGeom>
        </p:spPr>
      </p:pic>
      <p:sp>
        <p:nvSpPr>
          <p:cNvPr id="5" name="Rounded Rectangle 4"/>
          <p:cNvSpPr/>
          <p:nvPr/>
        </p:nvSpPr>
        <p:spPr>
          <a:xfrm>
            <a:off x="502920" y="4709160"/>
            <a:ext cx="11183112" cy="160020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864608"/>
            <a:ext cx="10789920" cy="274320"/>
          </a:xfrm>
          <a:prstGeom prst="rect">
            <a:avLst/>
          </a:prstGeom>
          <a:noFill/>
        </p:spPr>
        <p:txBody>
          <a:bodyPr wrap="square" lIns="0" rIns="0" tIns="0" bIns="0">
            <a:spAutoFit/>
          </a:bodyPr>
          <a:lstStyle/>
          <a:p>
            <a:pPr algn="l"/>
            <a:r>
              <a:rPr sz="1300" b="1" i="0">
                <a:solidFill>
                  <a:srgbClr val="1E2761"/>
                </a:solidFill>
                <a:latin typeface="Calibri"/>
              </a:rPr>
              <a:t>Reading the panels</a:t>
            </a:r>
          </a:p>
        </p:txBody>
      </p:sp>
      <p:sp>
        <p:nvSpPr>
          <p:cNvPr id="7" name="TextBox 6"/>
          <p:cNvSpPr txBox="1"/>
          <p:nvPr/>
        </p:nvSpPr>
        <p:spPr>
          <a:xfrm>
            <a:off x="731520" y="5193792"/>
            <a:ext cx="10789920" cy="1005840"/>
          </a:xfrm>
          <a:prstGeom prst="rect">
            <a:avLst/>
          </a:prstGeom>
          <a:noFill/>
        </p:spPr>
        <p:txBody>
          <a:bodyPr wrap="square" lIns="0" rIns="0" tIns="0" bIns="0">
            <a:spAutoFit/>
          </a:bodyPr>
          <a:lstStyle/>
          <a:p>
            <a:pPr algn="l"/>
            <a:r>
              <a:rPr sz="1200" b="0" i="0">
                <a:solidFill>
                  <a:srgbClr val="13182F"/>
                </a:solidFill>
                <a:latin typeface="Calibri"/>
              </a:rPr>
              <a:t>At delta = 0 extended s owns the bond and d_x2-y2 carries the tail, exactly the Huang result. Turning on delta lights up a large positive d_xy spike at R = sqrt(2), the diagonal bond the anisotropy strengthens, and d_x2-y2 goes negative there. By delta = 0.4 d_xy leads across the whole shaded long-range region. At delta = 0.7 it is weakening again.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Local and long-range pairing separate cleanly</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U = 4, half filling: the two panels answer different questions</a:t>
            </a:r>
          </a:p>
        </p:txBody>
      </p:sp>
      <p:pic>
        <p:nvPicPr>
          <p:cNvPr id="4" name="Picture 3" descr="fig_pr_local_long.png"/>
          <p:cNvPicPr>
            <a:picLocks noChangeAspect="1"/>
          </p:cNvPicPr>
          <p:nvPr/>
        </p:nvPicPr>
        <p:blipFill>
          <a:blip r:embed="rId2"/>
          <a:stretch>
            <a:fillRect/>
          </a:stretch>
        </p:blipFill>
        <p:spPr>
          <a:xfrm>
            <a:off x="1712094" y="1280160"/>
            <a:ext cx="8767506" cy="3383280"/>
          </a:xfrm>
          <a:prstGeom prst="rect">
            <a:avLst/>
          </a:prstGeom>
        </p:spPr>
      </p:pic>
      <p:sp>
        <p:nvSpPr>
          <p:cNvPr id="5" name="Rounded Rectangle 4"/>
          <p:cNvSpPr/>
          <p:nvPr/>
        </p:nvSpPr>
        <p:spPr>
          <a:xfrm>
            <a:off x="502920" y="4846320"/>
            <a:ext cx="5532120" cy="146304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4992624"/>
            <a:ext cx="5120640" cy="274320"/>
          </a:xfrm>
          <a:prstGeom prst="rect">
            <a:avLst/>
          </a:prstGeom>
          <a:noFill/>
        </p:spPr>
        <p:txBody>
          <a:bodyPr wrap="square" lIns="0" rIns="0" tIns="0" bIns="0">
            <a:spAutoFit/>
          </a:bodyPr>
          <a:lstStyle/>
          <a:p>
            <a:pPr algn="l"/>
            <a:r>
              <a:rPr sz="1300" b="1" i="0">
                <a:solidFill>
                  <a:srgbClr val="2166AC"/>
                </a:solidFill>
                <a:latin typeface="Calibri"/>
              </a:rPr>
              <a:t>Local  v(R = 0)</a:t>
            </a:r>
          </a:p>
        </p:txBody>
      </p:sp>
      <p:sp>
        <p:nvSpPr>
          <p:cNvPr id="7" name="TextBox 6"/>
          <p:cNvSpPr txBox="1"/>
          <p:nvPr/>
        </p:nvSpPr>
        <p:spPr>
          <a:xfrm>
            <a:off x="722376" y="5303520"/>
            <a:ext cx="5120640" cy="914400"/>
          </a:xfrm>
          <a:prstGeom prst="rect">
            <a:avLst/>
          </a:prstGeom>
          <a:noFill/>
        </p:spPr>
        <p:txBody>
          <a:bodyPr wrap="square" lIns="0" rIns="0" tIns="0" bIns="0">
            <a:spAutoFit/>
          </a:bodyPr>
          <a:lstStyle/>
          <a:p>
            <a:pPr algn="l"/>
            <a:r>
              <a:rPr sz="1200" b="0" i="0">
                <a:solidFill>
                  <a:srgbClr val="13182F"/>
                </a:solidFill>
                <a:latin typeface="Calibri"/>
              </a:rPr>
              <a:t>Extended s leads at every delta. d_xy starts repulsive, crosses zero near delta = 0.15 and overtakes d_x2-y2 by delta = 0.3. On-site s is strongly repulsive throughout, as it must be.</a:t>
            </a:r>
          </a:p>
        </p:txBody>
      </p:sp>
      <p:sp>
        <p:nvSpPr>
          <p:cNvPr id="8" name="Rounded Rectangle 7"/>
          <p:cNvSpPr/>
          <p:nvPr/>
        </p:nvSpPr>
        <p:spPr>
          <a:xfrm>
            <a:off x="6263640" y="4846320"/>
            <a:ext cx="5532120" cy="146304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4992624"/>
            <a:ext cx="5120640" cy="274320"/>
          </a:xfrm>
          <a:prstGeom prst="rect">
            <a:avLst/>
          </a:prstGeom>
          <a:noFill/>
        </p:spPr>
        <p:txBody>
          <a:bodyPr wrap="square" lIns="0" rIns="0" tIns="0" bIns="0">
            <a:spAutoFit/>
          </a:bodyPr>
          <a:lstStyle/>
          <a:p>
            <a:pPr algn="l"/>
            <a:r>
              <a:rPr sz="1300" b="1" i="0">
                <a:solidFill>
                  <a:srgbClr val="B2182B"/>
                </a:solidFill>
                <a:latin typeface="Calibri"/>
              </a:rPr>
              <a:t>Long range  R &gt; 2</a:t>
            </a:r>
          </a:p>
        </p:txBody>
      </p:sp>
      <p:sp>
        <p:nvSpPr>
          <p:cNvPr id="10" name="TextBox 9"/>
          <p:cNvSpPr txBox="1"/>
          <p:nvPr/>
        </p:nvSpPr>
        <p:spPr>
          <a:xfrm>
            <a:off x="6483096" y="5303520"/>
            <a:ext cx="5120640" cy="914400"/>
          </a:xfrm>
          <a:prstGeom prst="rect">
            <a:avLst/>
          </a:prstGeom>
          <a:noFill/>
        </p:spPr>
        <p:txBody>
          <a:bodyPr wrap="square" lIns="0" rIns="0" tIns="0" bIns="0">
            <a:spAutoFit/>
          </a:bodyPr>
          <a:lstStyle/>
          <a:p>
            <a:pPr algn="l"/>
            <a:r>
              <a:rPr sz="1200" b="0" i="0">
                <a:solidFill>
                  <a:srgbClr val="13182F"/>
                </a:solidFill>
                <a:latin typeface="Calibri"/>
              </a:rPr>
              <a:t>d_x2-y2 leads at delta = 0 and 0.1, then collapses. d_xy takes over from delta = 0.2, peaks near delta = 0.3 and decays. Extended s is never the long-range winner.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The long-range takeover happens at every interaction strength</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half filling; on-site s omitted because it is strongly repulsive and not a competitor</a:t>
            </a:r>
          </a:p>
        </p:txBody>
      </p:sp>
      <p:pic>
        <p:nvPicPr>
          <p:cNvPr id="4" name="Picture 3" descr="fig_pr_longrange_U.png"/>
          <p:cNvPicPr>
            <a:picLocks noChangeAspect="1"/>
          </p:cNvPicPr>
          <p:nvPr/>
        </p:nvPicPr>
        <p:blipFill>
          <a:blip r:embed="rId2"/>
          <a:stretch>
            <a:fillRect/>
          </a:stretch>
        </p:blipFill>
        <p:spPr>
          <a:xfrm>
            <a:off x="502919" y="1298448"/>
            <a:ext cx="11185855" cy="3144355"/>
          </a:xfrm>
          <a:prstGeom prst="rect">
            <a:avLst/>
          </a:prstGeom>
        </p:spPr>
      </p:pic>
      <p:graphicFrame>
        <p:nvGraphicFramePr>
          <p:cNvPr id="5" name="Table 4"/>
          <p:cNvGraphicFramePr>
            <a:graphicFrameLocks noGrp="1"/>
          </p:cNvGraphicFramePr>
          <p:nvPr/>
        </p:nvGraphicFramePr>
        <p:xfrm>
          <a:off x="502920" y="4709160"/>
          <a:ext cx="6492240" cy="1554480"/>
        </p:xfrm>
        <a:graphic>
          <a:graphicData uri="http://schemas.openxmlformats.org/drawingml/2006/table">
            <a:tbl>
              <a:tblPr firstRow="1" bandRow="1">
                <a:tableStyleId>{5C22544A-7EE6-4342-B048-85BDC9FD1C3A}</a:tableStyleId>
              </a:tblPr>
              <a:tblGrid>
                <a:gridCol w="822960"/>
                <a:gridCol w="2377440"/>
                <a:gridCol w="1920240"/>
                <a:gridCol w="1371600"/>
              </a:tblGrid>
              <a:tr h="310896">
                <a:tc>
                  <a:txBody>
                    <a:bodyPr/>
                    <a:lstStyle/>
                    <a:p>
                      <a:pPr algn="ctr"/>
                      <a:r>
                        <a:rPr sz="1100" b="1">
                          <a:solidFill>
                            <a:srgbClr val="FFFFFF"/>
                          </a:solidFill>
                          <a:latin typeface="Calibri"/>
                        </a:rPr>
                        <a:t>U</a:t>
                      </a:r>
                    </a:p>
                  </a:txBody>
                  <a:tcPr anchor="ctr" marL="45720" marR="45720">
                    <a:solidFill>
                      <a:srgbClr val="1E2761"/>
                    </a:solidFill>
                  </a:tcPr>
                </a:tc>
                <a:tc>
                  <a:txBody>
                    <a:bodyPr/>
                    <a:lstStyle/>
                    <a:p>
                      <a:pPr algn="ctr"/>
                      <a:r>
                        <a:rPr sz="1100" b="1">
                          <a:solidFill>
                            <a:srgbClr val="FFFFFF"/>
                          </a:solidFill>
                          <a:latin typeface="Calibri"/>
                        </a:rPr>
                        <a:t>long-range winner at delta = 0</a:t>
                      </a:r>
                    </a:p>
                  </a:txBody>
                  <a:tcPr anchor="ctr" marL="45720" marR="45720">
                    <a:solidFill>
                      <a:srgbClr val="1E2761"/>
                    </a:solidFill>
                  </a:tcPr>
                </a:tc>
                <a:tc>
                  <a:txBody>
                    <a:bodyPr/>
                    <a:lstStyle/>
                    <a:p>
                      <a:pPr algn="ctr"/>
                      <a:r>
                        <a:rPr sz="1100" b="1">
                          <a:solidFill>
                            <a:srgbClr val="FFFFFF"/>
                          </a:solidFill>
                          <a:latin typeface="Calibri"/>
                        </a:rPr>
                        <a:t>winner by delta = 0.4</a:t>
                      </a:r>
                    </a:p>
                  </a:txBody>
                  <a:tcPr anchor="ctr" marL="45720" marR="45720">
                    <a:solidFill>
                      <a:srgbClr val="1E2761"/>
                    </a:solidFill>
                  </a:tcPr>
                </a:tc>
                <a:tc>
                  <a:txBody>
                    <a:bodyPr/>
                    <a:lstStyle/>
                    <a:p>
                      <a:pPr algn="ctr"/>
                      <a:r>
                        <a:rPr sz="1100" b="1">
                          <a:solidFill>
                            <a:srgbClr val="FFFFFF"/>
                          </a:solidFill>
                          <a:latin typeface="Calibri"/>
                        </a:rPr>
                        <a:t>d_xy crossing</a:t>
                      </a:r>
                    </a:p>
                  </a:txBody>
                  <a:tcPr anchor="ctr" marL="45720" marR="45720">
                    <a:solidFill>
                      <a:srgbClr val="1E2761"/>
                    </a:solidFill>
                  </a:tcPr>
                </a:tc>
              </a:tr>
              <a:tr h="310896">
                <a:tc>
                  <a:txBody>
                    <a:bodyPr/>
                    <a:lstStyle/>
                    <a:p>
                      <a:pPr algn="ctr"/>
                      <a:r>
                        <a:rPr sz="1100" b="0">
                          <a:solidFill>
                            <a:srgbClr val="13182F"/>
                          </a:solidFill>
                          <a:latin typeface="Calibri"/>
                        </a:rPr>
                        <a:t>2</a:t>
                      </a:r>
                    </a:p>
                  </a:txBody>
                  <a:tcPr anchor="ctr" marL="45720" marR="45720">
                    <a:solidFill>
                      <a:srgbClr val="FFFFFF"/>
                    </a:solidFill>
                  </a:tcPr>
                </a:tc>
                <a:tc>
                  <a:txBody>
                    <a:bodyPr/>
                    <a:lstStyle/>
                    <a:p>
                      <a:pPr algn="ctr"/>
                      <a:r>
                        <a:rPr sz="1100" b="0">
                          <a:solidFill>
                            <a:srgbClr val="13182F"/>
                          </a:solidFill>
                          <a:latin typeface="Calibri"/>
                        </a:rPr>
                        <a:t>d_x2-y2</a:t>
                      </a:r>
                    </a:p>
                  </a:txBody>
                  <a:tcPr anchor="ctr" marL="45720" marR="45720">
                    <a:solidFill>
                      <a:srgbClr val="FFFFFF"/>
                    </a:solidFill>
                  </a:tcPr>
                </a:tc>
                <a:tc>
                  <a:txBody>
                    <a:bodyPr/>
                    <a:lstStyle/>
                    <a:p>
                      <a:pPr algn="ctr"/>
                      <a:r>
                        <a:rPr sz="1100" b="1">
                          <a:solidFill>
                            <a:srgbClr val="B2182B"/>
                          </a:solidFill>
                          <a:latin typeface="Calibri"/>
                        </a:rPr>
                        <a:t>d_xy</a:t>
                      </a:r>
                    </a:p>
                  </a:txBody>
                  <a:tcPr anchor="ctr" marL="45720" marR="45720">
                    <a:solidFill>
                      <a:srgbClr val="FFFFFF"/>
                    </a:solidFill>
                  </a:tcPr>
                </a:tc>
                <a:tc>
                  <a:txBody>
                    <a:bodyPr/>
                    <a:lstStyle/>
                    <a:p>
                      <a:pPr algn="ctr"/>
                      <a:r>
                        <a:rPr sz="1100" b="0">
                          <a:solidFill>
                            <a:srgbClr val="13182F"/>
                          </a:solidFill>
                          <a:latin typeface="Calibri"/>
                        </a:rPr>
                        <a:t>0.3</a:t>
                      </a:r>
                    </a:p>
                  </a:txBody>
                  <a:tcPr anchor="ctr" marL="45720" marR="45720">
                    <a:solidFill>
                      <a:srgbClr val="FFFFFF"/>
                    </a:solidFill>
                  </a:tcPr>
                </a:tc>
              </a:tr>
              <a:tr h="310896">
                <a:tc>
                  <a:txBody>
                    <a:bodyPr/>
                    <a:lstStyle/>
                    <a:p>
                      <a:pPr algn="ctr"/>
                      <a:r>
                        <a:rPr sz="1100" b="0">
                          <a:solidFill>
                            <a:srgbClr val="13182F"/>
                          </a:solidFill>
                          <a:latin typeface="Calibri"/>
                        </a:rPr>
                        <a:t>4</a:t>
                      </a:r>
                    </a:p>
                  </a:txBody>
                  <a:tcPr anchor="ctr" marL="45720" marR="45720">
                    <a:solidFill>
                      <a:srgbClr val="F7F9FD"/>
                    </a:solidFill>
                  </a:tcPr>
                </a:tc>
                <a:tc>
                  <a:txBody>
                    <a:bodyPr/>
                    <a:lstStyle/>
                    <a:p>
                      <a:pPr algn="ctr"/>
                      <a:r>
                        <a:rPr sz="1100" b="0">
                          <a:solidFill>
                            <a:srgbClr val="13182F"/>
                          </a:solidFill>
                          <a:latin typeface="Calibri"/>
                        </a:rPr>
                        <a:t>d_x2-y2</a:t>
                      </a:r>
                    </a:p>
                  </a:txBody>
                  <a:tcPr anchor="ctr" marL="45720" marR="45720">
                    <a:solidFill>
                      <a:srgbClr val="F7F9FD"/>
                    </a:solidFill>
                  </a:tcPr>
                </a:tc>
                <a:tc>
                  <a:txBody>
                    <a:bodyPr/>
                    <a:lstStyle/>
                    <a:p>
                      <a:pPr algn="ctr"/>
                      <a:r>
                        <a:rPr sz="1100" b="1">
                          <a:solidFill>
                            <a:srgbClr val="B2182B"/>
                          </a:solidFill>
                          <a:latin typeface="Calibri"/>
                        </a:rPr>
                        <a:t>d_xy</a:t>
                      </a:r>
                    </a:p>
                  </a:txBody>
                  <a:tcPr anchor="ctr" marL="45720" marR="45720">
                    <a:solidFill>
                      <a:srgbClr val="F7F9FD"/>
                    </a:solidFill>
                  </a:tcPr>
                </a:tc>
                <a:tc>
                  <a:txBody>
                    <a:bodyPr/>
                    <a:lstStyle/>
                    <a:p>
                      <a:pPr algn="ctr"/>
                      <a:r>
                        <a:rPr sz="1100" b="0">
                          <a:solidFill>
                            <a:srgbClr val="13182F"/>
                          </a:solidFill>
                          <a:latin typeface="Calibri"/>
                        </a:rPr>
                        <a:t>0.2</a:t>
                      </a:r>
                    </a:p>
                  </a:txBody>
                  <a:tcPr anchor="ctr" marL="45720" marR="45720">
                    <a:solidFill>
                      <a:srgbClr val="F7F9FD"/>
                    </a:solidFill>
                  </a:tcPr>
                </a:tc>
              </a:tr>
              <a:tr h="310896">
                <a:tc>
                  <a:txBody>
                    <a:bodyPr/>
                    <a:lstStyle/>
                    <a:p>
                      <a:pPr algn="ctr"/>
                      <a:r>
                        <a:rPr sz="1100" b="0">
                          <a:solidFill>
                            <a:srgbClr val="13182F"/>
                          </a:solidFill>
                          <a:latin typeface="Calibri"/>
                        </a:rPr>
                        <a:t>6</a:t>
                      </a:r>
                    </a:p>
                  </a:txBody>
                  <a:tcPr anchor="ctr" marL="45720" marR="45720">
                    <a:solidFill>
                      <a:srgbClr val="FFFFFF"/>
                    </a:solidFill>
                  </a:tcPr>
                </a:tc>
                <a:tc>
                  <a:txBody>
                    <a:bodyPr/>
                    <a:lstStyle/>
                    <a:p>
                      <a:pPr algn="ctr"/>
                      <a:r>
                        <a:rPr sz="1100" b="0">
                          <a:solidFill>
                            <a:srgbClr val="13182F"/>
                          </a:solidFill>
                          <a:latin typeface="Calibri"/>
                        </a:rPr>
                        <a:t>extended s</a:t>
                      </a:r>
                    </a:p>
                  </a:txBody>
                  <a:tcPr anchor="ctr" marL="45720" marR="45720">
                    <a:solidFill>
                      <a:srgbClr val="FFFFFF"/>
                    </a:solidFill>
                  </a:tcPr>
                </a:tc>
                <a:tc>
                  <a:txBody>
                    <a:bodyPr/>
                    <a:lstStyle/>
                    <a:p>
                      <a:pPr algn="ctr"/>
                      <a:r>
                        <a:rPr sz="1100" b="1">
                          <a:solidFill>
                            <a:srgbClr val="B2182B"/>
                          </a:solidFill>
                          <a:latin typeface="Calibri"/>
                        </a:rPr>
                        <a:t>d_xy</a:t>
                      </a:r>
                    </a:p>
                  </a:txBody>
                  <a:tcPr anchor="ctr" marL="45720" marR="45720">
                    <a:solidFill>
                      <a:srgbClr val="FFFFFF"/>
                    </a:solidFill>
                  </a:tcPr>
                </a:tc>
                <a:tc>
                  <a:txBody>
                    <a:bodyPr/>
                    <a:lstStyle/>
                    <a:p>
                      <a:pPr algn="ctr"/>
                      <a:r>
                        <a:rPr sz="1100" b="0">
                          <a:solidFill>
                            <a:srgbClr val="13182F"/>
                          </a:solidFill>
                          <a:latin typeface="Calibri"/>
                        </a:rPr>
                        <a:t>0.2</a:t>
                      </a:r>
                    </a:p>
                  </a:txBody>
                  <a:tcPr anchor="ctr" marL="45720" marR="45720">
                    <a:solidFill>
                      <a:srgbClr val="FFFFFF"/>
                    </a:solidFill>
                  </a:tcPr>
                </a:tc>
              </a:tr>
              <a:tr h="310896">
                <a:tc>
                  <a:txBody>
                    <a:bodyPr/>
                    <a:lstStyle/>
                    <a:p>
                      <a:pPr algn="ctr"/>
                      <a:r>
                        <a:rPr sz="1100" b="0">
                          <a:solidFill>
                            <a:srgbClr val="13182F"/>
                          </a:solidFill>
                          <a:latin typeface="Calibri"/>
                        </a:rPr>
                        <a:t>8</a:t>
                      </a:r>
                    </a:p>
                  </a:txBody>
                  <a:tcPr anchor="ctr" marL="45720" marR="45720">
                    <a:solidFill>
                      <a:srgbClr val="F7F9FD"/>
                    </a:solidFill>
                  </a:tcPr>
                </a:tc>
                <a:tc>
                  <a:txBody>
                    <a:bodyPr/>
                    <a:lstStyle/>
                    <a:p>
                      <a:pPr algn="ctr"/>
                      <a:r>
                        <a:rPr sz="1100" b="0">
                          <a:solidFill>
                            <a:srgbClr val="13182F"/>
                          </a:solidFill>
                          <a:latin typeface="Calibri"/>
                        </a:rPr>
                        <a:t>extended s</a:t>
                      </a:r>
                    </a:p>
                  </a:txBody>
                  <a:tcPr anchor="ctr" marL="45720" marR="45720">
                    <a:solidFill>
                      <a:srgbClr val="F7F9FD"/>
                    </a:solidFill>
                  </a:tcPr>
                </a:tc>
                <a:tc>
                  <a:txBody>
                    <a:bodyPr/>
                    <a:lstStyle/>
                    <a:p>
                      <a:pPr algn="ctr"/>
                      <a:r>
                        <a:rPr sz="1100" b="1">
                          <a:solidFill>
                            <a:srgbClr val="B2182B"/>
                          </a:solidFill>
                          <a:latin typeface="Calibri"/>
                        </a:rPr>
                        <a:t>d_xy</a:t>
                      </a:r>
                    </a:p>
                  </a:txBody>
                  <a:tcPr anchor="ctr" marL="45720" marR="45720">
                    <a:solidFill>
                      <a:srgbClr val="F7F9FD"/>
                    </a:solidFill>
                  </a:tcPr>
                </a:tc>
                <a:tc>
                  <a:txBody>
                    <a:bodyPr/>
                    <a:lstStyle/>
                    <a:p>
                      <a:pPr algn="ctr"/>
                      <a:r>
                        <a:rPr sz="1100" b="0">
                          <a:solidFill>
                            <a:srgbClr val="13182F"/>
                          </a:solidFill>
                          <a:latin typeface="Calibri"/>
                        </a:rPr>
                        <a:t>0.2</a:t>
                      </a:r>
                    </a:p>
                  </a:txBody>
                  <a:tcPr anchor="ctr" marL="45720" marR="45720">
                    <a:solidFill>
                      <a:srgbClr val="F7F9FD"/>
                    </a:solidFill>
                  </a:tcPr>
                </a:tc>
              </a:tr>
            </a:tbl>
          </a:graphicData>
        </a:graphic>
      </p:graphicFrame>
      <p:sp>
        <p:nvSpPr>
          <p:cNvPr id="6" name="Rounded Rectangle 5"/>
          <p:cNvSpPr/>
          <p:nvPr/>
        </p:nvSpPr>
        <p:spPr>
          <a:xfrm>
            <a:off x="7406640" y="4709160"/>
            <a:ext cx="4279392" cy="160020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626096" y="4864608"/>
            <a:ext cx="3931920" cy="274320"/>
          </a:xfrm>
          <a:prstGeom prst="rect">
            <a:avLst/>
          </a:prstGeom>
          <a:noFill/>
        </p:spPr>
        <p:txBody>
          <a:bodyPr wrap="square" lIns="0" rIns="0" tIns="0" bIns="0">
            <a:spAutoFit/>
          </a:bodyPr>
          <a:lstStyle/>
          <a:p>
            <a:pPr algn="l"/>
            <a:r>
              <a:rPr sz="1300" b="1" i="0">
                <a:solidFill>
                  <a:srgbClr val="1E2761"/>
                </a:solidFill>
                <a:latin typeface="Calibri"/>
              </a:rPr>
              <a:t>What stays the same</a:t>
            </a:r>
          </a:p>
        </p:txBody>
      </p:sp>
      <p:sp>
        <p:nvSpPr>
          <p:cNvPr id="8" name="TextBox 7"/>
          <p:cNvSpPr txBox="1"/>
          <p:nvPr/>
        </p:nvSpPr>
        <p:spPr>
          <a:xfrm>
            <a:off x="7626096" y="5193792"/>
            <a:ext cx="3931920" cy="1005840"/>
          </a:xfrm>
          <a:prstGeom prst="rect">
            <a:avLst/>
          </a:prstGeom>
          <a:noFill/>
        </p:spPr>
        <p:txBody>
          <a:bodyPr wrap="square" lIns="0" rIns="0" tIns="0" bIns="0">
            <a:spAutoFit/>
          </a:bodyPr>
          <a:lstStyle/>
          <a:p>
            <a:pPr algn="l"/>
            <a:r>
              <a:rPr sz="1200" b="0" i="0">
                <a:solidFill>
                  <a:srgbClr val="13182F"/>
                </a:solidFill>
                <a:latin typeface="Calibri"/>
              </a:rPr>
              <a:t>d_xy ends up the long-range leader at every U. The signal shrinks steadily with U, so by U = 8 all three channels are pressed close to zero and the margin is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Away from half filling the d_xy channel dies</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long-range vertex against anisotropy at all six fillings, U = 4</a:t>
            </a:r>
          </a:p>
        </p:txBody>
      </p:sp>
      <p:pic>
        <p:nvPicPr>
          <p:cNvPr id="4" name="Picture 3" descr="fig_pr_fillings.png"/>
          <p:cNvPicPr>
            <a:picLocks noChangeAspect="1"/>
          </p:cNvPicPr>
          <p:nvPr/>
        </p:nvPicPr>
        <p:blipFill>
          <a:blip r:embed="rId2"/>
          <a:stretch>
            <a:fillRect/>
          </a:stretch>
        </p:blipFill>
        <p:spPr>
          <a:xfrm>
            <a:off x="2811185" y="1234440"/>
            <a:ext cx="6569323" cy="3566160"/>
          </a:xfrm>
          <a:prstGeom prst="rect">
            <a:avLst/>
          </a:prstGeom>
        </p:spPr>
      </p:pic>
      <p:sp>
        <p:nvSpPr>
          <p:cNvPr id="5" name="Rounded Rectangle 4"/>
          <p:cNvSpPr/>
          <p:nvPr/>
        </p:nvSpPr>
        <p:spPr>
          <a:xfrm>
            <a:off x="502920" y="4983480"/>
            <a:ext cx="11183112" cy="13716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5120640"/>
            <a:ext cx="10789920" cy="274320"/>
          </a:xfrm>
          <a:prstGeom prst="rect">
            <a:avLst/>
          </a:prstGeom>
          <a:noFill/>
        </p:spPr>
        <p:txBody>
          <a:bodyPr wrap="square" lIns="0" rIns="0" tIns="0" bIns="0">
            <a:spAutoFit/>
          </a:bodyPr>
          <a:lstStyle/>
          <a:p>
            <a:pPr algn="l"/>
            <a:r>
              <a:rPr sz="1300" b="1" i="0">
                <a:solidFill>
                  <a:srgbClr val="B2182B"/>
                </a:solidFill>
                <a:latin typeface="Calibri"/>
              </a:rPr>
              <a:t>This is the most important slide in the deck</a:t>
            </a:r>
          </a:p>
        </p:txBody>
      </p:sp>
      <p:sp>
        <p:nvSpPr>
          <p:cNvPr id="7" name="TextBox 6"/>
          <p:cNvSpPr txBox="1"/>
          <p:nvPr/>
        </p:nvSpPr>
        <p:spPr>
          <a:xfrm>
            <a:off x="731520" y="5449824"/>
            <a:ext cx="10789920" cy="914400"/>
          </a:xfrm>
          <a:prstGeom prst="rect">
            <a:avLst/>
          </a:prstGeom>
          <a:noFill/>
        </p:spPr>
        <p:txBody>
          <a:bodyPr wrap="square" lIns="0" rIns="0" tIns="0" bIns="0">
            <a:spAutoFit/>
          </a:bodyPr>
          <a:lstStyle/>
          <a:p>
            <a:pPr algn="l"/>
            <a:r>
              <a:rPr sz="1200" b="0" i="0">
                <a:solidFill>
                  <a:srgbClr val="13182F"/>
                </a:solidFill>
                <a:latin typeface="Calibri"/>
              </a:rPr>
              <a:t>Only at n = 1.000 does d_xy rise above zero and take the long-range lead. At every doped filling it is negative and falls further as delta grows, reaching -0.9 at n = 0.500. d_x2-y2 is the long-range winner everywhere except half filling. The channel swap is a half-filling phenomenon, not a generic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The same result read along the filling axis</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delta = 0.4, U = 4: local on the left, long range on the right</a:t>
            </a:r>
          </a:p>
        </p:txBody>
      </p:sp>
      <p:pic>
        <p:nvPicPr>
          <p:cNvPr id="4" name="Picture 3" descr="fig_pr_vs_filling.png"/>
          <p:cNvPicPr>
            <a:picLocks noChangeAspect="1"/>
          </p:cNvPicPr>
          <p:nvPr/>
        </p:nvPicPr>
        <p:blipFill>
          <a:blip r:embed="rId2"/>
          <a:stretch>
            <a:fillRect/>
          </a:stretch>
        </p:blipFill>
        <p:spPr>
          <a:xfrm>
            <a:off x="1715390" y="1280160"/>
            <a:ext cx="8760914" cy="3383280"/>
          </a:xfrm>
          <a:prstGeom prst="rect">
            <a:avLst/>
          </a:prstGeom>
        </p:spPr>
      </p:pic>
      <p:sp>
        <p:nvSpPr>
          <p:cNvPr id="5" name="Rounded Rectangle 4"/>
          <p:cNvSpPr/>
          <p:nvPr/>
        </p:nvSpPr>
        <p:spPr>
          <a:xfrm>
            <a:off x="502920" y="4846320"/>
            <a:ext cx="11183112" cy="1463040"/>
          </a:xfrm>
          <a:prstGeom prst="roundRect">
            <a:avLst/>
          </a:prstGeom>
          <a:solidFill>
            <a:srgbClr val="F4F6FB"/>
          </a:solidFill>
          <a:ln w="12700">
            <a:solidFill>
              <a:srgbClr val="E2E7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992624"/>
            <a:ext cx="10789920" cy="274320"/>
          </a:xfrm>
          <a:prstGeom prst="rect">
            <a:avLst/>
          </a:prstGeom>
          <a:noFill/>
        </p:spPr>
        <p:txBody>
          <a:bodyPr wrap="square" lIns="0" rIns="0" tIns="0" bIns="0">
            <a:spAutoFit/>
          </a:bodyPr>
          <a:lstStyle/>
          <a:p>
            <a:pPr algn="l"/>
            <a:r>
              <a:rPr sz="1300" b="1" i="0">
                <a:solidFill>
                  <a:srgbClr val="1E2761"/>
                </a:solidFill>
                <a:latin typeface="Calibri"/>
              </a:rPr>
              <a:t>Reading it</a:t>
            </a:r>
          </a:p>
        </p:txBody>
      </p:sp>
      <p:sp>
        <p:nvSpPr>
          <p:cNvPr id="7" name="TextBox 6"/>
          <p:cNvSpPr txBox="1"/>
          <p:nvPr/>
        </p:nvSpPr>
        <p:spPr>
          <a:xfrm>
            <a:off x="731520" y="5321808"/>
            <a:ext cx="10789920" cy="914400"/>
          </a:xfrm>
          <a:prstGeom prst="rect">
            <a:avLst/>
          </a:prstGeom>
          <a:noFill/>
        </p:spPr>
        <p:txBody>
          <a:bodyPr wrap="square" lIns="0" rIns="0" tIns="0" bIns="0">
            <a:spAutoFit/>
          </a:bodyPr>
          <a:lstStyle/>
          <a:p>
            <a:pPr algn="l"/>
            <a:r>
              <a:rPr sz="1200" b="0" i="0">
                <a:solidFill>
                  <a:srgbClr val="13182F"/>
                </a:solidFill>
                <a:latin typeface="Calibri"/>
              </a:rPr>
              <a:t>Locally the picture is smooth: extended s and d_xy both strengthen towards half filling. At long range the three channels are all negative or near zero across the doped region and only separate in the last step to n = 1. The honest statement is that our long-range pairing signal exists near half filling and nowhere else.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The delta polarisation, and what plotting against it tests</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replacing the m_AM = delta m times delta construction</a:t>
            </a:r>
          </a:p>
        </p:txBody>
      </p:sp>
      <p:sp>
        <p:nvSpPr>
          <p:cNvPr id="4" name="TextBox 3"/>
          <p:cNvSpPr txBox="1"/>
          <p:nvPr/>
        </p:nvSpPr>
        <p:spPr>
          <a:xfrm>
            <a:off x="502920" y="1371600"/>
            <a:ext cx="11185855" cy="2194560"/>
          </a:xfrm>
          <a:prstGeom prst="rect">
            <a:avLst/>
          </a:prstGeom>
          <a:noFill/>
        </p:spPr>
        <p:txBody>
          <a:bodyPr wrap="square" lIns="0" rIns="0" tIns="0" bIns="0">
            <a:spAutoFit/>
          </a:bodyPr>
          <a:lstStyle/>
          <a:p>
            <a:pPr>
              <a:spcAft>
                <a:spcPts val="700"/>
              </a:spcAft>
            </a:pPr>
            <a:r>
              <a:rPr sz="1250">
                <a:solidFill>
                  <a:srgbClr val="13182F"/>
                </a:solidFill>
                <a:latin typeface="Calibri"/>
              </a:rPr>
              <a:t>•  S_zz(pi, pi) is the spin structure factor at the Neel wavevector. m = sqrt( S_zz(pi,pi) / N ) is the staggered polarisation; the 1/N inside the root is what makes m comparable across system sizes.</a:t>
            </a:r>
          </a:p>
          <a:p>
            <a:pPr>
              <a:spcAft>
                <a:spcPts val="700"/>
              </a:spcAft>
            </a:pPr>
            <a:r>
              <a:rPr sz="1250">
                <a:solidFill>
                  <a:srgbClr val="13182F"/>
                </a:solidFill>
                <a:latin typeface="Calibri"/>
              </a:rPr>
              <a:t>•  Delta m = m - m(U = 0) removes the free-fermion background. That background is not small: at L = 12 it is 60 to 93 per cent of m, so delta m is a difference between two comparable numbers and should be quoted with that caveat.</a:t>
            </a:r>
          </a:p>
          <a:p>
            <a:pPr>
              <a:spcAft>
                <a:spcPts val="700"/>
              </a:spcAft>
            </a:pPr>
            <a:r>
              <a:rPr sz="1250">
                <a:solidFill>
                  <a:srgbClr val="13182F"/>
                </a:solidFill>
                <a:latin typeface="Calibri"/>
              </a:rPr>
              <a:t>•  Putting delta m on the x-axis collapses the two knobs U and delta into one question: is the pairing controlled by the magnetic polarisation? If every (U, delta) point fell on one curve the answer would be yes.</a:t>
            </a:r>
          </a:p>
        </p:txBody>
      </p:sp>
      <p:sp>
        <p:nvSpPr>
          <p:cNvPr id="5" name="Rounded Rectangle 4"/>
          <p:cNvSpPr/>
          <p:nvPr/>
        </p:nvSpPr>
        <p:spPr>
          <a:xfrm>
            <a:off x="502920" y="3977639"/>
            <a:ext cx="5532120" cy="137160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4114800"/>
            <a:ext cx="5120640" cy="274320"/>
          </a:xfrm>
          <a:prstGeom prst="rect">
            <a:avLst/>
          </a:prstGeom>
          <a:noFill/>
        </p:spPr>
        <p:txBody>
          <a:bodyPr wrap="square" lIns="0" rIns="0" tIns="0" bIns="0">
            <a:spAutoFit/>
          </a:bodyPr>
          <a:lstStyle/>
          <a:p>
            <a:pPr algn="l"/>
            <a:r>
              <a:rPr sz="1300" b="1" i="0">
                <a:solidFill>
                  <a:srgbClr val="2166AC"/>
                </a:solidFill>
                <a:latin typeface="Calibri"/>
              </a:rPr>
              <a:t>Why drop the times delta factor</a:t>
            </a:r>
          </a:p>
        </p:txBody>
      </p:sp>
      <p:sp>
        <p:nvSpPr>
          <p:cNvPr id="7" name="TextBox 6"/>
          <p:cNvSpPr txBox="1"/>
          <p:nvPr/>
        </p:nvSpPr>
        <p:spPr>
          <a:xfrm>
            <a:off x="722376" y="4434840"/>
            <a:ext cx="5120640" cy="914400"/>
          </a:xfrm>
          <a:prstGeom prst="rect">
            <a:avLst/>
          </a:prstGeom>
          <a:noFill/>
        </p:spPr>
        <p:txBody>
          <a:bodyPr wrap="square" lIns="0" rIns="0" tIns="0" bIns="0">
            <a:spAutoFit/>
          </a:bodyPr>
          <a:lstStyle/>
          <a:p>
            <a:pPr algn="l"/>
            <a:r>
              <a:rPr sz="1200" b="0" i="0">
                <a:solidFill>
                  <a:srgbClr val="13182F"/>
                </a:solidFill>
                <a:latin typeface="Calibri"/>
              </a:rPr>
              <a:t>delta already enters through the suppression of m, so multiplying by it again double counts. arXiv 2607.06106 defines the order parameter on this lattice as the plain staggered magnetisation.</a:t>
            </a:r>
          </a:p>
        </p:txBody>
      </p:sp>
      <p:sp>
        <p:nvSpPr>
          <p:cNvPr id="8" name="Rounded Rectangle 7"/>
          <p:cNvSpPr/>
          <p:nvPr/>
        </p:nvSpPr>
        <p:spPr>
          <a:xfrm>
            <a:off x="6263640" y="3977639"/>
            <a:ext cx="5532120" cy="13716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4114800"/>
            <a:ext cx="5120640" cy="274320"/>
          </a:xfrm>
          <a:prstGeom prst="rect">
            <a:avLst/>
          </a:prstGeom>
          <a:noFill/>
        </p:spPr>
        <p:txBody>
          <a:bodyPr wrap="square" lIns="0" rIns="0" tIns="0" bIns="0">
            <a:spAutoFit/>
          </a:bodyPr>
          <a:lstStyle/>
          <a:p>
            <a:pPr algn="l"/>
            <a:r>
              <a:rPr sz="1300" b="1" i="0">
                <a:solidFill>
                  <a:srgbClr val="B2182B"/>
                </a:solidFill>
                <a:latin typeface="Calibri"/>
              </a:rPr>
              <a:t>The answer, in one line</a:t>
            </a:r>
          </a:p>
        </p:txBody>
      </p:sp>
      <p:sp>
        <p:nvSpPr>
          <p:cNvPr id="10" name="TextBox 9"/>
          <p:cNvSpPr txBox="1"/>
          <p:nvPr/>
        </p:nvSpPr>
        <p:spPr>
          <a:xfrm>
            <a:off x="6483096" y="4434840"/>
            <a:ext cx="5120640" cy="914400"/>
          </a:xfrm>
          <a:prstGeom prst="rect">
            <a:avLst/>
          </a:prstGeom>
          <a:noFill/>
        </p:spPr>
        <p:txBody>
          <a:bodyPr wrap="square" lIns="0" rIns="0" tIns="0" bIns="0">
            <a:spAutoFit/>
          </a:bodyPr>
          <a:lstStyle/>
          <a:p>
            <a:pPr algn="l"/>
            <a:r>
              <a:rPr sz="1200" b="0" i="0">
                <a:solidFill>
                  <a:srgbClr val="13182F"/>
                </a:solidFill>
                <a:latin typeface="Calibri"/>
              </a:rPr>
              <a:t>Within each U the pairing tracks delta m tightly. Across U the curves are offset and do not collapse, so delta m alone does not control the pairing.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Pairing against the delta polarisation, every filling</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each point is one (U, delta); lines join constant U; r is the within-U correlation</a:t>
            </a:r>
          </a:p>
        </p:txBody>
      </p:sp>
      <p:pic>
        <p:nvPicPr>
          <p:cNvPr id="4" name="Picture 3" descr="fig_pol_fillings.png"/>
          <p:cNvPicPr>
            <a:picLocks noChangeAspect="1"/>
          </p:cNvPicPr>
          <p:nvPr/>
        </p:nvPicPr>
        <p:blipFill>
          <a:blip r:embed="rId2"/>
          <a:stretch>
            <a:fillRect/>
          </a:stretch>
        </p:blipFill>
        <p:spPr>
          <a:xfrm>
            <a:off x="3019715" y="1234440"/>
            <a:ext cx="6152263" cy="3566159"/>
          </a:xfrm>
          <a:prstGeom prst="rect">
            <a:avLst/>
          </a:prstGeom>
        </p:spPr>
      </p:pic>
      <p:graphicFrame>
        <p:nvGraphicFramePr>
          <p:cNvPr id="5" name="Table 4"/>
          <p:cNvGraphicFramePr>
            <a:graphicFrameLocks noGrp="1"/>
          </p:cNvGraphicFramePr>
          <p:nvPr/>
        </p:nvGraphicFramePr>
        <p:xfrm>
          <a:off x="502920" y="4956048"/>
          <a:ext cx="4937760" cy="1344168"/>
        </p:xfrm>
        <a:graphic>
          <a:graphicData uri="http://schemas.openxmlformats.org/drawingml/2006/table">
            <a:tbl>
              <a:tblPr firstRow="1" bandRow="1">
                <a:tableStyleId>{5C22544A-7EE6-4342-B048-85BDC9FD1C3A}</a:tableStyleId>
              </a:tblPr>
              <a:tblGrid>
                <a:gridCol w="914400"/>
                <a:gridCol w="1463040"/>
                <a:gridCol w="1280160"/>
                <a:gridCol w="1280160"/>
              </a:tblGrid>
              <a:tr h="192024">
                <a:tc>
                  <a:txBody>
                    <a:bodyPr/>
                    <a:lstStyle/>
                    <a:p>
                      <a:pPr algn="ctr"/>
                      <a:r>
                        <a:rPr sz="1000" b="1">
                          <a:solidFill>
                            <a:srgbClr val="FFFFFF"/>
                          </a:solidFill>
                          <a:latin typeface="Calibri"/>
                        </a:rPr>
                        <a:t>n</a:t>
                      </a:r>
                    </a:p>
                  </a:txBody>
                  <a:tcPr anchor="ctr" marL="45720" marR="45720">
                    <a:solidFill>
                      <a:srgbClr val="1E2761"/>
                    </a:solidFill>
                  </a:tcPr>
                </a:tc>
                <a:tc>
                  <a:txBody>
                    <a:bodyPr/>
                    <a:lstStyle/>
                    <a:p>
                      <a:pPr algn="ctr"/>
                      <a:r>
                        <a:rPr sz="1000" b="1">
                          <a:solidFill>
                            <a:srgbClr val="FFFFFF"/>
                          </a:solidFill>
                          <a:latin typeface="Calibri"/>
                        </a:rPr>
                        <a:t>extended s</a:t>
                      </a:r>
                    </a:p>
                  </a:txBody>
                  <a:tcPr anchor="ctr" marL="45720" marR="45720">
                    <a:solidFill>
                      <a:srgbClr val="1E2761"/>
                    </a:solidFill>
                  </a:tcPr>
                </a:tc>
                <a:tc>
                  <a:txBody>
                    <a:bodyPr/>
                    <a:lstStyle/>
                    <a:p>
                      <a:pPr algn="ctr"/>
                      <a:r>
                        <a:rPr sz="1000" b="1">
                          <a:solidFill>
                            <a:srgbClr val="FFFFFF"/>
                          </a:solidFill>
                          <a:latin typeface="Calibri"/>
                        </a:rPr>
                        <a:t>d_x2-y2</a:t>
                      </a:r>
                    </a:p>
                  </a:txBody>
                  <a:tcPr anchor="ctr" marL="45720" marR="45720">
                    <a:solidFill>
                      <a:srgbClr val="1E2761"/>
                    </a:solidFill>
                  </a:tcPr>
                </a:tc>
                <a:tc>
                  <a:txBody>
                    <a:bodyPr/>
                    <a:lstStyle/>
                    <a:p>
                      <a:pPr algn="ctr"/>
                      <a:r>
                        <a:rPr sz="1000" b="1">
                          <a:solidFill>
                            <a:srgbClr val="FFFFFF"/>
                          </a:solidFill>
                          <a:latin typeface="Calibri"/>
                        </a:rPr>
                        <a:t>d_xy</a:t>
                      </a:r>
                    </a:p>
                  </a:txBody>
                  <a:tcPr anchor="ctr" marL="45720" marR="45720">
                    <a:solidFill>
                      <a:srgbClr val="1E2761"/>
                    </a:solidFill>
                  </a:tcPr>
                </a:tc>
              </a:tr>
              <a:tr h="192024">
                <a:tc>
                  <a:txBody>
                    <a:bodyPr/>
                    <a:lstStyle/>
                    <a:p>
                      <a:pPr algn="ctr"/>
                      <a:r>
                        <a:rPr sz="1000" b="0">
                          <a:solidFill>
                            <a:srgbClr val="13182F"/>
                          </a:solidFill>
                          <a:latin typeface="Calibri"/>
                        </a:rPr>
                        <a:t>1.000</a:t>
                      </a:r>
                    </a:p>
                  </a:txBody>
                  <a:tcPr anchor="ctr" marL="45720" marR="45720">
                    <a:solidFill>
                      <a:srgbClr val="FFFFFF"/>
                    </a:solidFill>
                  </a:tcPr>
                </a:tc>
                <a:tc>
                  <a:txBody>
                    <a:bodyPr/>
                    <a:lstStyle/>
                    <a:p>
                      <a:pPr algn="ctr"/>
                      <a:r>
                        <a:rPr sz="1000" b="1">
                          <a:solidFill>
                            <a:srgbClr val="1B7837"/>
                          </a:solidFill>
                          <a:latin typeface="Calibri"/>
                        </a:rPr>
                        <a:t>+0.98</a:t>
                      </a:r>
                    </a:p>
                  </a:txBody>
                  <a:tcPr anchor="ctr" marL="45720" marR="45720">
                    <a:solidFill>
                      <a:srgbClr val="FFFFFF"/>
                    </a:solidFill>
                  </a:tcPr>
                </a:tc>
                <a:tc>
                  <a:txBody>
                    <a:bodyPr/>
                    <a:lstStyle/>
                    <a:p>
                      <a:pPr algn="ctr"/>
                      <a:r>
                        <a:rPr sz="1000" b="1">
                          <a:solidFill>
                            <a:srgbClr val="2166AC"/>
                          </a:solidFill>
                          <a:latin typeface="Calibri"/>
                        </a:rPr>
                        <a:t>+0.93</a:t>
                      </a:r>
                    </a:p>
                  </a:txBody>
                  <a:tcPr anchor="ctr" marL="45720" marR="45720">
                    <a:solidFill>
                      <a:srgbClr val="FFFFFF"/>
                    </a:solidFill>
                  </a:tcPr>
                </a:tc>
                <a:tc>
                  <a:txBody>
                    <a:bodyPr/>
                    <a:lstStyle/>
                    <a:p>
                      <a:pPr algn="ctr"/>
                      <a:r>
                        <a:rPr sz="1000" b="1">
                          <a:solidFill>
                            <a:srgbClr val="B2182B"/>
                          </a:solidFill>
                          <a:latin typeface="Calibri"/>
                        </a:rPr>
                        <a:t>-0.79</a:t>
                      </a:r>
                    </a:p>
                  </a:txBody>
                  <a:tcPr anchor="ctr" marL="45720" marR="45720">
                    <a:solidFill>
                      <a:srgbClr val="FFFFFF"/>
                    </a:solidFill>
                  </a:tcPr>
                </a:tc>
              </a:tr>
              <a:tr h="192024">
                <a:tc>
                  <a:txBody>
                    <a:bodyPr/>
                    <a:lstStyle/>
                    <a:p>
                      <a:pPr algn="ctr"/>
                      <a:r>
                        <a:rPr sz="1000" b="0">
                          <a:solidFill>
                            <a:srgbClr val="13182F"/>
                          </a:solidFill>
                          <a:latin typeface="Calibri"/>
                        </a:rPr>
                        <a:t>0.889</a:t>
                      </a:r>
                    </a:p>
                  </a:txBody>
                  <a:tcPr anchor="ctr" marL="45720" marR="45720">
                    <a:solidFill>
                      <a:srgbClr val="F7F9FD"/>
                    </a:solidFill>
                  </a:tcPr>
                </a:tc>
                <a:tc>
                  <a:txBody>
                    <a:bodyPr/>
                    <a:lstStyle/>
                    <a:p>
                      <a:pPr algn="ctr"/>
                      <a:r>
                        <a:rPr sz="1000" b="1">
                          <a:solidFill>
                            <a:srgbClr val="1B7837"/>
                          </a:solidFill>
                          <a:latin typeface="Calibri"/>
                        </a:rPr>
                        <a:t>+0.92</a:t>
                      </a:r>
                    </a:p>
                  </a:txBody>
                  <a:tcPr anchor="ctr" marL="45720" marR="45720">
                    <a:solidFill>
                      <a:srgbClr val="F7F9FD"/>
                    </a:solidFill>
                  </a:tcPr>
                </a:tc>
                <a:tc>
                  <a:txBody>
                    <a:bodyPr/>
                    <a:lstStyle/>
                    <a:p>
                      <a:pPr algn="ctr"/>
                      <a:r>
                        <a:rPr sz="1000" b="1">
                          <a:solidFill>
                            <a:srgbClr val="2166AC"/>
                          </a:solidFill>
                          <a:latin typeface="Calibri"/>
                        </a:rPr>
                        <a:t>+0.93</a:t>
                      </a:r>
                    </a:p>
                  </a:txBody>
                  <a:tcPr anchor="ctr" marL="45720" marR="45720">
                    <a:solidFill>
                      <a:srgbClr val="F7F9FD"/>
                    </a:solidFill>
                  </a:tcPr>
                </a:tc>
                <a:tc>
                  <a:txBody>
                    <a:bodyPr/>
                    <a:lstStyle/>
                    <a:p>
                      <a:pPr algn="ctr"/>
                      <a:r>
                        <a:rPr sz="1000" b="1">
                          <a:solidFill>
                            <a:srgbClr val="B2182B"/>
                          </a:solidFill>
                          <a:latin typeface="Calibri"/>
                        </a:rPr>
                        <a:t>-0.83</a:t>
                      </a:r>
                    </a:p>
                  </a:txBody>
                  <a:tcPr anchor="ctr" marL="45720" marR="45720">
                    <a:solidFill>
                      <a:srgbClr val="F7F9FD"/>
                    </a:solidFill>
                  </a:tcPr>
                </a:tc>
              </a:tr>
              <a:tr h="192024">
                <a:tc>
                  <a:txBody>
                    <a:bodyPr/>
                    <a:lstStyle/>
                    <a:p>
                      <a:pPr algn="ctr"/>
                      <a:r>
                        <a:rPr sz="1000" b="0">
                          <a:solidFill>
                            <a:srgbClr val="13182F"/>
                          </a:solidFill>
                          <a:latin typeface="Calibri"/>
                        </a:rPr>
                        <a:t>0.778</a:t>
                      </a:r>
                    </a:p>
                  </a:txBody>
                  <a:tcPr anchor="ctr" marL="45720" marR="45720">
                    <a:solidFill>
                      <a:srgbClr val="FFFFFF"/>
                    </a:solidFill>
                  </a:tcPr>
                </a:tc>
                <a:tc>
                  <a:txBody>
                    <a:bodyPr/>
                    <a:lstStyle/>
                    <a:p>
                      <a:pPr algn="ctr"/>
                      <a:r>
                        <a:rPr sz="1000" b="0">
                          <a:solidFill>
                            <a:srgbClr val="13182F"/>
                          </a:solidFill>
                          <a:latin typeface="Calibri"/>
                        </a:rPr>
                        <a:t>+0.47</a:t>
                      </a:r>
                    </a:p>
                  </a:txBody>
                  <a:tcPr anchor="ctr" marL="45720" marR="45720">
                    <a:solidFill>
                      <a:srgbClr val="FFFFFF"/>
                    </a:solidFill>
                  </a:tcPr>
                </a:tc>
                <a:tc>
                  <a:txBody>
                    <a:bodyPr/>
                    <a:lstStyle/>
                    <a:p>
                      <a:pPr algn="ctr"/>
                      <a:r>
                        <a:rPr sz="1000" b="1">
                          <a:solidFill>
                            <a:srgbClr val="2166AC"/>
                          </a:solidFill>
                          <a:latin typeface="Calibri"/>
                        </a:rPr>
                        <a:t>+0.83</a:t>
                      </a:r>
                    </a:p>
                  </a:txBody>
                  <a:tcPr anchor="ctr" marL="45720" marR="45720">
                    <a:solidFill>
                      <a:srgbClr val="FFFFFF"/>
                    </a:solidFill>
                  </a:tcPr>
                </a:tc>
                <a:tc>
                  <a:txBody>
                    <a:bodyPr/>
                    <a:lstStyle/>
                    <a:p>
                      <a:pPr algn="ctr"/>
                      <a:r>
                        <a:rPr sz="1000" b="0">
                          <a:solidFill>
                            <a:srgbClr val="13182F"/>
                          </a:solidFill>
                          <a:latin typeface="Calibri"/>
                        </a:rPr>
                        <a:t>-0.25</a:t>
                      </a:r>
                    </a:p>
                  </a:txBody>
                  <a:tcPr anchor="ctr" marL="45720" marR="45720">
                    <a:solidFill>
                      <a:srgbClr val="FFFFFF"/>
                    </a:solidFill>
                  </a:tcPr>
                </a:tc>
              </a:tr>
              <a:tr h="192024">
                <a:tc>
                  <a:txBody>
                    <a:bodyPr/>
                    <a:lstStyle/>
                    <a:p>
                      <a:pPr algn="ctr"/>
                      <a:r>
                        <a:rPr sz="1000" b="0">
                          <a:solidFill>
                            <a:srgbClr val="13182F"/>
                          </a:solidFill>
                          <a:latin typeface="Calibri"/>
                        </a:rPr>
                        <a:t>0.667</a:t>
                      </a:r>
                    </a:p>
                  </a:txBody>
                  <a:tcPr anchor="ctr" marL="45720" marR="45720">
                    <a:solidFill>
                      <a:srgbClr val="F7F9FD"/>
                    </a:solidFill>
                  </a:tcPr>
                </a:tc>
                <a:tc>
                  <a:txBody>
                    <a:bodyPr/>
                    <a:lstStyle/>
                    <a:p>
                      <a:pPr algn="ctr"/>
                      <a:r>
                        <a:rPr sz="1000" b="0">
                          <a:solidFill>
                            <a:srgbClr val="13182F"/>
                          </a:solidFill>
                          <a:latin typeface="Calibri"/>
                        </a:rPr>
                        <a:t>+0.34</a:t>
                      </a:r>
                    </a:p>
                  </a:txBody>
                  <a:tcPr anchor="ctr" marL="45720" marR="45720">
                    <a:solidFill>
                      <a:srgbClr val="F7F9FD"/>
                    </a:solidFill>
                  </a:tcPr>
                </a:tc>
                <a:tc>
                  <a:txBody>
                    <a:bodyPr/>
                    <a:lstStyle/>
                    <a:p>
                      <a:pPr algn="ctr"/>
                      <a:r>
                        <a:rPr sz="1000" b="0">
                          <a:solidFill>
                            <a:srgbClr val="13182F"/>
                          </a:solidFill>
                          <a:latin typeface="Calibri"/>
                        </a:rPr>
                        <a:t>+0.77</a:t>
                      </a:r>
                    </a:p>
                  </a:txBody>
                  <a:tcPr anchor="ctr" marL="45720" marR="45720">
                    <a:solidFill>
                      <a:srgbClr val="F7F9FD"/>
                    </a:solidFill>
                  </a:tcPr>
                </a:tc>
                <a:tc>
                  <a:txBody>
                    <a:bodyPr/>
                    <a:lstStyle/>
                    <a:p>
                      <a:pPr algn="ctr"/>
                      <a:r>
                        <a:rPr sz="1000" b="0">
                          <a:solidFill>
                            <a:srgbClr val="13182F"/>
                          </a:solidFill>
                          <a:latin typeface="Calibri"/>
                        </a:rPr>
                        <a:t>+0.75</a:t>
                      </a:r>
                    </a:p>
                  </a:txBody>
                  <a:tcPr anchor="ctr" marL="45720" marR="45720">
                    <a:solidFill>
                      <a:srgbClr val="F7F9FD"/>
                    </a:solidFill>
                  </a:tcPr>
                </a:tc>
              </a:tr>
              <a:tr h="192024">
                <a:tc>
                  <a:txBody>
                    <a:bodyPr/>
                    <a:lstStyle/>
                    <a:p>
                      <a:pPr algn="ctr"/>
                      <a:r>
                        <a:rPr sz="1000" b="0">
                          <a:solidFill>
                            <a:srgbClr val="13182F"/>
                          </a:solidFill>
                          <a:latin typeface="Calibri"/>
                        </a:rPr>
                        <a:t>0.556</a:t>
                      </a:r>
                    </a:p>
                  </a:txBody>
                  <a:tcPr anchor="ctr" marL="45720" marR="45720">
                    <a:solidFill>
                      <a:srgbClr val="FFFFFF"/>
                    </a:solidFill>
                  </a:tcPr>
                </a:tc>
                <a:tc>
                  <a:txBody>
                    <a:bodyPr/>
                    <a:lstStyle/>
                    <a:p>
                      <a:pPr algn="ctr"/>
                      <a:r>
                        <a:rPr sz="1000" b="0">
                          <a:solidFill>
                            <a:srgbClr val="13182F"/>
                          </a:solidFill>
                          <a:latin typeface="Calibri"/>
                        </a:rPr>
                        <a:t>-0.17</a:t>
                      </a:r>
                    </a:p>
                  </a:txBody>
                  <a:tcPr anchor="ctr" marL="45720" marR="45720">
                    <a:solidFill>
                      <a:srgbClr val="FFFFFF"/>
                    </a:solidFill>
                  </a:tcPr>
                </a:tc>
                <a:tc>
                  <a:txBody>
                    <a:bodyPr/>
                    <a:lstStyle/>
                    <a:p>
                      <a:pPr algn="ctr"/>
                      <a:r>
                        <a:rPr sz="1000" b="0">
                          <a:solidFill>
                            <a:srgbClr val="13182F"/>
                          </a:solidFill>
                          <a:latin typeface="Calibri"/>
                        </a:rPr>
                        <a:t>+0.06</a:t>
                      </a:r>
                    </a:p>
                  </a:txBody>
                  <a:tcPr anchor="ctr" marL="45720" marR="45720">
                    <a:solidFill>
                      <a:srgbClr val="FFFFFF"/>
                    </a:solidFill>
                  </a:tcPr>
                </a:tc>
                <a:tc>
                  <a:txBody>
                    <a:bodyPr/>
                    <a:lstStyle/>
                    <a:p>
                      <a:pPr algn="ctr"/>
                      <a:r>
                        <a:rPr sz="1000" b="0">
                          <a:solidFill>
                            <a:srgbClr val="13182F"/>
                          </a:solidFill>
                          <a:latin typeface="Calibri"/>
                        </a:rPr>
                        <a:t>+0.07</a:t>
                      </a:r>
                    </a:p>
                  </a:txBody>
                  <a:tcPr anchor="ctr" marL="45720" marR="45720">
                    <a:solidFill>
                      <a:srgbClr val="FFFFFF"/>
                    </a:solidFill>
                  </a:tcPr>
                </a:tc>
              </a:tr>
              <a:tr h="192024">
                <a:tc>
                  <a:txBody>
                    <a:bodyPr/>
                    <a:lstStyle/>
                    <a:p>
                      <a:pPr algn="ctr"/>
                      <a:r>
                        <a:rPr sz="1000" b="0">
                          <a:solidFill>
                            <a:srgbClr val="13182F"/>
                          </a:solidFill>
                          <a:latin typeface="Calibri"/>
                        </a:rPr>
                        <a:t>0.500</a:t>
                      </a:r>
                    </a:p>
                  </a:txBody>
                  <a:tcPr anchor="ctr" marL="45720" marR="45720">
                    <a:solidFill>
                      <a:srgbClr val="F7F9FD"/>
                    </a:solidFill>
                  </a:tcPr>
                </a:tc>
                <a:tc>
                  <a:txBody>
                    <a:bodyPr/>
                    <a:lstStyle/>
                    <a:p>
                      <a:pPr algn="ctr"/>
                      <a:r>
                        <a:rPr sz="1000" b="0">
                          <a:solidFill>
                            <a:srgbClr val="13182F"/>
                          </a:solidFill>
                          <a:latin typeface="Calibri"/>
                        </a:rPr>
                        <a:t>-0.53</a:t>
                      </a:r>
                    </a:p>
                  </a:txBody>
                  <a:tcPr anchor="ctr" marL="45720" marR="45720">
                    <a:solidFill>
                      <a:srgbClr val="F7F9FD"/>
                    </a:solidFill>
                  </a:tcPr>
                </a:tc>
                <a:tc>
                  <a:txBody>
                    <a:bodyPr/>
                    <a:lstStyle/>
                    <a:p>
                      <a:pPr algn="ctr"/>
                      <a:r>
                        <a:rPr sz="1000" b="0">
                          <a:solidFill>
                            <a:srgbClr val="13182F"/>
                          </a:solidFill>
                          <a:latin typeface="Calibri"/>
                        </a:rPr>
                        <a:t>-0.62</a:t>
                      </a:r>
                    </a:p>
                  </a:txBody>
                  <a:tcPr anchor="ctr" marL="45720" marR="45720">
                    <a:solidFill>
                      <a:srgbClr val="F7F9FD"/>
                    </a:solidFill>
                  </a:tcPr>
                </a:tc>
                <a:tc>
                  <a:txBody>
                    <a:bodyPr/>
                    <a:lstStyle/>
                    <a:p>
                      <a:pPr algn="ctr"/>
                      <a:r>
                        <a:rPr sz="1000" b="0">
                          <a:solidFill>
                            <a:srgbClr val="13182F"/>
                          </a:solidFill>
                          <a:latin typeface="Calibri"/>
                        </a:rPr>
                        <a:t>-0.46</a:t>
                      </a:r>
                    </a:p>
                  </a:txBody>
                  <a:tcPr anchor="ctr" marL="45720" marR="45720">
                    <a:solidFill>
                      <a:srgbClr val="F7F9FD"/>
                    </a:solidFill>
                  </a:tcPr>
                </a:tc>
              </a:tr>
            </a:tbl>
          </a:graphicData>
        </a:graphic>
      </p:graphicFrame>
      <p:sp>
        <p:nvSpPr>
          <p:cNvPr id="6" name="Rounded Rectangle 5"/>
          <p:cNvSpPr/>
          <p:nvPr/>
        </p:nvSpPr>
        <p:spPr>
          <a:xfrm>
            <a:off x="5806440" y="4956048"/>
            <a:ext cx="5879592" cy="137160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025896" y="5084064"/>
            <a:ext cx="5486400" cy="274320"/>
          </a:xfrm>
          <a:prstGeom prst="rect">
            <a:avLst/>
          </a:prstGeom>
          <a:noFill/>
        </p:spPr>
        <p:txBody>
          <a:bodyPr wrap="square" lIns="0" rIns="0" tIns="0" bIns="0">
            <a:spAutoFit/>
          </a:bodyPr>
          <a:lstStyle/>
          <a:p>
            <a:pPr algn="l"/>
            <a:r>
              <a:rPr sz="1250" b="1" i="0">
                <a:solidFill>
                  <a:srgbClr val="B2182B"/>
                </a:solidFill>
                <a:latin typeface="Calibri"/>
              </a:rPr>
              <a:t>The anti-correlation is a near-half-filling effect</a:t>
            </a:r>
          </a:p>
        </p:txBody>
      </p:sp>
      <p:sp>
        <p:nvSpPr>
          <p:cNvPr id="8" name="TextBox 7"/>
          <p:cNvSpPr txBox="1"/>
          <p:nvPr/>
        </p:nvSpPr>
        <p:spPr>
          <a:xfrm>
            <a:off x="6025896" y="5394960"/>
            <a:ext cx="5486400" cy="914400"/>
          </a:xfrm>
          <a:prstGeom prst="rect">
            <a:avLst/>
          </a:prstGeom>
          <a:noFill/>
        </p:spPr>
        <p:txBody>
          <a:bodyPr wrap="square" lIns="0" rIns="0" tIns="0" bIns="0">
            <a:spAutoFit/>
          </a:bodyPr>
          <a:lstStyle/>
          <a:p>
            <a:pPr algn="l"/>
            <a:r>
              <a:rPr sz="1150" b="0" i="0">
                <a:solidFill>
                  <a:srgbClr val="13182F"/>
                </a:solidFill>
                <a:latin typeface="Calibri"/>
              </a:rPr>
              <a:t>At n = 1.000 and 0.889 extended s and d_x2-y2 track the polarisation at r above +0.9 while d_xy runs against it at about -0.8. By n = 0.667 d_xy has flipped to +0.75, and below that the correlations are weak and unstable. Same boundary as the P(R)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Single-panel pairing phase diagram in the (n, delta) plane</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built to mirror Fig. 4 of PRB 113, 134443, with pairing channels in place of ordering vectors</a:t>
            </a:r>
          </a:p>
        </p:txBody>
      </p:sp>
      <p:pic>
        <p:nvPicPr>
          <p:cNvPr id="4" name="Picture 3" descr="fig_pairing_phase.png"/>
          <p:cNvPicPr>
            <a:picLocks noChangeAspect="1"/>
          </p:cNvPicPr>
          <p:nvPr/>
        </p:nvPicPr>
        <p:blipFill>
          <a:blip r:embed="rId2"/>
          <a:stretch>
            <a:fillRect/>
          </a:stretch>
        </p:blipFill>
        <p:spPr>
          <a:xfrm>
            <a:off x="3642053" y="1188720"/>
            <a:ext cx="4907587" cy="3703320"/>
          </a:xfrm>
          <a:prstGeom prst="rect">
            <a:avLst/>
          </a:prstGeom>
        </p:spPr>
      </p:pic>
      <p:sp>
        <p:nvSpPr>
          <p:cNvPr id="5" name="Rounded Rectangle 4"/>
          <p:cNvSpPr/>
          <p:nvPr/>
        </p:nvSpPr>
        <p:spPr>
          <a:xfrm>
            <a:off x="502920" y="5029200"/>
            <a:ext cx="11183112" cy="132588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5157216"/>
            <a:ext cx="10789920" cy="274320"/>
          </a:xfrm>
          <a:prstGeom prst="rect">
            <a:avLst/>
          </a:prstGeom>
          <a:noFill/>
        </p:spPr>
        <p:txBody>
          <a:bodyPr wrap="square" lIns="0" rIns="0" tIns="0" bIns="0">
            <a:spAutoFit/>
          </a:bodyPr>
          <a:lstStyle/>
          <a:p>
            <a:pPr algn="l"/>
            <a:r>
              <a:rPr sz="1300" b="1" i="0">
                <a:solidFill>
                  <a:srgbClr val="B2182B"/>
                </a:solidFill>
                <a:latin typeface="Calibri"/>
              </a:rPr>
              <a:t>How to read it</a:t>
            </a:r>
          </a:p>
        </p:txBody>
      </p:sp>
      <p:sp>
        <p:nvSpPr>
          <p:cNvPr id="7" name="TextBox 6"/>
          <p:cNvSpPr txBox="1"/>
          <p:nvPr/>
        </p:nvSpPr>
        <p:spPr>
          <a:xfrm>
            <a:off x="731520" y="5468112"/>
            <a:ext cx="10789920" cy="914400"/>
          </a:xfrm>
          <a:prstGeom prst="rect">
            <a:avLst/>
          </a:prstGeom>
          <a:noFill/>
        </p:spPr>
        <p:txBody>
          <a:bodyPr wrap="square" lIns="0" rIns="0" tIns="0" bIns="0">
            <a:spAutoFit/>
          </a:bodyPr>
          <a:lstStyle/>
          <a:p>
            <a:pPr algn="l"/>
            <a:r>
              <a:rPr sz="1200" b="0" i="0">
                <a:solidFill>
                  <a:srgbClr val="13182F"/>
                </a:solidFill>
                <a:latin typeface="Calibri"/>
              </a:rPr>
              <a:t>Colour is the difference between the two long-range vertices, so blue means d_x2-y2 leads and red means d_xy leads. The scale is symmetric log because the repulsive corner at low filling is ten times larger than the d_xy signal. Hatching marks where the two channels sit within one combined error bar. Extended s never leads anywhere on this grid, which is why the panel needs only two colours.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Where extended s dominates, and why the previous panel had only two colours</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same plane, dominant channel by category, both pieces of the vertex</a:t>
            </a:r>
          </a:p>
        </p:txBody>
      </p:sp>
      <p:pic>
        <p:nvPicPr>
          <p:cNvPr id="4" name="Picture 3" descr="fig_pairing_phase_2panel.png"/>
          <p:cNvPicPr>
            <a:picLocks noChangeAspect="1"/>
          </p:cNvPicPr>
          <p:nvPr/>
        </p:nvPicPr>
        <p:blipFill>
          <a:blip r:embed="rId2"/>
          <a:stretch>
            <a:fillRect/>
          </a:stretch>
        </p:blipFill>
        <p:spPr>
          <a:xfrm>
            <a:off x="1941229" y="1188720"/>
            <a:ext cx="8309236" cy="3566160"/>
          </a:xfrm>
          <a:prstGeom prst="rect">
            <a:avLst/>
          </a:prstGeom>
        </p:spPr>
      </p:pic>
      <p:sp>
        <p:nvSpPr>
          <p:cNvPr id="5" name="Rounded Rectangle 4"/>
          <p:cNvSpPr/>
          <p:nvPr/>
        </p:nvSpPr>
        <p:spPr>
          <a:xfrm>
            <a:off x="502920" y="4892040"/>
            <a:ext cx="5532120" cy="141732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5029200"/>
            <a:ext cx="5120640" cy="274320"/>
          </a:xfrm>
          <a:prstGeom prst="rect">
            <a:avLst/>
          </a:prstGeom>
          <a:noFill/>
        </p:spPr>
        <p:txBody>
          <a:bodyPr wrap="square" lIns="0" rIns="0" tIns="0" bIns="0">
            <a:spAutoFit/>
          </a:bodyPr>
          <a:lstStyle/>
          <a:p>
            <a:pPr algn="l"/>
            <a:r>
              <a:rPr sz="1300" b="1" i="0">
                <a:solidFill>
                  <a:srgbClr val="2166AC"/>
                </a:solidFill>
                <a:latin typeface="Calibri"/>
              </a:rPr>
              <a:t>Panel (a), local</a:t>
            </a:r>
          </a:p>
        </p:txBody>
      </p:sp>
      <p:sp>
        <p:nvSpPr>
          <p:cNvPr id="7" name="TextBox 6"/>
          <p:cNvSpPr txBox="1"/>
          <p:nvPr/>
        </p:nvSpPr>
        <p:spPr>
          <a:xfrm>
            <a:off x="722376" y="5358384"/>
            <a:ext cx="5120640" cy="914400"/>
          </a:xfrm>
          <a:prstGeom prst="rect">
            <a:avLst/>
          </a:prstGeom>
          <a:noFill/>
        </p:spPr>
        <p:txBody>
          <a:bodyPr wrap="square" lIns="0" rIns="0" tIns="0" bIns="0">
            <a:spAutoFit/>
          </a:bodyPr>
          <a:lstStyle/>
          <a:p>
            <a:pPr algn="l"/>
            <a:r>
              <a:rPr sz="1200" b="0" i="0">
                <a:solidFill>
                  <a:srgbClr val="13182F"/>
                </a:solidFill>
                <a:latin typeface="Calibri"/>
              </a:rPr>
              <a:t>Extended s wins 17 of 48 cells, in a solid block at n = 0.889 and 1.000 for delta up to 0.5. d_xy takes 22 cells in the middle. On-site s wins nowhere, as expected for a repulsive channel.</a:t>
            </a:r>
          </a:p>
        </p:txBody>
      </p:sp>
      <p:sp>
        <p:nvSpPr>
          <p:cNvPr id="8" name="Rounded Rectangle 7"/>
          <p:cNvSpPr/>
          <p:nvPr/>
        </p:nvSpPr>
        <p:spPr>
          <a:xfrm>
            <a:off x="6263640" y="4892040"/>
            <a:ext cx="5532120" cy="1417320"/>
          </a:xfrm>
          <a:prstGeom prst="roundRect">
            <a:avLst/>
          </a:prstGeom>
          <a:solidFill>
            <a:srgbClr val="FDF3F2"/>
          </a:solidFill>
          <a:ln w="12700">
            <a:solidFill>
              <a:srgbClr val="F0D5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83096" y="5029200"/>
            <a:ext cx="5120640" cy="274320"/>
          </a:xfrm>
          <a:prstGeom prst="rect">
            <a:avLst/>
          </a:prstGeom>
          <a:noFill/>
        </p:spPr>
        <p:txBody>
          <a:bodyPr wrap="square" lIns="0" rIns="0" tIns="0" bIns="0">
            <a:spAutoFit/>
          </a:bodyPr>
          <a:lstStyle/>
          <a:p>
            <a:pPr algn="l"/>
            <a:r>
              <a:rPr sz="1300" b="1" i="0">
                <a:solidFill>
                  <a:srgbClr val="B2182B"/>
                </a:solidFill>
                <a:latin typeface="Calibri"/>
              </a:rPr>
              <a:t>Panel (b), long range</a:t>
            </a:r>
          </a:p>
        </p:txBody>
      </p:sp>
      <p:sp>
        <p:nvSpPr>
          <p:cNvPr id="10" name="TextBox 9"/>
          <p:cNvSpPr txBox="1"/>
          <p:nvPr/>
        </p:nvSpPr>
        <p:spPr>
          <a:xfrm>
            <a:off x="6483096" y="5358384"/>
            <a:ext cx="5120640" cy="914400"/>
          </a:xfrm>
          <a:prstGeom prst="rect">
            <a:avLst/>
          </a:prstGeom>
          <a:noFill/>
        </p:spPr>
        <p:txBody>
          <a:bodyPr wrap="square" lIns="0" rIns="0" tIns="0" bIns="0">
            <a:spAutoFit/>
          </a:bodyPr>
          <a:lstStyle/>
          <a:p>
            <a:pPr algn="l"/>
            <a:r>
              <a:rPr sz="1200" b="0" i="0">
                <a:solidFill>
                  <a:srgbClr val="13182F"/>
                </a:solidFill>
                <a:latin typeface="Calibri"/>
              </a:rPr>
              <a:t>Extended s wins 0 of 48. d_x2-y2 takes 37 cells and d_xy 11, all of them at high filling. That zero is why the continuous panel needed only two colours.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85855" cy="640080"/>
          </a:xfrm>
          <a:prstGeom prst="rect">
            <a:avLst/>
          </a:prstGeom>
          <a:noFill/>
        </p:spPr>
        <p:txBody>
          <a:bodyPr wrap="square" lIns="0" rIns="0" tIns="0" bIns="0">
            <a:spAutoFit/>
          </a:bodyPr>
          <a:lstStyle/>
          <a:p>
            <a:pPr algn="l"/>
            <a:r>
              <a:rPr sz="2800" b="1" i="0">
                <a:solidFill>
                  <a:srgbClr val="13182F"/>
                </a:solidFill>
                <a:latin typeface="Cambria"/>
              </a:rPr>
              <a:t>Where this leaves us</a:t>
            </a:r>
          </a:p>
        </p:txBody>
      </p:sp>
      <p:sp>
        <p:nvSpPr>
          <p:cNvPr id="3" name="TextBox 2"/>
          <p:cNvSpPr txBox="1"/>
          <p:nvPr/>
        </p:nvSpPr>
        <p:spPr>
          <a:xfrm>
            <a:off x="502920" y="896112"/>
            <a:ext cx="11185855" cy="310896"/>
          </a:xfrm>
          <a:prstGeom prst="rect">
            <a:avLst/>
          </a:prstGeom>
          <a:noFill/>
        </p:spPr>
        <p:txBody>
          <a:bodyPr wrap="square" lIns="0" rIns="0" tIns="0" bIns="0">
            <a:spAutoFit/>
          </a:bodyPr>
          <a:lstStyle/>
          <a:p>
            <a:pPr algn="l"/>
            <a:r>
              <a:rPr sz="1250" b="0" i="1">
                <a:solidFill>
                  <a:srgbClr val="5A6484"/>
                </a:solidFill>
                <a:latin typeface="Calibri"/>
              </a:rPr>
              <a:t>two independent measurements, one consistent boundary</a:t>
            </a:r>
          </a:p>
        </p:txBody>
      </p:sp>
      <p:sp>
        <p:nvSpPr>
          <p:cNvPr id="4" name="TextBox 3"/>
          <p:cNvSpPr txBox="1"/>
          <p:nvPr/>
        </p:nvSpPr>
        <p:spPr>
          <a:xfrm>
            <a:off x="502920" y="1325880"/>
            <a:ext cx="11185855" cy="3200400"/>
          </a:xfrm>
          <a:prstGeom prst="rect">
            <a:avLst/>
          </a:prstGeom>
          <a:noFill/>
        </p:spPr>
        <p:txBody>
          <a:bodyPr wrap="square" lIns="0" rIns="0" tIns="0" bIns="0">
            <a:spAutoFit/>
          </a:bodyPr>
          <a:lstStyle/>
          <a:p>
            <a:pPr>
              <a:spcAft>
                <a:spcPts val="700"/>
              </a:spcAft>
            </a:pPr>
            <a:r>
              <a:rPr sz="1250">
                <a:solidFill>
                  <a:srgbClr val="13182F"/>
                </a:solidFill>
                <a:latin typeface="Calibri"/>
              </a:rPr>
              <a:t>•  P(R) reproduces Huang at delta = 0: extended s wins locally, d_x2-y2 wins at long range. Our earlier q = 0 result was not in conflict with White, it was summing two competing pieces.</a:t>
            </a:r>
          </a:p>
          <a:p>
            <a:pPr>
              <a:spcAft>
                <a:spcPts val="700"/>
              </a:spcAft>
            </a:pPr>
            <a:r>
              <a:rPr sz="1250">
                <a:solidFill>
                  <a:srgbClr val="13182F"/>
                </a:solidFill>
                <a:latin typeface="Calibri"/>
              </a:rPr>
              <a:t>•  Anisotropy hands long-range leadership to d_xy at every U, entering through a large positive spike on the plaquette diagonal at R = sqrt(2).</a:t>
            </a:r>
          </a:p>
          <a:p>
            <a:pPr>
              <a:spcAft>
                <a:spcPts val="700"/>
              </a:spcAft>
            </a:pPr>
            <a:r>
              <a:rPr sz="1250">
                <a:solidFill>
                  <a:srgbClr val="13182F"/>
                </a:solidFill>
                <a:latin typeface="Calibri"/>
              </a:rPr>
              <a:t>•  That takeover exists only near half filling. At n &lt;= 0.778 the long-range d_xy vertex is negative and falls further with delta.</a:t>
            </a:r>
          </a:p>
          <a:p>
            <a:pPr>
              <a:spcAft>
                <a:spcPts val="700"/>
              </a:spcAft>
            </a:pPr>
            <a:r>
              <a:rPr sz="1250">
                <a:solidFill>
                  <a:srgbClr val="13182F"/>
                </a:solidFill>
                <a:latin typeface="Calibri"/>
              </a:rPr>
              <a:t>•  The delta-polarisation plots draw the same boundary independently: d_xy is anti-correlated with the polarisation at n = 1.000 and 0.889, and stops being so below that.</a:t>
            </a:r>
          </a:p>
          <a:p>
            <a:pPr>
              <a:spcAft>
                <a:spcPts val="700"/>
              </a:spcAft>
            </a:pPr>
            <a:r>
              <a:rPr sz="1250">
                <a:solidFill>
                  <a:srgbClr val="13182F"/>
                </a:solidFill>
                <a:latin typeface="Calibri"/>
              </a:rPr>
              <a:t>•  Two different observables agreeing on the same filling boundary is the strongest evidence in the deck.</a:t>
            </a:r>
          </a:p>
          <a:p>
            <a:pPr>
              <a:spcAft>
                <a:spcPts val="700"/>
              </a:spcAft>
            </a:pPr>
            <a:r>
              <a:rPr sz="1250">
                <a:solidFill>
                  <a:srgbClr val="13182F"/>
                </a:solidFill>
                <a:latin typeface="Calibri"/>
              </a:rPr>
              <a:t>•  The phase diagram puts the d_xy region at n above roughly 0.88 and delta above roughly 0.2, with a competition pocket at low delta and intermediate filling.</a:t>
            </a:r>
          </a:p>
          <a:p>
            <a:pPr>
              <a:spcAft>
                <a:spcPts val="700"/>
              </a:spcAft>
            </a:pPr>
            <a:r>
              <a:rPr sz="1250">
                <a:solidFill>
                  <a:srgbClr val="13182F"/>
                </a:solidFill>
                <a:latin typeface="Calibri"/>
              </a:rPr>
              <a:t>•  Extended s dominates the LOCAL vertex over 17 of 48 cells but never leads at long range, which is the Huang local-versus-long-range split stated as a map.</a:t>
            </a:r>
          </a:p>
          <a:p>
            <a:pPr>
              <a:spcAft>
                <a:spcPts val="700"/>
              </a:spcAft>
            </a:pPr>
            <a:r>
              <a:rPr sz="1250">
                <a:solidFill>
                  <a:srgbClr val="13182F"/>
                </a:solidFill>
                <a:latin typeface="Calibri"/>
              </a:rPr>
              <a:t>•  Still open: pinning the delta at which d_xy changes sign. Twist-averaged runs on a finer grid at U = 2 and 4 are in flight.</a:t>
            </a:r>
          </a:p>
        </p:txBody>
      </p:sp>
      <p:sp>
        <p:nvSpPr>
          <p:cNvPr id="5" name="Rounded Rectangle 4"/>
          <p:cNvSpPr/>
          <p:nvPr/>
        </p:nvSpPr>
        <p:spPr>
          <a:xfrm>
            <a:off x="502920" y="5029200"/>
            <a:ext cx="11183112" cy="1280160"/>
          </a:xfrm>
          <a:prstGeom prst="roundRect">
            <a:avLst/>
          </a:prstGeom>
          <a:solidFill>
            <a:srgbClr val="F1F5FA"/>
          </a:solidFill>
          <a:ln w="12700">
            <a:solidFill>
              <a:srgbClr val="D8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5175504"/>
            <a:ext cx="10789920" cy="274320"/>
          </a:xfrm>
          <a:prstGeom prst="rect">
            <a:avLst/>
          </a:prstGeom>
          <a:noFill/>
        </p:spPr>
        <p:txBody>
          <a:bodyPr wrap="square" lIns="0" rIns="0" tIns="0" bIns="0">
            <a:spAutoFit/>
          </a:bodyPr>
          <a:lstStyle/>
          <a:p>
            <a:pPr algn="l"/>
            <a:r>
              <a:rPr sz="1300" b="1" i="0">
                <a:solidFill>
                  <a:srgbClr val="2166AC"/>
                </a:solidFill>
                <a:latin typeface="Calibri"/>
              </a:rPr>
              <a:t>What we cannot claim</a:t>
            </a:r>
          </a:p>
        </p:txBody>
      </p:sp>
      <p:sp>
        <p:nvSpPr>
          <p:cNvPr id="7" name="TextBox 6"/>
          <p:cNvSpPr txBox="1"/>
          <p:nvPr/>
        </p:nvSpPr>
        <p:spPr>
          <a:xfrm>
            <a:off x="731520" y="5486400"/>
            <a:ext cx="10789920" cy="822960"/>
          </a:xfrm>
          <a:prstGeom prst="rect">
            <a:avLst/>
          </a:prstGeom>
          <a:noFill/>
        </p:spPr>
        <p:txBody>
          <a:bodyPr wrap="square" lIns="0" rIns="0" tIns="0" bIns="0">
            <a:spAutoFit/>
          </a:bodyPr>
          <a:lstStyle/>
          <a:p>
            <a:pPr algn="l"/>
            <a:r>
              <a:rPr sz="1200" b="0" i="0">
                <a:solidFill>
                  <a:srgbClr val="13182F"/>
                </a:solidFill>
                <a:latin typeface="Calibri"/>
              </a:rPr>
              <a:t>v(R) decays into noise past R = 3.5 and chi/N is flat in system size, so there is no long-range order here. The defensible claim is a change in WHICH channel is attractive, not superconductivity.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